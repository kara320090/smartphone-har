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617373a6b54a04" /><Relationship Type="http://schemas.openxmlformats.org/officeDocument/2006/relationships/extended-properties" Target="/docProps/app.xml" Id="R5d3cb0534718431c" /><Relationship Type="http://schemas.openxmlformats.org/officeDocument/2006/relationships/officeDocument" Target="/ppt/presentation.xml" Id="Ra71dda0f656444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001f501a914fa4"/>
  </p:sldMasterIdLst>
  <p:notesMasterIdLst>
    <p:notesMasterId xmlns:r="http://schemas.openxmlformats.org/officeDocument/2006/relationships" r:id="R85b4185acf144e35"/>
  </p:notesMasterIdLst>
  <p:sldIdLst>
    <p:sldId xmlns:r="http://schemas.openxmlformats.org/officeDocument/2006/relationships" id="256" r:id="R69054005af64476e"/>
  </p:sldIdLst>
  <p:sldSz cx="30276000" cy="4280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d4df7bb9834aaa" /><Relationship Type="http://schemas.openxmlformats.org/officeDocument/2006/relationships/slideMaster" Target="/ppt/slideMasters/slideMaster1.xml" Id="Rb2001f501a914fa4" /><Relationship Type="http://schemas.openxmlformats.org/officeDocument/2006/relationships/notesMaster" Target="/ppt/notesMasters/notesMaster1.xml" Id="R85b4185acf144e35" /><Relationship Type="http://schemas.openxmlformats.org/officeDocument/2006/relationships/presProps" Target="/ppt/presProps.xml" Id="Rf5ed8ae3ef104f5c" /><Relationship Type="http://schemas.openxmlformats.org/officeDocument/2006/relationships/tableStyles" Target="/ppt/tableStyles.xml" Id="R8442f14cec454818" /><Relationship Type="http://schemas.openxmlformats.org/officeDocument/2006/relationships/slide" Target="/ppt/slides/slide1.xml" Id="R69054005af6447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144f368f08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7e3a98ac254442" /><Relationship Type="http://schemas.openxmlformats.org/officeDocument/2006/relationships/notesMaster" Target="/ppt/notesMasters/notesMaster1.xml" Id="R076b66bfe03441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제목: 스마트폰 센서 기반 활동 요약을 위한 분류 목표와 모델 구성 비교</a:t>
            </a:r>
          </a:p>
          <a:p xmlns:a="http://schemas.openxmlformats.org/drawingml/2006/main">
            <a:r>
              <a:t>발표 이봉헌. 지도교수 황세웅, indimoa@gmail.com.</a:t>
            </a:r>
          </a:p>
          <a:p xmlns:a="http://schemas.openxmlformats.org/drawingml/2006/main">
            <a:r>
              <a:t>직접 3상태 F1 범위는 NN 3seed 평균과 LR 단일 적합의 범위다. 같은 seed 12쌍 중 11쌍에서 증가했으며 LSTM 2027은 감소했다. 시간은 Intel Core i9-13980HX, 연산4/상호1스레드, batch1, 워밍업50회, 측정500회. 각 실행 중앙값의 중앙값. 표준화·특징·분류·반환 포함; 수집·UCI 필터링·구간화·초기 로딩 제외. RTX4060 LaptopGPU 탑재, 평가CPU사용. Python3.11.9, TF2.21.0, Keras3.15.1, NumPy2.2.6, sklearn1.7.2. LR float64/NumPy, NN float32/tf.function의 구현 차이를 포함한 PC 비용이다. 활용은 구간별 태그를 연결하는 출력 설계이며 하루 활동 지속시간이나 스마트폰 실측이 아니다.</a:t>
            </a:r>
          </a:p>
          <a:p xmlns:a="http://schemas.openxmlformats.org/drawingml/2006/main">
            <a:r>
              <a:t>출처: https://github.com/kara320090/smartphone-har/blob/main/reports/confirmatory_20261019/summary.csv</a:t>
            </a:r>
          </a:p>
          <a:p xmlns:a="http://schemas.openxmlformats.org/drawingml/2006/main">
            <a:r>
              <a:t>https://github.com/kara320090/smartphone-har/blob/main/reports/confirmatory_20261019/paired_differences.csv</a:t>
            </a:r>
          </a:p>
          <a:p xmlns:a="http://schemas.openxmlformats.org/drawingml/2006/main">
            <a:r>
              <a:t>https://github.com/kara320090/smartphone-har/blob/main/docs/dcs-team-paper-research-v10-3/DCS_TEAM_PAPER_KO.md</a:t>
            </a:r>
          </a:p>
          <a:p xmlns:a="http://schemas.openxmlformats.org/drawingml/2006/main">
            <a:r>
              <a:t>https://archive.ics.uci.edu/dataset/240/human+activity+recognition+using+smartphones</a:t>
            </a:r>
          </a:p>
          <a:p xmlns:a="http://schemas.openxmlformats.org/drawingml/2006/main">
            <a:r>
              <a:t>포스터 r1: 입력 대조와 시계열 입력 구분, 대표 F1 집계 단위, 검증 첫 구간의 PC 비용, 오류 2개 중첩 구간과 활용 출력 범위를 본문에 명시. 새 학습·시험 수치는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9dd4135ea43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f0e721fdb41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5af91755048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edce0b70c4f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be8b5831647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b4357ebc147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103676-D7EF-4AA6-98A6-3F7D42198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7600" y="16170400"/>
            <a:ext cx="24220800" cy="618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F84A16-C5CF-4C5E-9D19-9A784937DA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400" y="23542200"/>
            <a:ext cx="21193200" cy="4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1B3C41-923F-4423-AA51-D8452F37C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7600" y="17835000"/>
            <a:ext cx="24220800" cy="71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D41EAE-3472-41A6-BFC7-87539116D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025" y="3329200"/>
            <a:ext cx="26869950" cy="52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D98C0D-E486-429D-82E0-FB3FD72696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025" y="11890000"/>
            <a:ext cx="26869950" cy="26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3245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814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8383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5952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3521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1090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8659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6228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EB296E-618C-48E9-9B23-3C29EB334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025" y="3329200"/>
            <a:ext cx="26869950" cy="52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408943-A7DF-4175-BE53-619926ABCB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025" y="11890000"/>
            <a:ext cx="12488850" cy="26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3245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814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8383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5952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3521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1090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8659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6228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D3CC5A-0776-416F-88BD-A41D8471F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084125" y="11890000"/>
            <a:ext cx="12488850" cy="26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3245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814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8383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5952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3521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1090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8659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6228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2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294D6C-29CA-424E-B607-44DB7A802A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03025" y="3329200"/>
            <a:ext cx="26869950" cy="52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6C9561-1971-4C9E-BA05-38EE2FAE5C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03025" y="11890000"/>
            <a:ext cx="12488850" cy="26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6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3245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814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8383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5952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3521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1090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8659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622875" indent="-567675" algn="l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  <a:defRPr sz="5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48665b0539405e" /><Relationship Type="http://schemas.openxmlformats.org/officeDocument/2006/relationships/slideLayout" Target="/ppt/slideLayouts/slideLayout1.xml" Id="R32d5d8cd4ce54cc0" /><Relationship Type="http://schemas.openxmlformats.org/officeDocument/2006/relationships/slideLayout" Target="/ppt/slideLayouts/slideLayout2.xml" Id="R380ab9d29bd74edd" /><Relationship Type="http://schemas.openxmlformats.org/officeDocument/2006/relationships/slideLayout" Target="/ppt/slideLayouts/slideLayout3.xml" Id="R58b3cf6f66174ec3" /><Relationship Type="http://schemas.openxmlformats.org/officeDocument/2006/relationships/slideLayout" Target="/ppt/slideLayouts/slideLayout4.xml" Id="R8b1784330fa941c0" /><Relationship Type="http://schemas.openxmlformats.org/officeDocument/2006/relationships/slideLayout" Target="/ppt/slideLayouts/slideLayout5.xml" Id="R161a42f54e614b98" /><Relationship Type="http://schemas.openxmlformats.org/officeDocument/2006/relationships/slideLayout" Target="/ppt/slideLayouts/slideLayout6.xml" Id="Re599e0ff9c01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d5d8cd4ce54cc0"/>
    <p:sldLayoutId xmlns:r="http://schemas.openxmlformats.org/officeDocument/2006/relationships" id="2147483650" r:id="R380ab9d29bd74edd"/>
    <p:sldLayoutId xmlns:r="http://schemas.openxmlformats.org/officeDocument/2006/relationships" id="2147483651" r:id="R58b3cf6f66174ec3"/>
    <p:sldLayoutId xmlns:r="http://schemas.openxmlformats.org/officeDocument/2006/relationships" id="2147483652" r:id="R8b1784330fa941c0"/>
    <p:sldLayoutId xmlns:r="http://schemas.openxmlformats.org/officeDocument/2006/relationships" id="2147483653" r:id="R161a42f54e614b98"/>
    <p:sldLayoutId xmlns:r="http://schemas.openxmlformats.org/officeDocument/2006/relationships" id="2147483654" r:id="Re599e0ff9c01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609c32df14cf2" /><Relationship Type="http://schemas.openxmlformats.org/officeDocument/2006/relationships/chart" Target="/ppt/slides/charts/chart1.xml" Id="R4a0958043e7f4415" /><Relationship Type="http://schemas.openxmlformats.org/officeDocument/2006/relationships/chart" Target="/ppt/slides/charts/chart2.xml" Id="Re3796f8443b745bc" /><Relationship Type="http://schemas.openxmlformats.org/officeDocument/2006/relationships/image" Target="/ppt/media/image.png" Id="R24f90632bdd2456c" /><Relationship Type="http://schemas.openxmlformats.org/officeDocument/2006/relationships/notesSlide" Target="/ppt/notesSlides/notesSlide1.xml" Id="Rf030addcd1f841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처리 시간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LR3</c:v>
                </c:pt>
                <c:pt idx="1">
                  <c:v>FMLP3</c:v>
                </c:pt>
                <c:pt idx="2">
                  <c:v>MLP3</c:v>
                </c:pt>
                <c:pt idx="3">
                  <c:v>CNN3</c:v>
                </c:pt>
                <c:pt idx="4">
                  <c:v>RNN3</c:v>
                </c:pt>
                <c:pt idx="5">
                  <c:v>LSTM3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0.0734</c:v>
                </c:pt>
                <c:pt idx="1">
                  <c:v>1.04275</c:v>
                </c:pt>
                <c:pt idx="2">
                  <c:v>0.91325</c:v>
                </c:pt>
                <c:pt idx="3">
                  <c:v>2.2124</c:v>
                </c:pt>
                <c:pt idx="4">
                  <c:v>4.3445</c:v>
                </c:pt>
                <c:pt idx="5">
                  <c:v>4.94265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925">
                  <a:solidFill>
                    <a:srgbClr val="132F43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13335">
              <a:solidFill>
                <a:srgbClr val="D5E0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ms / 구간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X</c:v>
          </c:tx>
          <c:spPr>
            <a:ln xmlns:a="http://schemas.openxmlformats.org/drawingml/2006/main" w="28575">
              <a:solidFill>
                <a:srgbClr val="087F8C"/>
              </a:solidFill>
            </a:ln>
          </c:spPr>
          <c:marker>
            <c:symbol val="none"/>
          </c:marker>
          <c:xVal>
            <c:numRef>
              <c:f>'Chart Data'!$A$2:$A$129</c:f>
              <c:numCache>
                <c:formatCode>General</c:formatCode>
                <c:ptCount val="128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</c:v>
                </c:pt>
                <c:pt idx="29">
                  <c:v>0.58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</c:v>
                </c:pt>
                <c:pt idx="56">
                  <c:v>1.12</c:v>
                </c:pt>
                <c:pt idx="57">
                  <c:v>1.14</c:v>
                </c:pt>
                <c:pt idx="58">
                  <c:v>1.16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</c:v>
                </c:pt>
                <c:pt idx="110">
                  <c:v>2.2</c:v>
                </c:pt>
                <c:pt idx="111">
                  <c:v>2.22</c:v>
                </c:pt>
                <c:pt idx="112">
                  <c:v>2.24</c:v>
                </c:pt>
                <c:pt idx="113">
                  <c:v>2.26</c:v>
                </c:pt>
                <c:pt idx="114">
                  <c:v>2.28</c:v>
                </c:pt>
                <c:pt idx="115">
                  <c:v>2.3</c:v>
                </c:pt>
                <c:pt idx="116">
                  <c:v>2.32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</c:numCache>
            </c:numRef>
          </c:xVal>
          <c:yVal>
            <c:numRef>
              <c:f>'Chart Data'!$B$2:$B$129</c:f>
              <c:numCache>
                <c:formatCode>0.0</c:formatCode>
                <c:ptCount val="128"/>
                <c:pt idx="0">
                  <c:v>-0.031672768</c:v>
                </c:pt>
                <c:pt idx="1">
                  <c:v>0.01412998</c:v>
                </c:pt>
                <c:pt idx="2">
                  <c:v>0.041035868</c:v>
                </c:pt>
                <c:pt idx="3">
                  <c:v>0.086585566</c:v>
                </c:pt>
                <c:pt idx="4">
                  <c:v>0.091117948</c:v>
                </c:pt>
                <c:pt idx="5">
                  <c:v>0.0200675</c:v>
                </c:pt>
                <c:pt idx="6">
                  <c:v>-0.025146911</c:v>
                </c:pt>
                <c:pt idx="7">
                  <c:v>-0.110390604</c:v>
                </c:pt>
                <c:pt idx="8">
                  <c:v>-0.212928206</c:v>
                </c:pt>
                <c:pt idx="9">
                  <c:v>-0.198585302</c:v>
                </c:pt>
                <c:pt idx="10">
                  <c:v>-0.193529606</c:v>
                </c:pt>
                <c:pt idx="11">
                  <c:v>-0.208031997</c:v>
                </c:pt>
                <c:pt idx="12">
                  <c:v>-0.187831998</c:v>
                </c:pt>
                <c:pt idx="13">
                  <c:v>-0.178287804</c:v>
                </c:pt>
                <c:pt idx="14">
                  <c:v>-0.133598</c:v>
                </c:pt>
                <c:pt idx="15">
                  <c:v>-0.107344002</c:v>
                </c:pt>
                <c:pt idx="16">
                  <c:v>-0.110984802</c:v>
                </c:pt>
                <c:pt idx="17">
                  <c:v>-0.103544898</c:v>
                </c:pt>
                <c:pt idx="18">
                  <c:v>-0.097868368</c:v>
                </c:pt>
                <c:pt idx="19">
                  <c:v>-0.02833268</c:v>
                </c:pt>
                <c:pt idx="20">
                  <c:v>0.069042042</c:v>
                </c:pt>
                <c:pt idx="21">
                  <c:v>0.123212703</c:v>
                </c:pt>
                <c:pt idx="22">
                  <c:v>0.155390799</c:v>
                </c:pt>
                <c:pt idx="23">
                  <c:v>0.181429505</c:v>
                </c:pt>
                <c:pt idx="24">
                  <c:v>0.184173897</c:v>
                </c:pt>
                <c:pt idx="25">
                  <c:v>0.1808898</c:v>
                </c:pt>
                <c:pt idx="26">
                  <c:v>0.237877995</c:v>
                </c:pt>
                <c:pt idx="27">
                  <c:v>0.265549392</c:v>
                </c:pt>
                <c:pt idx="28">
                  <c:v>0.168375805</c:v>
                </c:pt>
                <c:pt idx="29">
                  <c:v>0.0029685</c:v>
                </c:pt>
                <c:pt idx="30">
                  <c:v>-0.126919806</c:v>
                </c:pt>
                <c:pt idx="31">
                  <c:v>-0.101852797</c:v>
                </c:pt>
                <c:pt idx="32">
                  <c:v>-0.03059537</c:v>
                </c:pt>
                <c:pt idx="33">
                  <c:v>-0.056592438</c:v>
                </c:pt>
                <c:pt idx="34">
                  <c:v>-0.130929604</c:v>
                </c:pt>
                <c:pt idx="35">
                  <c:v>-0.224194795</c:v>
                </c:pt>
                <c:pt idx="36">
                  <c:v>-0.223668098</c:v>
                </c:pt>
                <c:pt idx="37">
                  <c:v>-0.161844596</c:v>
                </c:pt>
                <c:pt idx="38">
                  <c:v>-0.187531695</c:v>
                </c:pt>
                <c:pt idx="39">
                  <c:v>-0.183273301</c:v>
                </c:pt>
                <c:pt idx="40">
                  <c:v>-0.174835294</c:v>
                </c:pt>
                <c:pt idx="41">
                  <c:v>-0.191814899</c:v>
                </c:pt>
                <c:pt idx="42">
                  <c:v>-0.075904511</c:v>
                </c:pt>
                <c:pt idx="43">
                  <c:v>0.03426569</c:v>
                </c:pt>
                <c:pt idx="44">
                  <c:v>0.006081559</c:v>
                </c:pt>
                <c:pt idx="45">
                  <c:v>-0.06754636</c:v>
                </c:pt>
                <c:pt idx="46">
                  <c:v>-0.096241809</c:v>
                </c:pt>
                <c:pt idx="47">
                  <c:v>-0.02627001</c:v>
                </c:pt>
                <c:pt idx="48">
                  <c:v>0.063156001</c:v>
                </c:pt>
                <c:pt idx="49">
                  <c:v>0.082309403</c:v>
                </c:pt>
                <c:pt idx="50">
                  <c:v>0.049576432</c:v>
                </c:pt>
                <c:pt idx="51">
                  <c:v>0.027706981</c:v>
                </c:pt>
                <c:pt idx="52">
                  <c:v>0.024784811</c:v>
                </c:pt>
                <c:pt idx="53">
                  <c:v>0.042349771</c:v>
                </c:pt>
                <c:pt idx="54">
                  <c:v>0.134910807</c:v>
                </c:pt>
                <c:pt idx="55">
                  <c:v>0.205166101</c:v>
                </c:pt>
                <c:pt idx="56">
                  <c:v>0.177345097</c:v>
                </c:pt>
                <c:pt idx="57">
                  <c:v>0.151288897</c:v>
                </c:pt>
                <c:pt idx="58">
                  <c:v>0.126860693</c:v>
                </c:pt>
                <c:pt idx="59">
                  <c:v>-0.000553751</c:v>
                </c:pt>
                <c:pt idx="60">
                  <c:v>-0.1147632</c:v>
                </c:pt>
                <c:pt idx="61">
                  <c:v>0.054983411</c:v>
                </c:pt>
                <c:pt idx="62">
                  <c:v>0.297768086</c:v>
                </c:pt>
                <c:pt idx="63">
                  <c:v>0.268779486</c:v>
                </c:pt>
                <c:pt idx="64">
                  <c:v>0.163904294</c:v>
                </c:pt>
                <c:pt idx="65">
                  <c:v>0.080207668</c:v>
                </c:pt>
                <c:pt idx="66">
                  <c:v>-0.090528801</c:v>
                </c:pt>
                <c:pt idx="67">
                  <c:v>-0.220141605</c:v>
                </c:pt>
                <c:pt idx="68">
                  <c:v>-0.269693613</c:v>
                </c:pt>
                <c:pt idx="69">
                  <c:v>-0.299022198</c:v>
                </c:pt>
                <c:pt idx="70">
                  <c:v>-0.302788407</c:v>
                </c:pt>
                <c:pt idx="71">
                  <c:v>-0.312682986</c:v>
                </c:pt>
                <c:pt idx="72">
                  <c:v>-0.311005414</c:v>
                </c:pt>
                <c:pt idx="73">
                  <c:v>-0.260305613</c:v>
                </c:pt>
                <c:pt idx="74">
                  <c:v>-0.1744802</c:v>
                </c:pt>
                <c:pt idx="75">
                  <c:v>-0.106646597</c:v>
                </c:pt>
                <c:pt idx="76">
                  <c:v>-0.097994857</c:v>
                </c:pt>
                <c:pt idx="77">
                  <c:v>-0.117837802</c:v>
                </c:pt>
                <c:pt idx="78">
                  <c:v>-0.116830699</c:v>
                </c:pt>
                <c:pt idx="79">
                  <c:v>0.03047289</c:v>
                </c:pt>
                <c:pt idx="80">
                  <c:v>0.314148992</c:v>
                </c:pt>
                <c:pt idx="81">
                  <c:v>0.419215113</c:v>
                </c:pt>
                <c:pt idx="82">
                  <c:v>0.246598095</c:v>
                </c:pt>
                <c:pt idx="83">
                  <c:v>0.126343504</c:v>
                </c:pt>
                <c:pt idx="84">
                  <c:v>0.233243302</c:v>
                </c:pt>
                <c:pt idx="85">
                  <c:v>0.278676391</c:v>
                </c:pt>
                <c:pt idx="86">
                  <c:v>0.124444701</c:v>
                </c:pt>
                <c:pt idx="87">
                  <c:v>-0.05508139</c:v>
                </c:pt>
                <c:pt idx="88">
                  <c:v>-0.162014797</c:v>
                </c:pt>
                <c:pt idx="89">
                  <c:v>-0.053803358</c:v>
                </c:pt>
                <c:pt idx="90">
                  <c:v>0.087679513</c:v>
                </c:pt>
                <c:pt idx="91">
                  <c:v>-0.034103781</c:v>
                </c:pt>
                <c:pt idx="92">
                  <c:v>-0.150208399</c:v>
                </c:pt>
                <c:pt idx="93">
                  <c:v>-0.202706501</c:v>
                </c:pt>
                <c:pt idx="94">
                  <c:v>-0.263347507</c:v>
                </c:pt>
                <c:pt idx="95">
                  <c:v>-0.162299901</c:v>
                </c:pt>
                <c:pt idx="96">
                  <c:v>-0.086148642</c:v>
                </c:pt>
                <c:pt idx="97">
                  <c:v>-0.099565841</c:v>
                </c:pt>
                <c:pt idx="98">
                  <c:v>-0.099641547</c:v>
                </c:pt>
                <c:pt idx="99">
                  <c:v>-0.131014794</c:v>
                </c:pt>
                <c:pt idx="100">
                  <c:v>-0.072315224</c:v>
                </c:pt>
                <c:pt idx="101">
                  <c:v>0.005201607</c:v>
                </c:pt>
                <c:pt idx="102">
                  <c:v>-0.005245011</c:v>
                </c:pt>
                <c:pt idx="103">
                  <c:v>0.008226875</c:v>
                </c:pt>
                <c:pt idx="104">
                  <c:v>0.042457189</c:v>
                </c:pt>
                <c:pt idx="105">
                  <c:v>0.080980167</c:v>
                </c:pt>
                <c:pt idx="106">
                  <c:v>0.078774393</c:v>
                </c:pt>
                <c:pt idx="107">
                  <c:v>0.066717282</c:v>
                </c:pt>
                <c:pt idx="108">
                  <c:v>0.110702902</c:v>
                </c:pt>
                <c:pt idx="109">
                  <c:v>0.140558407</c:v>
                </c:pt>
                <c:pt idx="110">
                  <c:v>0.224904299</c:v>
                </c:pt>
                <c:pt idx="111">
                  <c:v>0.304065585</c:v>
                </c:pt>
                <c:pt idx="112">
                  <c:v>0.199177101</c:v>
                </c:pt>
                <c:pt idx="113">
                  <c:v>0.000498363</c:v>
                </c:pt>
                <c:pt idx="114">
                  <c:v>-0.141094595</c:v>
                </c:pt>
                <c:pt idx="115">
                  <c:v>-0.07698144</c:v>
                </c:pt>
                <c:pt idx="116">
                  <c:v>0.1746988</c:v>
                </c:pt>
                <c:pt idx="117">
                  <c:v>0.424550205</c:v>
                </c:pt>
                <c:pt idx="118">
                  <c:v>0.513883412</c:v>
                </c:pt>
                <c:pt idx="119">
                  <c:v>0.2468265</c:v>
                </c:pt>
                <c:pt idx="120">
                  <c:v>-0.070604339</c:v>
                </c:pt>
                <c:pt idx="121">
                  <c:v>-0.081095383</c:v>
                </c:pt>
                <c:pt idx="122">
                  <c:v>-0.165294006</c:v>
                </c:pt>
                <c:pt idx="123">
                  <c:v>-0.286761791</c:v>
                </c:pt>
                <c:pt idx="124">
                  <c:v>-0.197865799</c:v>
                </c:pt>
                <c:pt idx="125">
                  <c:v>-0.234958202</c:v>
                </c:pt>
                <c:pt idx="126">
                  <c:v>-0.324920207</c:v>
                </c:pt>
                <c:pt idx="127">
                  <c:v>-0.297693908</c:v>
                </c:pt>
              </c:numCache>
            </c:numRef>
          </c:yVal>
          <c:smooth val="0"/>
        </c:ser>
        <c:ser>
          <c:idx val="1"/>
          <c:order val="1"/>
          <c:tx>
            <c:v>Y</c:v>
          </c:tx>
          <c:spPr>
            <a:ln xmlns:a="http://schemas.openxmlformats.org/drawingml/2006/main" w="28575">
              <a:solidFill>
                <a:srgbClr val="B15D31"/>
              </a:solidFill>
            </a:ln>
          </c:spPr>
          <c:marker>
            <c:symbol val="none"/>
          </c:marker>
          <c:xVal>
            <c:numRef>
              <c:f>'Chart Data'!$C$2:$C$129</c:f>
              <c:numCache>
                <c:formatCode>General</c:formatCode>
                <c:ptCount val="128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</c:v>
                </c:pt>
                <c:pt idx="29">
                  <c:v>0.58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</c:v>
                </c:pt>
                <c:pt idx="56">
                  <c:v>1.12</c:v>
                </c:pt>
                <c:pt idx="57">
                  <c:v>1.14</c:v>
                </c:pt>
                <c:pt idx="58">
                  <c:v>1.16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</c:v>
                </c:pt>
                <c:pt idx="110">
                  <c:v>2.2</c:v>
                </c:pt>
                <c:pt idx="111">
                  <c:v>2.22</c:v>
                </c:pt>
                <c:pt idx="112">
                  <c:v>2.24</c:v>
                </c:pt>
                <c:pt idx="113">
                  <c:v>2.26</c:v>
                </c:pt>
                <c:pt idx="114">
                  <c:v>2.28</c:v>
                </c:pt>
                <c:pt idx="115">
                  <c:v>2.3</c:v>
                </c:pt>
                <c:pt idx="116">
                  <c:v>2.32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</c:numCache>
            </c:numRef>
          </c:xVal>
          <c:yVal>
            <c:numRef>
              <c:f>'Chart Data'!$D$2:$D$129</c:f>
              <c:numCache>
                <c:formatCode>0.0</c:formatCode>
                <c:ptCount val="128"/>
                <c:pt idx="0">
                  <c:v>-0.082796529</c:v>
                </c:pt>
                <c:pt idx="1">
                  <c:v>-0.079047628</c:v>
                </c:pt>
                <c:pt idx="2">
                  <c:v>-0.057454132</c:v>
                </c:pt>
                <c:pt idx="3">
                  <c:v>-0.047947999</c:v>
                </c:pt>
                <c:pt idx="4">
                  <c:v>-0.03552277</c:v>
                </c:pt>
                <c:pt idx="5">
                  <c:v>0.00718269</c:v>
                </c:pt>
                <c:pt idx="6">
                  <c:v>0.031739969</c:v>
                </c:pt>
                <c:pt idx="7">
                  <c:v>0.01506756</c:v>
                </c:pt>
                <c:pt idx="8">
                  <c:v>-0.003314478</c:v>
                </c:pt>
                <c:pt idx="9">
                  <c:v>-0.01012167</c:v>
                </c:pt>
                <c:pt idx="10">
                  <c:v>-0.01146326</c:v>
                </c:pt>
                <c:pt idx="11">
                  <c:v>0.00618875</c:v>
                </c:pt>
                <c:pt idx="12">
                  <c:v>0.03504077</c:v>
                </c:pt>
                <c:pt idx="13">
                  <c:v>0.036951859</c:v>
                </c:pt>
                <c:pt idx="14">
                  <c:v>0.02196506</c:v>
                </c:pt>
                <c:pt idx="15">
                  <c:v>0.009221662</c:v>
                </c:pt>
                <c:pt idx="16">
                  <c:v>0.005940126</c:v>
                </c:pt>
                <c:pt idx="17">
                  <c:v>0.051238291</c:v>
                </c:pt>
                <c:pt idx="18">
                  <c:v>0.109371498</c:v>
                </c:pt>
                <c:pt idx="19">
                  <c:v>0.08992061</c:v>
                </c:pt>
                <c:pt idx="20">
                  <c:v>-0.001579101</c:v>
                </c:pt>
                <c:pt idx="21">
                  <c:v>-0.07030879</c:v>
                </c:pt>
                <c:pt idx="22">
                  <c:v>-0.037296031</c:v>
                </c:pt>
                <c:pt idx="23">
                  <c:v>0.063547648</c:v>
                </c:pt>
                <c:pt idx="24">
                  <c:v>0.121796302</c:v>
                </c:pt>
                <c:pt idx="25">
                  <c:v>0.053639729</c:v>
                </c:pt>
                <c:pt idx="26">
                  <c:v>-0.155867398</c:v>
                </c:pt>
                <c:pt idx="27">
                  <c:v>-0.338686913</c:v>
                </c:pt>
                <c:pt idx="28">
                  <c:v>-0.289110899</c:v>
                </c:pt>
                <c:pt idx="29">
                  <c:v>-0.158131003</c:v>
                </c:pt>
                <c:pt idx="30">
                  <c:v>-0.1290683</c:v>
                </c:pt>
                <c:pt idx="31">
                  <c:v>-0.100054801</c:v>
                </c:pt>
                <c:pt idx="32">
                  <c:v>-0.093300998</c:v>
                </c:pt>
                <c:pt idx="33">
                  <c:v>-0.122103699</c:v>
                </c:pt>
                <c:pt idx="34">
                  <c:v>-0.108931102</c:v>
                </c:pt>
                <c:pt idx="35">
                  <c:v>-0.132039696</c:v>
                </c:pt>
                <c:pt idx="36">
                  <c:v>-0.120108798</c:v>
                </c:pt>
                <c:pt idx="37">
                  <c:v>-0.045909531</c:v>
                </c:pt>
                <c:pt idx="38">
                  <c:v>-0.007542458</c:v>
                </c:pt>
                <c:pt idx="39">
                  <c:v>0.06456776</c:v>
                </c:pt>
                <c:pt idx="40">
                  <c:v>0.098370388</c:v>
                </c:pt>
                <c:pt idx="41">
                  <c:v>0.071048208</c:v>
                </c:pt>
                <c:pt idx="42">
                  <c:v>0.080552869</c:v>
                </c:pt>
                <c:pt idx="43">
                  <c:v>0.060119528</c:v>
                </c:pt>
                <c:pt idx="44">
                  <c:v>0.042021211</c:v>
                </c:pt>
                <c:pt idx="45">
                  <c:v>0.060366642</c:v>
                </c:pt>
                <c:pt idx="46">
                  <c:v>0.065476939</c:v>
                </c:pt>
                <c:pt idx="47">
                  <c:v>0.062693194</c:v>
                </c:pt>
                <c:pt idx="48">
                  <c:v>0.05659062</c:v>
                </c:pt>
                <c:pt idx="49">
                  <c:v>0.065738529</c:v>
                </c:pt>
                <c:pt idx="50">
                  <c:v>0.080408409</c:v>
                </c:pt>
                <c:pt idx="51">
                  <c:v>0.114207201</c:v>
                </c:pt>
                <c:pt idx="52">
                  <c:v>0.148392007</c:v>
                </c:pt>
                <c:pt idx="53">
                  <c:v>0.114544898</c:v>
                </c:pt>
                <c:pt idx="54">
                  <c:v>0.041892409</c:v>
                </c:pt>
                <c:pt idx="55">
                  <c:v>-0.028320409</c:v>
                </c:pt>
                <c:pt idx="56">
                  <c:v>-0.074621268</c:v>
                </c:pt>
                <c:pt idx="57">
                  <c:v>-0.162251398</c:v>
                </c:pt>
                <c:pt idx="58">
                  <c:v>-0.284607291</c:v>
                </c:pt>
                <c:pt idx="59">
                  <c:v>-0.301173687</c:v>
                </c:pt>
                <c:pt idx="60">
                  <c:v>-0.35100919</c:v>
                </c:pt>
                <c:pt idx="61">
                  <c:v>-0.401669204</c:v>
                </c:pt>
                <c:pt idx="62">
                  <c:v>-0.162368298</c:v>
                </c:pt>
                <c:pt idx="63">
                  <c:v>0.08320979</c:v>
                </c:pt>
                <c:pt idx="64">
                  <c:v>0.070919171</c:v>
                </c:pt>
                <c:pt idx="65">
                  <c:v>0.046592589</c:v>
                </c:pt>
                <c:pt idx="66">
                  <c:v>0.04699605</c:v>
                </c:pt>
                <c:pt idx="67">
                  <c:v>-0.008406746</c:v>
                </c:pt>
                <c:pt idx="68">
                  <c:v>-0.01430841</c:v>
                </c:pt>
                <c:pt idx="69">
                  <c:v>0.02989169</c:v>
                </c:pt>
                <c:pt idx="70">
                  <c:v>0.038067032</c:v>
                </c:pt>
                <c:pt idx="71">
                  <c:v>0.044624541</c:v>
                </c:pt>
                <c:pt idx="72">
                  <c:v>0.054062631</c:v>
                </c:pt>
                <c:pt idx="73">
                  <c:v>0.042003639</c:v>
                </c:pt>
                <c:pt idx="74">
                  <c:v>0.065634198</c:v>
                </c:pt>
                <c:pt idx="75">
                  <c:v>0.075448632</c:v>
                </c:pt>
                <c:pt idx="76">
                  <c:v>0.04750878</c:v>
                </c:pt>
                <c:pt idx="77">
                  <c:v>0.01143372</c:v>
                </c:pt>
                <c:pt idx="78">
                  <c:v>-0.071216069</c:v>
                </c:pt>
                <c:pt idx="79">
                  <c:v>-0.123356603</c:v>
                </c:pt>
                <c:pt idx="80">
                  <c:v>-0.087971829</c:v>
                </c:pt>
                <c:pt idx="81">
                  <c:v>0.053428441</c:v>
                </c:pt>
                <c:pt idx="82">
                  <c:v>0.241367295</c:v>
                </c:pt>
                <c:pt idx="83">
                  <c:v>0.198621497</c:v>
                </c:pt>
                <c:pt idx="84">
                  <c:v>-0.121678397</c:v>
                </c:pt>
                <c:pt idx="85">
                  <c:v>-0.382651001</c:v>
                </c:pt>
                <c:pt idx="86">
                  <c:v>-0.307623804</c:v>
                </c:pt>
                <c:pt idx="87">
                  <c:v>-0.063124858</c:v>
                </c:pt>
                <c:pt idx="88">
                  <c:v>0.057320371</c:v>
                </c:pt>
                <c:pt idx="89">
                  <c:v>0.066562377</c:v>
                </c:pt>
                <c:pt idx="90">
                  <c:v>-0.03497665</c:v>
                </c:pt>
                <c:pt idx="91">
                  <c:v>-0.151235402</c:v>
                </c:pt>
                <c:pt idx="92">
                  <c:v>-0.110941201</c:v>
                </c:pt>
                <c:pt idx="93">
                  <c:v>-0.06862019</c:v>
                </c:pt>
                <c:pt idx="94">
                  <c:v>-0.02885793</c:v>
                </c:pt>
                <c:pt idx="95">
                  <c:v>0.057393208</c:v>
                </c:pt>
                <c:pt idx="96">
                  <c:v>0.068087883</c:v>
                </c:pt>
                <c:pt idx="97">
                  <c:v>0.084642291</c:v>
                </c:pt>
                <c:pt idx="98">
                  <c:v>0.111162297</c:v>
                </c:pt>
                <c:pt idx="99">
                  <c:v>0.112412602</c:v>
                </c:pt>
                <c:pt idx="100">
                  <c:v>0.1397551</c:v>
                </c:pt>
                <c:pt idx="101">
                  <c:v>0.145673007</c:v>
                </c:pt>
                <c:pt idx="102">
                  <c:v>0.131766304</c:v>
                </c:pt>
                <c:pt idx="103">
                  <c:v>0.085122481</c:v>
                </c:pt>
                <c:pt idx="104">
                  <c:v>0.03602716</c:v>
                </c:pt>
                <c:pt idx="105">
                  <c:v>0.069536529</c:v>
                </c:pt>
                <c:pt idx="106">
                  <c:v>0.173021704</c:v>
                </c:pt>
                <c:pt idx="107">
                  <c:v>0.316146702</c:v>
                </c:pt>
                <c:pt idx="108">
                  <c:v>0.383460492</c:v>
                </c:pt>
                <c:pt idx="109">
                  <c:v>0.289568394</c:v>
                </c:pt>
                <c:pt idx="110">
                  <c:v>0.122772701</c:v>
                </c:pt>
                <c:pt idx="111">
                  <c:v>0.000597454</c:v>
                </c:pt>
                <c:pt idx="112">
                  <c:v>-0.053470861</c:v>
                </c:pt>
                <c:pt idx="113">
                  <c:v>-0.191214204</c:v>
                </c:pt>
                <c:pt idx="114">
                  <c:v>-0.385352999</c:v>
                </c:pt>
                <c:pt idx="115">
                  <c:v>-0.364348888</c:v>
                </c:pt>
                <c:pt idx="116">
                  <c:v>-0.295193613</c:v>
                </c:pt>
                <c:pt idx="117">
                  <c:v>-0.281561106</c:v>
                </c:pt>
                <c:pt idx="118">
                  <c:v>-0.048271641</c:v>
                </c:pt>
                <c:pt idx="119">
                  <c:v>0.111829199</c:v>
                </c:pt>
                <c:pt idx="120">
                  <c:v>0.078043677</c:v>
                </c:pt>
                <c:pt idx="121">
                  <c:v>0.116693303</c:v>
                </c:pt>
                <c:pt idx="122">
                  <c:v>0.071470506</c:v>
                </c:pt>
                <c:pt idx="123">
                  <c:v>0.047320731</c:v>
                </c:pt>
                <c:pt idx="124">
                  <c:v>0.065792561</c:v>
                </c:pt>
                <c:pt idx="125">
                  <c:v>0.007262506</c:v>
                </c:pt>
                <c:pt idx="126">
                  <c:v>0.074292138</c:v>
                </c:pt>
                <c:pt idx="127">
                  <c:v>0.117844798</c:v>
                </c:pt>
              </c:numCache>
            </c:numRef>
          </c:yVal>
          <c:smooth val="0"/>
        </c:ser>
        <c:ser>
          <c:idx val="2"/>
          <c:order val="2"/>
          <c:tx>
            <c:v>Z</c:v>
          </c:tx>
          <c:spPr>
            <a:ln xmlns:a="http://schemas.openxmlformats.org/drawingml/2006/main" w="28575">
              <a:solidFill>
                <a:srgbClr val="4C6F9D"/>
              </a:solidFill>
            </a:ln>
          </c:spPr>
          <c:marker>
            <c:symbol val="none"/>
          </c:marker>
          <c:xVal>
            <c:numRef>
              <c:f>'Chart Data'!$E$2:$E$129</c:f>
              <c:numCache>
                <c:formatCode>General</c:formatCode>
                <c:ptCount val="128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</c:v>
                </c:pt>
                <c:pt idx="29">
                  <c:v>0.58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  <c:pt idx="51">
                  <c:v>1.02</c:v>
                </c:pt>
                <c:pt idx="52">
                  <c:v>1.04</c:v>
                </c:pt>
                <c:pt idx="53">
                  <c:v>1.06</c:v>
                </c:pt>
                <c:pt idx="54">
                  <c:v>1.08</c:v>
                </c:pt>
                <c:pt idx="55">
                  <c:v>1.1</c:v>
                </c:pt>
                <c:pt idx="56">
                  <c:v>1.12</c:v>
                </c:pt>
                <c:pt idx="57">
                  <c:v>1.14</c:v>
                </c:pt>
                <c:pt idx="58">
                  <c:v>1.16</c:v>
                </c:pt>
                <c:pt idx="59">
                  <c:v>1.18</c:v>
                </c:pt>
                <c:pt idx="60">
                  <c:v>1.2</c:v>
                </c:pt>
                <c:pt idx="61">
                  <c:v>1.22</c:v>
                </c:pt>
                <c:pt idx="62">
                  <c:v>1.24</c:v>
                </c:pt>
                <c:pt idx="63">
                  <c:v>1.26</c:v>
                </c:pt>
                <c:pt idx="64">
                  <c:v>1.28</c:v>
                </c:pt>
                <c:pt idx="65">
                  <c:v>1.3</c:v>
                </c:pt>
                <c:pt idx="66">
                  <c:v>1.32</c:v>
                </c:pt>
                <c:pt idx="67">
                  <c:v>1.34</c:v>
                </c:pt>
                <c:pt idx="68">
                  <c:v>1.36</c:v>
                </c:pt>
                <c:pt idx="69">
                  <c:v>1.38</c:v>
                </c:pt>
                <c:pt idx="70">
                  <c:v>1.4</c:v>
                </c:pt>
                <c:pt idx="71">
                  <c:v>1.42</c:v>
                </c:pt>
                <c:pt idx="72">
                  <c:v>1.44</c:v>
                </c:pt>
                <c:pt idx="73">
                  <c:v>1.46</c:v>
                </c:pt>
                <c:pt idx="74">
                  <c:v>1.48</c:v>
                </c:pt>
                <c:pt idx="75">
                  <c:v>1.5</c:v>
                </c:pt>
                <c:pt idx="76">
                  <c:v>1.52</c:v>
                </c:pt>
                <c:pt idx="77">
                  <c:v>1.54</c:v>
                </c:pt>
                <c:pt idx="78">
                  <c:v>1.56</c:v>
                </c:pt>
                <c:pt idx="79">
                  <c:v>1.58</c:v>
                </c:pt>
                <c:pt idx="80">
                  <c:v>1.6</c:v>
                </c:pt>
                <c:pt idx="81">
                  <c:v>1.62</c:v>
                </c:pt>
                <c:pt idx="82">
                  <c:v>1.64</c:v>
                </c:pt>
                <c:pt idx="83">
                  <c:v>1.66</c:v>
                </c:pt>
                <c:pt idx="84">
                  <c:v>1.68</c:v>
                </c:pt>
                <c:pt idx="85">
                  <c:v>1.7</c:v>
                </c:pt>
                <c:pt idx="86">
                  <c:v>1.72</c:v>
                </c:pt>
                <c:pt idx="87">
                  <c:v>1.74</c:v>
                </c:pt>
                <c:pt idx="88">
                  <c:v>1.76</c:v>
                </c:pt>
                <c:pt idx="89">
                  <c:v>1.78</c:v>
                </c:pt>
                <c:pt idx="90">
                  <c:v>1.8</c:v>
                </c:pt>
                <c:pt idx="91">
                  <c:v>1.82</c:v>
                </c:pt>
                <c:pt idx="92">
                  <c:v>1.84</c:v>
                </c:pt>
                <c:pt idx="93">
                  <c:v>1.86</c:v>
                </c:pt>
                <c:pt idx="94">
                  <c:v>1.88</c:v>
                </c:pt>
                <c:pt idx="95">
                  <c:v>1.9</c:v>
                </c:pt>
                <c:pt idx="96">
                  <c:v>1.92</c:v>
                </c:pt>
                <c:pt idx="97">
                  <c:v>1.94</c:v>
                </c:pt>
                <c:pt idx="98">
                  <c:v>1.96</c:v>
                </c:pt>
                <c:pt idx="99">
                  <c:v>1.98</c:v>
                </c:pt>
                <c:pt idx="100">
                  <c:v>2</c:v>
                </c:pt>
                <c:pt idx="101">
                  <c:v>2.02</c:v>
                </c:pt>
                <c:pt idx="102">
                  <c:v>2.04</c:v>
                </c:pt>
                <c:pt idx="103">
                  <c:v>2.06</c:v>
                </c:pt>
                <c:pt idx="104">
                  <c:v>2.08</c:v>
                </c:pt>
                <c:pt idx="105">
                  <c:v>2.1</c:v>
                </c:pt>
                <c:pt idx="106">
                  <c:v>2.12</c:v>
                </c:pt>
                <c:pt idx="107">
                  <c:v>2.14</c:v>
                </c:pt>
                <c:pt idx="108">
                  <c:v>2.16</c:v>
                </c:pt>
                <c:pt idx="109">
                  <c:v>2.18</c:v>
                </c:pt>
                <c:pt idx="110">
                  <c:v>2.2</c:v>
                </c:pt>
                <c:pt idx="111">
                  <c:v>2.22</c:v>
                </c:pt>
                <c:pt idx="112">
                  <c:v>2.24</c:v>
                </c:pt>
                <c:pt idx="113">
                  <c:v>2.26</c:v>
                </c:pt>
                <c:pt idx="114">
                  <c:v>2.28</c:v>
                </c:pt>
                <c:pt idx="115">
                  <c:v>2.3</c:v>
                </c:pt>
                <c:pt idx="116">
                  <c:v>2.32</c:v>
                </c:pt>
                <c:pt idx="117">
                  <c:v>2.34</c:v>
                </c:pt>
                <c:pt idx="118">
                  <c:v>2.36</c:v>
                </c:pt>
                <c:pt idx="119">
                  <c:v>2.38</c:v>
                </c:pt>
                <c:pt idx="120">
                  <c:v>2.4</c:v>
                </c:pt>
                <c:pt idx="121">
                  <c:v>2.42</c:v>
                </c:pt>
                <c:pt idx="122">
                  <c:v>2.44</c:v>
                </c:pt>
                <c:pt idx="123">
                  <c:v>2.46</c:v>
                </c:pt>
                <c:pt idx="124">
                  <c:v>2.48</c:v>
                </c:pt>
                <c:pt idx="125">
                  <c:v>2.5</c:v>
                </c:pt>
                <c:pt idx="126">
                  <c:v>2.52</c:v>
                </c:pt>
                <c:pt idx="127">
                  <c:v>2.54</c:v>
                </c:pt>
              </c:numCache>
            </c:numRef>
          </c:xVal>
          <c:yVal>
            <c:numRef>
              <c:f>'Chart Data'!$F$2:$F$129</c:f>
              <c:numCache>
                <c:formatCode>0.0</c:formatCode>
                <c:ptCount val="128"/>
                <c:pt idx="0">
                  <c:v>-0.068536773</c:v>
                </c:pt>
                <c:pt idx="1">
                  <c:v>-0.06913051</c:v>
                </c:pt>
                <c:pt idx="2">
                  <c:v>-0.071748883</c:v>
                </c:pt>
                <c:pt idx="3">
                  <c:v>-0.05904872</c:v>
                </c:pt>
                <c:pt idx="4">
                  <c:v>-0.062624857</c:v>
                </c:pt>
                <c:pt idx="5">
                  <c:v>-0.049729731</c:v>
                </c:pt>
                <c:pt idx="6">
                  <c:v>-0.029194711</c:v>
                </c:pt>
                <c:pt idx="7">
                  <c:v>-0.0285854</c:v>
                </c:pt>
                <c:pt idx="8">
                  <c:v>-0.01246981</c:v>
                </c:pt>
                <c:pt idx="9">
                  <c:v>0.015665179</c:v>
                </c:pt>
                <c:pt idx="10">
                  <c:v>0.04300832</c:v>
                </c:pt>
                <c:pt idx="11">
                  <c:v>0.06235604</c:v>
                </c:pt>
                <c:pt idx="12">
                  <c:v>0.068645328</c:v>
                </c:pt>
                <c:pt idx="13">
                  <c:v>0.083628438</c:v>
                </c:pt>
                <c:pt idx="14">
                  <c:v>0.100075103</c:v>
                </c:pt>
                <c:pt idx="15">
                  <c:v>0.129186094</c:v>
                </c:pt>
                <c:pt idx="16">
                  <c:v>0.173369497</c:v>
                </c:pt>
                <c:pt idx="17">
                  <c:v>0.176175103</c:v>
                </c:pt>
                <c:pt idx="18">
                  <c:v>0.145964205</c:v>
                </c:pt>
                <c:pt idx="19">
                  <c:v>0.122218102</c:v>
                </c:pt>
                <c:pt idx="20">
                  <c:v>0.101714402</c:v>
                </c:pt>
                <c:pt idx="21">
                  <c:v>0.110384099</c:v>
                </c:pt>
                <c:pt idx="22">
                  <c:v>0.168186098</c:v>
                </c:pt>
                <c:pt idx="23">
                  <c:v>0.226681903</c:v>
                </c:pt>
                <c:pt idx="24">
                  <c:v>0.231828004</c:v>
                </c:pt>
                <c:pt idx="25">
                  <c:v>0.192600697</c:v>
                </c:pt>
                <c:pt idx="26">
                  <c:v>0.127683401</c:v>
                </c:pt>
                <c:pt idx="27">
                  <c:v>0.01726868</c:v>
                </c:pt>
                <c:pt idx="28">
                  <c:v>-0.06064957</c:v>
                </c:pt>
                <c:pt idx="29">
                  <c:v>-0.03606309</c:v>
                </c:pt>
                <c:pt idx="30">
                  <c:v>-0.04252902</c:v>
                </c:pt>
                <c:pt idx="31">
                  <c:v>-0.110938199</c:v>
                </c:pt>
                <c:pt idx="32">
                  <c:v>-0.148342401</c:v>
                </c:pt>
                <c:pt idx="33">
                  <c:v>-0.158077598</c:v>
                </c:pt>
                <c:pt idx="34">
                  <c:v>-0.091754638</c:v>
                </c:pt>
                <c:pt idx="35">
                  <c:v>-0.000995847</c:v>
                </c:pt>
                <c:pt idx="36">
                  <c:v>0.002791067</c:v>
                </c:pt>
                <c:pt idx="37">
                  <c:v>0.00929783</c:v>
                </c:pt>
                <c:pt idx="38">
                  <c:v>-0.0142578</c:v>
                </c:pt>
                <c:pt idx="39">
                  <c:v>-0.105999403</c:v>
                </c:pt>
                <c:pt idx="40">
                  <c:v>-0.101961702</c:v>
                </c:pt>
                <c:pt idx="41">
                  <c:v>-0.070473447</c:v>
                </c:pt>
                <c:pt idx="42">
                  <c:v>-0.087599851</c:v>
                </c:pt>
                <c:pt idx="43">
                  <c:v>-0.038595319</c:v>
                </c:pt>
                <c:pt idx="44">
                  <c:v>0.01331198</c:v>
                </c:pt>
                <c:pt idx="45">
                  <c:v>0.047907241</c:v>
                </c:pt>
                <c:pt idx="46">
                  <c:v>0.082153097</c:v>
                </c:pt>
                <c:pt idx="47">
                  <c:v>0.061222289</c:v>
                </c:pt>
                <c:pt idx="48">
                  <c:v>0.081876449</c:v>
                </c:pt>
                <c:pt idx="49">
                  <c:v>0.084277883</c:v>
                </c:pt>
                <c:pt idx="50">
                  <c:v>0.00473268</c:v>
                </c:pt>
                <c:pt idx="51">
                  <c:v>-0.021195199</c:v>
                </c:pt>
                <c:pt idx="52">
                  <c:v>-0.007531545</c:v>
                </c:pt>
                <c:pt idx="53">
                  <c:v>0.03581851</c:v>
                </c:pt>
                <c:pt idx="54">
                  <c:v>0.072935298</c:v>
                </c:pt>
                <c:pt idx="55">
                  <c:v>0.018646611</c:v>
                </c:pt>
                <c:pt idx="56">
                  <c:v>-0.113385901</c:v>
                </c:pt>
                <c:pt idx="57">
                  <c:v>-0.265478104</c:v>
                </c:pt>
                <c:pt idx="58">
                  <c:v>-0.256955504</c:v>
                </c:pt>
                <c:pt idx="59">
                  <c:v>-0.173722893</c:v>
                </c:pt>
                <c:pt idx="60">
                  <c:v>-0.177279502</c:v>
                </c:pt>
                <c:pt idx="61">
                  <c:v>-0.109584399</c:v>
                </c:pt>
                <c:pt idx="62">
                  <c:v>-0.079790682</c:v>
                </c:pt>
                <c:pt idx="63">
                  <c:v>-0.137850195</c:v>
                </c:pt>
                <c:pt idx="64">
                  <c:v>-0.103534199</c:v>
                </c:pt>
                <c:pt idx="65">
                  <c:v>-0.097568311</c:v>
                </c:pt>
                <c:pt idx="66">
                  <c:v>-0.099068999</c:v>
                </c:pt>
                <c:pt idx="67">
                  <c:v>-0.029556509</c:v>
                </c:pt>
                <c:pt idx="68">
                  <c:v>0.01365236</c:v>
                </c:pt>
                <c:pt idx="69">
                  <c:v>0.069815077</c:v>
                </c:pt>
                <c:pt idx="70">
                  <c:v>0.09197975</c:v>
                </c:pt>
                <c:pt idx="71">
                  <c:v>0.07780014</c:v>
                </c:pt>
                <c:pt idx="72">
                  <c:v>0.101325497</c:v>
                </c:pt>
                <c:pt idx="73">
                  <c:v>0.093366303</c:v>
                </c:pt>
                <c:pt idx="74">
                  <c:v>0.09656629</c:v>
                </c:pt>
                <c:pt idx="75">
                  <c:v>0.115798801</c:v>
                </c:pt>
                <c:pt idx="76">
                  <c:v>0.105754398</c:v>
                </c:pt>
                <c:pt idx="77">
                  <c:v>0.101492099</c:v>
                </c:pt>
                <c:pt idx="78">
                  <c:v>0.079741716</c:v>
                </c:pt>
                <c:pt idx="79">
                  <c:v>0.100479499</c:v>
                </c:pt>
                <c:pt idx="80">
                  <c:v>0.192102402</c:v>
                </c:pt>
                <c:pt idx="81">
                  <c:v>0.268803507</c:v>
                </c:pt>
                <c:pt idx="82">
                  <c:v>0.262986392</c:v>
                </c:pt>
                <c:pt idx="83">
                  <c:v>0.153819904</c:v>
                </c:pt>
                <c:pt idx="84">
                  <c:v>0.044773661</c:v>
                </c:pt>
                <c:pt idx="85">
                  <c:v>-0.001465782</c:v>
                </c:pt>
                <c:pt idx="86">
                  <c:v>0.005333909</c:v>
                </c:pt>
                <c:pt idx="87">
                  <c:v>-0.01024191</c:v>
                </c:pt>
                <c:pt idx="88">
                  <c:v>-0.120430604</c:v>
                </c:pt>
                <c:pt idx="89">
                  <c:v>-0.169059202</c:v>
                </c:pt>
                <c:pt idx="90">
                  <c:v>-0.123501398</c:v>
                </c:pt>
                <c:pt idx="91">
                  <c:v>-0.065718569</c:v>
                </c:pt>
                <c:pt idx="92">
                  <c:v>0.03537178</c:v>
                </c:pt>
                <c:pt idx="93">
                  <c:v>0.076157019</c:v>
                </c:pt>
                <c:pt idx="94">
                  <c:v>0.006901317</c:v>
                </c:pt>
                <c:pt idx="95">
                  <c:v>-0.080511093</c:v>
                </c:pt>
                <c:pt idx="96">
                  <c:v>-0.127477795</c:v>
                </c:pt>
                <c:pt idx="97">
                  <c:v>-0.105876602</c:v>
                </c:pt>
                <c:pt idx="98">
                  <c:v>-0.047507148</c:v>
                </c:pt>
                <c:pt idx="99">
                  <c:v>0.01071854</c:v>
                </c:pt>
                <c:pt idx="100">
                  <c:v>0.02969107</c:v>
                </c:pt>
                <c:pt idx="101">
                  <c:v>0.02274905</c:v>
                </c:pt>
                <c:pt idx="102">
                  <c:v>0.036516018</c:v>
                </c:pt>
                <c:pt idx="103">
                  <c:v>0.02878288</c:v>
                </c:pt>
                <c:pt idx="104">
                  <c:v>0.002991623</c:v>
                </c:pt>
                <c:pt idx="105">
                  <c:v>0.007211787</c:v>
                </c:pt>
                <c:pt idx="106">
                  <c:v>0.011564</c:v>
                </c:pt>
                <c:pt idx="107">
                  <c:v>0.001893398</c:v>
                </c:pt>
                <c:pt idx="108">
                  <c:v>0.006459831</c:v>
                </c:pt>
                <c:pt idx="109">
                  <c:v>0.004683491</c:v>
                </c:pt>
                <c:pt idx="110">
                  <c:v>-0.01278823</c:v>
                </c:pt>
                <c:pt idx="111">
                  <c:v>-0.02700178</c:v>
                </c:pt>
                <c:pt idx="112">
                  <c:v>-0.053186812</c:v>
                </c:pt>
                <c:pt idx="113">
                  <c:v>-0.075852022</c:v>
                </c:pt>
                <c:pt idx="114">
                  <c:v>-0.074735351</c:v>
                </c:pt>
                <c:pt idx="115">
                  <c:v>-0.076817319</c:v>
                </c:pt>
                <c:pt idx="116">
                  <c:v>-0.096778072</c:v>
                </c:pt>
                <c:pt idx="117">
                  <c:v>-0.103705503</c:v>
                </c:pt>
                <c:pt idx="118">
                  <c:v>-0.085781902</c:v>
                </c:pt>
                <c:pt idx="119">
                  <c:v>-0.064618252</c:v>
                </c:pt>
                <c:pt idx="120">
                  <c:v>-0.03462971</c:v>
                </c:pt>
                <c:pt idx="121">
                  <c:v>-0.036811192</c:v>
                </c:pt>
                <c:pt idx="122">
                  <c:v>-0.05561557</c:v>
                </c:pt>
                <c:pt idx="123">
                  <c:v>-0.01636708</c:v>
                </c:pt>
                <c:pt idx="124">
                  <c:v>0.016662469</c:v>
                </c:pt>
                <c:pt idx="125">
                  <c:v>0.047649961</c:v>
                </c:pt>
                <c:pt idx="126">
                  <c:v>0.103757203</c:v>
                </c:pt>
                <c:pt idx="127">
                  <c:v>0.104474798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12383">
              <a:solidFill>
                <a:srgbClr val="D5E0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신체 가속도 (g)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</c:valAx>
      <c:valAx>
        <c:axId val="48650112"/>
        <c:scaling>
          <c:orientation val="minMax"/>
          <c:max val="2.56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구간 내 시간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majorUnit val="0.6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400">
              <a:solidFill>
                <a:srgbClr val="4C606E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ext-1">
            <a:extLst xmlns:a="http://schemas.openxmlformats.org/drawingml/2006/main">
              <a:ext uri="{FF2B5EF4-FFF2-40B4-BE49-F238E27FC236}">
                <a16:creationId xmlns:a16="http://schemas.microsoft.com/office/drawing/2014/main" id="{D8DEC095-38DD-4F24-9B61-DA844B4D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8200"/>
            <a:ext cx="2779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2026 한국디지털콘텐츠학회 추계종합학술대회 및 대학생논문경진대회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D6DF06F-85D2-4F8F-98EA-E538CBE0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27799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스마트폰 센서 기반 활동 요약을 위한</a:t>
            </a:r>
          </a:p>
          <a:p xmlns:a="http://schemas.openxmlformats.org/drawingml/2006/main">
            <a:pPr>
              <a:buNone/>
              <a:def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85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분류 목표와 모델 구성 비교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80964B6-DA1F-42BD-A1AB-5F55BECB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2779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이봉헌 · 유재윤 · 정회서 · 한윤섭 · 최승빈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968D707-D9A4-4137-9418-3A6246AD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91250"/>
            <a:ext cx="2779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선문대학교 AI소프트웨어학과     발표 이봉헌     지도교수 황세웅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C04969B-1A98-49AD-95BB-E325E2DC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477125"/>
            <a:ext cx="2779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5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활동 요약은 3상태 성능·비용으로,</a:t>
            </a:r>
          </a:p>
          <a:p xmlns:a="http://schemas.openxmlformats.org/drawingml/2006/main">
            <a: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세부 행동 기록은 필요한 라벨을 보존해 선택한다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C4C9C8E-9822-4F3B-B17B-0AB0DB87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25000"/>
            <a:ext cx="1323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  연구 기여와 비교 설계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016B5EC-299B-4C18-A3F2-BD8DE6F8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525125"/>
            <a:ext cx="1323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0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출력 목표·입력 표현·처리 비용을</a:t>
            </a:r>
          </a:p>
          <a:p xmlns:a="http://schemas.openxmlformats.org/drawingml/2006/main">
            <a:pPr>
              <a:buNone/>
              <a:defRPr sz="37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사람 독립 평가에서 함께 대조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DF05152-F4E6-4412-8B4E-BA39A408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192000"/>
            <a:ext cx="132397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목표: 6종 예측 병합 vs. 3상태 직접 학습</a:t>
            </a:r>
          </a:p>
          <a:p xmlns:a="http://schemas.openxmlformats.org/drawingml/2006/main">
            <a: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입력: 18개 특징의 로지스틱 회귀(LR3) vs. FMLP3</a:t>
            </a:r>
          </a:p>
          <a:p xmlns:a="http://schemas.openxmlformats.org/drawingml/2006/main">
            <a: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비용: 같은 CPU의 전처리·분류·반환 시간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C0516-1B21-4A1D-B1DE-1F1DCD50A1C7}"/>
              </a:ext>
            </a:extLst>
          </p:cNvPr>
          <p:cNvGraphicFramePr/>
          <p:nvPr/>
        </p:nvGraphicFramePr>
        <p:xfrm>
          <a:off xmlns:a="http://schemas.openxmlformats.org/drawingml/2006/main" x="1238250" y="14001750"/>
          <a:ext xmlns:a="http://schemas.openxmlformats.org/drawingml/2006/main" cx="1323975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0"/>
                <a:gridCol w="5429250"/>
              </a:tblGrid>
              <a:tr h="790575"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원래 6종 행동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활동 요약 3상태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1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걷기 · 계단 오르기 · 내리기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1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앉기 · 서기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앉거나 서 있음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1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눕기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누워 있음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F1D5EF5-1FE2-4084-8095-8049B59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9525000"/>
            <a:ext cx="1332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  데이터와 평가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29173A5-E8ED-4B55-AEA5-688CDB13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553700"/>
            <a:ext cx="133214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9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UCI HAR [1] · 허리 착용 스마트폰</a:t>
            </a:r>
          </a:p>
          <a:p xmlns:a="http://schemas.openxmlformats.org/drawingml/2006/main">
            <a:pPr>
              <a:buNone/>
              <a:defRPr sz="29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신체·총 가속도·각속도, 각 3축: 9채널</a:t>
            </a:r>
          </a:p>
          <a:p xmlns:a="http://schemas.openxmlformats.org/drawingml/2006/main">
            <a:pPr>
              <a:buNone/>
              <a:defRPr sz="29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128시점 · 50Hz · 2.56초 · 50% 중첩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AFCE2-E15E-4006-8A30-02D8DCE6AFD2}"/>
              </a:ext>
            </a:extLst>
          </p:cNvPr>
          <p:cNvGraphicFramePr/>
          <p:nvPr/>
        </p:nvGraphicFramePr>
        <p:xfrm>
          <a:off xmlns:a="http://schemas.openxmlformats.org/drawingml/2006/main" x="15716250" y="12192000"/>
          <a:ext xmlns:a="http://schemas.openxmlformats.org/drawingml/2006/main" cx="133215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3429000"/>
                <a:gridCol w="4558500"/>
              </a:tblGrid>
              <a:tr h="790575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구간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16명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5,577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5명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1,775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test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9명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30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2,947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87AAF93A-4AFE-4E69-BF0E-B831618C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5716250"/>
            <a:ext cx="1332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사람을 분리하고 학습 통계로 표준화했다.</a:t>
            </a:r>
          </a:p>
          <a:p xmlns:a="http://schemas.openxmlformats.org/drawingml/2006/main">
            <a:pPr>
              <a:buNone/>
              <a:def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모델·조건 고정 후 공식 test를 평가했다.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D3385EF0-4876-461B-BC77-5E69E872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7145000"/>
            <a:ext cx="133214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7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신경망: seed 2026·2027·2028, Adam 0.001, batch 64,</a:t>
            </a:r>
          </a:p>
          <a:p xmlns:a="http://schemas.openxmlformats.org/drawingml/2006/main">
            <a: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최대 40 epoch, 검증 손실 patience 6·최선 가중치 복원</a:t>
            </a:r>
          </a:p>
          <a:p xmlns:a="http://schemas.openxmlformats.org/drawingml/2006/main">
            <a: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입력: 시계열 4종 128×9 / LR·FMLP 18개 특징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28DAD52A-C6BF-40D2-97C0-AE868E1F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0"/>
            <a:ext cx="2779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  핵심 결과: 분류 목표와 처리 비용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6063DD45-8C8F-4D56-9FB6-A54A8B93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0"/>
            <a:ext cx="1323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공식 test Macro F1 (클래스별 F1 평균)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865F7-F020-4FC6-8AB5-089DF7B7EAB2}"/>
              </a:ext>
            </a:extLst>
          </p:cNvPr>
          <p:cNvGraphicFramePr/>
          <p:nvPr/>
        </p:nvGraphicFramePr>
        <p:xfrm>
          <a:off xmlns:a="http://schemas.openxmlformats.org/drawingml/2006/main" x="1238250" y="20955000"/>
          <a:ext xmlns:a="http://schemas.openxmlformats.org/drawingml/2006/main" cx="1323975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714750"/>
                <a:gridCol w="3714750"/>
                <a:gridCol w="3714750"/>
              </a:tblGrid>
              <a:tr h="666750"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6종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6종→3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3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T w="12383">
                      <a:solidFill>
                        <a:srgbClr val="D5E0E5"/>
                      </a:solidFill>
                      <a:prstDash val="solid"/>
                    </a:lnT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132F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MLP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0.8816 ±0.0164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0.9796 ±0.0031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0.9918 ±0.0024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CNN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0.9053 ±0.0136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0.9950 ±0.0027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0.9962 ±0.0028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RNN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0.7217 ±0.0669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0.9788 ±0.0076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0.9905 ±0.0027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LSTM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0.8767 ±0.0183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0.9866 ±0.0065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0.9959 ±0.0029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LR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0.7486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0.9865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0.9994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FMLP</a:t>
                      </a:r>
                    </a:p>
                  </a:txBody>
                  <a:tcPr marL="91440" marR="91440" marT="45720" marB="45720">
                    <a:lnL w="12383">
                      <a:solidFill>
                        <a:srgbClr val="D5E0E5"/>
                      </a:solidFill>
                      <a:prstDash val="solid"/>
                    </a:lnL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13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0.9986 ±0.0002</a:t>
                      </a:r>
                    </a:p>
                  </a:txBody>
                  <a:tcPr marL="91440" marR="91440" marT="45720" marB="45720">
                    <a:lnR w="12383">
                      <a:solidFill>
                        <a:srgbClr val="D5E0E5"/>
                      </a:solidFill>
                      <a:prstDash val="solid"/>
                    </a:lnR>
                    <a:lnB w="12383">
                      <a:solidFill>
                        <a:srgbClr val="D5E0E5"/>
                      </a:solidFill>
                      <a:prstDash val="soli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454DBB68-5BFA-49BF-8DDC-875F93D5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0"/>
            <a:ext cx="1323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신경망: 3 seed 평균±표본 SD / LR: 단일 학습.</a:t>
            </a:r>
          </a:p>
          <a:p xmlns:a="http://schemas.openxmlformats.org/drawingml/2006/main">
            <a: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SD는 학습 변동이며 사람 모집단의 신뢰구간과 구분한다.</a:t>
            </a:r>
          </a:p>
          <a:p xmlns:a="http://schemas.openxmlformats.org/drawingml/2006/main">
            <a: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6종→3: 6종 argmax 후 병합. 6종·3상태는 별도 과제.</a:t>
            </a:r>
          </a:p>
          <a:p xmlns:a="http://schemas.openxmlformats.org/drawingml/2006/main">
            <a: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FMLP는 18특징 MLP로, 시계열 MLP와 입력이 다르다.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7E21C198-7A80-443B-8951-7CBC0740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717750"/>
            <a:ext cx="1323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직접 3상태 F1  0.9905–0.9994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93F6B09B-5FB2-4BB6-B8B3-F5D397CB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0"/>
            <a:ext cx="13239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7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위 범위는 신경망 평균과 LR 단일 적합의 범위이다.</a:t>
            </a:r>
          </a:p>
          <a:p xmlns:a="http://schemas.openxmlformats.org/drawingml/2006/main">
            <a:pPr>
              <a:buNone/>
              <a:defRPr sz="27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직접 학습은 같은 seed 12쌍 중 11쌍에서 F1 증가.</a:t>
            </a:r>
          </a:p>
          <a:p xmlns:a="http://schemas.openxmlformats.org/drawingml/2006/main">
            <a:pPr>
              <a:buNone/>
              <a:defRPr sz="27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LSTM 2027은 −0.0011로 예외도 관찰됐다.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CDDAB572-0A4A-4863-AA1C-0362CD6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0002500"/>
            <a:ext cx="1332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8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3상태 직접 학습 · PC 처리 시간</a:t>
            </a:r>
          </a:p>
        </p:txBody>
      </p:sp>
      <p:graphicFrame>
        <p:nvGraphicFramePr>
          <p:cNvPr id="22" name="Chart">
            <a:extLst xmlns:a="http://schemas.openxmlformats.org/drawingml/2006/main">
              <a:ext uri="{FF2B5EF4-FFF2-40B4-BE49-F238E27FC236}">
                <a16:creationId xmlns:a16="http://schemas.microsoft.com/office/drawing/2014/main" id="{2A0AA04E-FEBA-42E9-B6B7-FD800B0C2A0E}"/>
              </a:ext>
            </a:extLst>
          </p:cNvPr>
          <p:cNvGraphicFramePr/>
          <p:nvPr/>
        </p:nvGraphicFramePr>
        <p:xfrm>
          <a:off xmlns:a="http://schemas.openxmlformats.org/drawingml/2006/main" x="15621000" y="21240750"/>
          <a:ext xmlns:a="http://schemas.openxmlformats.org/drawingml/2006/main" cx="13416725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0958043e7f4415"/>
          </a:graphicData>
        </a:graphic>
      </p:graphicFrame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F806E19C-53F5-4839-9639-51A11A04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6289000"/>
            <a:ext cx="1332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52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동일 18특징: FMLP3 / LR3 처리 시간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38A2DBF3-DC79-4DA4-BA44-EC2A7802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7098625"/>
            <a:ext cx="1332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5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PC 처리 시간 약 14.2배 차이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3B1C0210-CBF6-4150-894F-FCF380C8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8194000"/>
            <a:ext cx="133214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4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LR3  F1 0.9994 · 0.073ms · 57개 파라미터</a:t>
            </a:r>
          </a:p>
          <a:p xmlns:a="http://schemas.openxmlformats.org/drawingml/2006/main">
            <a:pPr>
              <a:buNone/>
              <a:def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FMLP3  F1 0.9986 · 1.043ms · 10,883개 파라미터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79EF26CC-8368-44B0-B50D-3CDDB023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9718000"/>
            <a:ext cx="133214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7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고정 PC·구현의 비용으로, 스마트폰 실측과 구분한다.</a:t>
            </a:r>
          </a:p>
          <a:p xmlns:a="http://schemas.openxmlformats.org/drawingml/2006/main">
            <a:pPr>
              <a:buNone/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작은 F1 차이로 우월성·동등성을 판단하지 않는다.</a:t>
            </a:r>
          </a:p>
          <a:p xmlns:a="http://schemas.openxmlformats.org/drawingml/2006/main">
            <a:pPr>
              <a:buNone/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14.2배는 반올림 전 원자료로 계산했다.</a:t>
            </a:r>
          </a:p>
        </p:txBody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8FC0DC64-4A88-4763-BF51-7402603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337250"/>
            <a:ext cx="1323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4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4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4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  실제 입력과 예측·오류</a:t>
            </a:r>
          </a:p>
        </p:txBody>
      </p: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37F40E43-87CF-49AA-9D6E-FD18F4532E22}"/>
              </a:ext>
            </a:extLst>
          </p:cNvPr>
          <p:cNvGraphicFramePr/>
          <p:nvPr/>
        </p:nvGraphicFramePr>
        <p:xfrm>
          <a:off xmlns:a="http://schemas.openxmlformats.org/drawingml/2006/main" x="1095375" y="32480250"/>
          <a:ext xmlns:a="http://schemas.openxmlformats.org/drawingml/2006/main" cx="9620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796f8443b745bc"/>
          </a:graphicData>
        </a:graphic>
      </p:graphicFrame>
      <p:sp>
        <p:nvSpPr>
          <p:cNvPr id="29" name="Text-29">
            <a:extLst xmlns:a="http://schemas.openxmlformats.org/drawingml/2006/main">
              <a:ext uri="{FF2B5EF4-FFF2-40B4-BE49-F238E27FC236}">
                <a16:creationId xmlns:a16="http://schemas.microsoft.com/office/drawing/2014/main" id="{213C99A0-A481-4444-AB21-D904E01A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766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LR3 출력</a:t>
            </a:r>
          </a:p>
        </p:txBody>
      </p:sp>
      <p:sp>
        <p:nvSpPr>
          <p:cNvPr id="30" name="Text-30">
            <a:extLst xmlns:a="http://schemas.openxmlformats.org/drawingml/2006/main">
              <a:ext uri="{FF2B5EF4-FFF2-40B4-BE49-F238E27FC236}">
                <a16:creationId xmlns:a16="http://schemas.microsoft.com/office/drawing/2014/main" id="{1EB1328B-A95B-4612-BC45-E2B43CFF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6232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이동</a:t>
            </a:r>
          </a:p>
        </p:txBody>
      </p:sp>
      <p:sp>
        <p:nvSpPr>
          <p:cNvPr id="31" name="Text-31">
            <a:extLst xmlns:a="http://schemas.openxmlformats.org/drawingml/2006/main">
              <a:ext uri="{FF2B5EF4-FFF2-40B4-BE49-F238E27FC236}">
                <a16:creationId xmlns:a16="http://schemas.microsoft.com/office/drawing/2014/main" id="{3E7FE399-EAC3-4445-BB69-B136D2C7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0520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정답: 걷기</a:t>
            </a:r>
          </a:p>
          <a:p xmlns:a="http://schemas.openxmlformats.org/drawingml/2006/main">
            <a:pPr>
              <a:buNone/>
              <a:def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사람 2</a:t>
            </a:r>
          </a:p>
        </p:txBody>
      </p:sp>
      <p:sp>
        <p:nvSpPr>
          <p:cNvPr id="32" name="Text-32">
            <a:extLst xmlns:a="http://schemas.openxmlformats.org/drawingml/2006/main">
              <a:ext uri="{FF2B5EF4-FFF2-40B4-BE49-F238E27FC236}">
                <a16:creationId xmlns:a16="http://schemas.microsoft.com/office/drawing/2014/main" id="{5CE1DFAF-B7C4-4898-BEE1-3C6B60A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37875"/>
            <a:ext cx="1323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5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정분류 예시 test:000079(신체 가속도 3축).</a:t>
            </a:r>
          </a:p>
          <a:p xmlns:a="http://schemas.openxmlformats.org/drawingml/2006/main">
            <a:pPr>
              <a:buNone/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분류는 9채널 평균·표준편차 18개를 사용한다.</a:t>
            </a:r>
          </a:p>
          <a:p xmlns:a="http://schemas.openxmlformats.org/drawingml/2006/main">
            <a:pPr>
              <a:buNone/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LR3 전체 오류: 2/2,947구간, 사람 9 앉기→이동.</a:t>
            </a:r>
          </a:p>
          <a:p xmlns:a="http://schemas.openxmlformats.org/drawingml/2006/main">
            <a:pPr>
              <a:buNone/>
              <a:def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두 오류 구간은 서로 중첩한다.</a:t>
            </a:r>
          </a:p>
        </p:txBody>
      </p:sp>
      <p:sp>
        <p:nvSpPr>
          <p:cNvPr id="33" name="Text-33">
            <a:extLst xmlns:a="http://schemas.openxmlformats.org/drawingml/2006/main">
              <a:ext uri="{FF2B5EF4-FFF2-40B4-BE49-F238E27FC236}">
                <a16:creationId xmlns:a16="http://schemas.microsoft.com/office/drawing/2014/main" id="{F89C7E81-4C0D-4B1B-B75A-AB24B0B7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1337250"/>
            <a:ext cx="1332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  활용에 따른 구성 선택</a:t>
            </a:r>
          </a:p>
        </p:txBody>
      </p:sp>
      <p:sp>
        <p:nvSpPr>
          <p:cNvPr id="34" name="Text-34">
            <a:extLst xmlns:a="http://schemas.openxmlformats.org/drawingml/2006/main">
              <a:ext uri="{FF2B5EF4-FFF2-40B4-BE49-F238E27FC236}">
                <a16:creationId xmlns:a16="http://schemas.microsoft.com/office/drawing/2014/main" id="{F440B394-5AC7-4F14-9114-B40274CC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2480250"/>
            <a:ext cx="1332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활동 일지의 구간별 상태 표시</a:t>
            </a:r>
          </a:p>
        </p:txBody>
      </p:sp>
      <p:sp>
        <p:nvSpPr>
          <p:cNvPr id="35" name="Text-35">
            <a:extLst xmlns:a="http://schemas.openxmlformats.org/drawingml/2006/main">
              <a:ext uri="{FF2B5EF4-FFF2-40B4-BE49-F238E27FC236}">
                <a16:creationId xmlns:a16="http://schemas.microsoft.com/office/drawing/2014/main" id="{A854FFBB-7AF7-434A-B60B-96B93EB4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3385125"/>
            <a:ext cx="133214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카메라·GPS 없이 이동·앉거나 서 있음·누워 있음 태그.</a:t>
            </a:r>
          </a:p>
          <a:p xmlns:a="http://schemas.openxmlformats.org/drawingml/2006/main">
            <a:pPr>
              <a:buNone/>
              <a:def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요약 목표에는 높은 F1을 보인 구성의 비용을 비교한다.</a:t>
            </a:r>
          </a:p>
        </p:txBody>
      </p:sp>
      <p:sp>
        <p:nvSpPr>
          <p:cNvPr id="36" name="Text-36">
            <a:extLst xmlns:a="http://schemas.openxmlformats.org/drawingml/2006/main">
              <a:ext uri="{FF2B5EF4-FFF2-40B4-BE49-F238E27FC236}">
                <a16:creationId xmlns:a16="http://schemas.microsoft.com/office/drawing/2014/main" id="{2A0E6EA4-47CF-49FF-8557-6D7C48D8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4956750"/>
            <a:ext cx="1332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900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좌식·계단 이용의 세부 기록</a:t>
            </a:r>
          </a:p>
        </p:txBody>
      </p:sp>
      <p:sp>
        <p:nvSpPr>
          <p:cNvPr id="37" name="Text-37">
            <a:extLst xmlns:a="http://schemas.openxmlformats.org/drawingml/2006/main">
              <a:ext uri="{FF2B5EF4-FFF2-40B4-BE49-F238E27FC236}">
                <a16:creationId xmlns:a16="http://schemas.microsoft.com/office/drawing/2014/main" id="{C1260C8D-8C05-429B-93E9-7EC18E7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5861625"/>
            <a:ext cx="133214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225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앉기·서기, 걷기·오르기·내리기 라벨을 보존한다.</a:t>
            </a:r>
          </a:p>
          <a:p xmlns:a="http://schemas.openxmlformats.org/drawingml/2006/main">
            <a:pPr>
              <a:buNone/>
              <a:def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6종 F1: CNN 0.9053, LR6 0.7486.</a:t>
            </a:r>
          </a:p>
        </p:txBody>
      </p:sp>
      <p:sp>
        <p:nvSpPr>
          <p:cNvPr id="38" name="Text-38">
            <a:extLst xmlns:a="http://schemas.openxmlformats.org/drawingml/2006/main">
              <a:ext uri="{FF2B5EF4-FFF2-40B4-BE49-F238E27FC236}">
                <a16:creationId xmlns:a16="http://schemas.microsoft.com/office/drawing/2014/main" id="{132F6D6E-E9AA-4D69-B1A7-1CB48496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7242750"/>
            <a:ext cx="13321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47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활용은 구간별 출력 설계이다. 허리 착용 6동작을 평가했고,</a:t>
            </a:r>
          </a:p>
          <a:p xmlns:a="http://schemas.openxmlformats.org/drawingml/2006/main">
            <a:pPr>
              <a:buNone/>
              <a:defRPr sz="232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누워 있음은 자세 라벨이다.</a:t>
            </a:r>
          </a:p>
        </p:txBody>
      </p:sp>
      <p:sp>
        <p:nvSpPr>
          <p:cNvPr id="39" name="Text-39">
            <a:extLst xmlns:a="http://schemas.openxmlformats.org/drawingml/2006/main">
              <a:ext uri="{FF2B5EF4-FFF2-40B4-BE49-F238E27FC236}">
                <a16:creationId xmlns:a16="http://schemas.microsoft.com/office/drawing/2014/main" id="{B3BE83D3-9E8A-4488-A9DD-7CC184C1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0"/>
            <a:ext cx="2371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실행 환경  Intel Core i9-13980HX CPU(연산 4·상호 1스레드), RTX 4060 Laptop GPU 탑재(평가 미사용).</a:t>
            </a:r>
          </a:p>
          <a:p xmlns:a="http://schemas.openxmlformats.org/drawingml/2006/main">
            <a: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Python 3.11.9 · TensorFlow 2.21.0 · Keras 3.15.1 · NumPy 2.2.6 · scikit-learn 1.7.2.</a:t>
            </a:r>
          </a:p>
        </p:txBody>
      </p:sp>
      <p:sp>
        <p:nvSpPr>
          <p:cNvPr id="40" name="Text-40">
            <a:extLst xmlns:a="http://schemas.openxmlformats.org/drawingml/2006/main">
              <a:ext uri="{FF2B5EF4-FFF2-40B4-BE49-F238E27FC236}">
                <a16:creationId xmlns:a16="http://schemas.microsoft.com/office/drawing/2014/main" id="{A58FCE26-27CA-4295-AA8C-C2B1BD5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28750"/>
            <a:ext cx="2371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시간 측정  batch 1, 워밍업 50회·측정 500회, 실행별 중앙값의 중앙값. 표준화·특징·분류·반환 포함.</a:t>
            </a:r>
          </a:p>
          <a:p xmlns:a="http://schemas.openxmlformats.org/drawingml/2006/main">
            <a:pPr>
              <a:buNone/>
              <a:def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수집·UCI 필터링·구간화·초기 로딩 제외. NumPy·TensorFlow 구현 차이를 포함한 PC 결과이다.</a:t>
            </a:r>
          </a:p>
        </p:txBody>
      </p:sp>
      <p:sp>
        <p:nvSpPr>
          <p:cNvPr id="41" name="Text-41">
            <a:extLst xmlns:a="http://schemas.openxmlformats.org/drawingml/2006/main">
              <a:ext uri="{FF2B5EF4-FFF2-40B4-BE49-F238E27FC236}">
                <a16:creationId xmlns:a16="http://schemas.microsoft.com/office/drawing/2014/main" id="{404E5805-8E92-4363-98BA-F5D26557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0"/>
            <a:ext cx="2371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[1] Reyes-Ortiz et al., UCI HAR, 2013, DOI:10.24432/C54S4K.  [2] Wang et al., Sensors 18(11), 3629, 2018.</a:t>
            </a:r>
          </a:p>
          <a:p xmlns:a="http://schemas.openxmlformats.org/drawingml/2006/main">
            <a:pPr>
              <a:buNone/>
              <a:def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[3] Debache et al., Sensors 20(11), 3090, 2020.   코드·실험: github.com/kara320090/smartphone-har</a:t>
            </a:r>
          </a:p>
        </p:txBody>
      </p:sp>
      <p:sp>
        <p:nvSpPr>
          <p:cNvPr id="42" name="Text-42">
            <a:extLst xmlns:a="http://schemas.openxmlformats.org/drawingml/2006/main">
              <a:ext uri="{FF2B5EF4-FFF2-40B4-BE49-F238E27FC236}">
                <a16:creationId xmlns:a16="http://schemas.microsoft.com/office/drawing/2014/main" id="{943EE5CF-F8A1-4BEA-85B1-4D7DC952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0"/>
            <a:ext cx="2371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본 연구는 2026년도 과학기술정보통신부 및 정보통신기획평가원의 ‘SW중심대학지원사업’의 연구 결과로 수행되었습니다(2024-0-00023).</a:t>
            </a:r>
          </a:p>
        </p:txBody>
      </p:sp>
      <p:sp>
        <p:nvSpPr>
          <p:cNvPr id="43" name="Text-43">
            <a:extLst xmlns:a="http://schemas.openxmlformats.org/drawingml/2006/main">
              <a:ext uri="{FF2B5EF4-FFF2-40B4-BE49-F238E27FC236}">
                <a16:creationId xmlns:a16="http://schemas.microsoft.com/office/drawing/2014/main" id="{4B8C4802-9AB8-40EE-89BB-E9C84692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0"/>
            <a:ext cx="2371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발표자 bongbong9292@naver.com     지도교수 indimoa@gmail.com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07BA89-22E3-45F8-82A1-828E8778D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90632bdd2456c"/>
          <a:stretch xmlns:a="http://schemas.openxmlformats.org/drawingml/2006/main"/>
        </p:blipFill>
        <p:spPr>
          <a:xfrm xmlns:a="http://schemas.openxmlformats.org/drawingml/2006/main">
            <a:off x="25812750" y="3876675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1E064C80-B45F-4831-AE1A-1865740C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0" y="418623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32F43"/>
                </a:solidFill>
                <a:latin typeface="Malgun Gothic"/>
                <a:ea typeface="Malgun Gothic"/>
                <a:cs typeface="Malgun Gothic"/>
              </a:rPr>
              <a:t>논문 · 코드 · 실험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3CA1BA-1BAE-4F5B-90FB-93D3C065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43075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특징·계층 분류 선행연구 [2,3]를 토대로,</a:t>
            </a:r>
          </a:p>
          <a:p xmlns:a="http://schemas.openxmlformats.org/drawingml/2006/main">
            <a:pPr>
              <a:def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출력 요구별 구성 선택의 실험 근거를 제시한다.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A8475D-CBCF-470D-A63C-D913B7D2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0669250"/>
            <a:ext cx="1331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>
                <a:solidFill>
                  <a:srgbClr val="4C606E"/>
                </a:solidFill>
                <a:latin typeface="Malgun Gothic"/>
                <a:ea typeface="Malgun Gothic"/>
                <a:cs typeface="Malgun Gothic"/>
              </a:rPr>
              <a:t>검증의 동일 1구간 · batch 1 · CPU</a:t>
            </a:r>
          </a:p>
        </p:txBody>
      </p:sp>
    </p:spTree>
    <p:extLst>
      <p:ext uri="{BB962C8B-B14F-4D97-AF65-F5344CB8AC3E}">
        <p14:creationId xmlns:p14="http://schemas.microsoft.com/office/powerpoint/2010/main" val="474067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2026-10-23T06:02:02.4630000Z</dcterms:created>
  <dcterms:modified xsi:type="dcterms:W3CDTF">2026-10-23T06:02:02.4630000Z</dcterms:modified>
</coreProperties>
</file>