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2757001d054fb0" /><Relationship Type="http://schemas.openxmlformats.org/officeDocument/2006/relationships/extended-properties" Target="/docProps/app.xml" Id="Rba677b450a1f4588" /><Relationship Type="http://schemas.openxmlformats.org/officeDocument/2006/relationships/officeDocument" Target="/ppt/presentation.xml" Id="R1e52db302c714a5f" /></Relationships>
</file>

<file path=ppt/presentation.xml><?xml version="1.0" encoding="utf-8"?>
<p:presentation xmlns:p="http://schemas.openxmlformats.org/presentationml/2006/main">
  <p:sldMasterIdLst>
    <p:sldMasterId xmlns:r="http://schemas.openxmlformats.org/officeDocument/2006/relationships" id="2147483648" r:id="Rc5bf88073d3043c1"/>
  </p:sldMasterIdLst>
  <p:notesMasterIdLst>
    <p:notesMasterId xmlns:r="http://schemas.openxmlformats.org/officeDocument/2006/relationships" r:id="R86978fcefeae4b29"/>
  </p:notesMasterIdLst>
  <p:sldIdLst>
    <p:sldId xmlns:r="http://schemas.openxmlformats.org/officeDocument/2006/relationships" id="256" r:id="R67113df1555a4449"/>
    <p:sldId xmlns:r="http://schemas.openxmlformats.org/officeDocument/2006/relationships" id="257" r:id="R736e7d7fb88248ed"/>
    <p:sldId xmlns:r="http://schemas.openxmlformats.org/officeDocument/2006/relationships" id="258" r:id="R1691ec6db9ee4cc8"/>
    <p:sldId xmlns:r="http://schemas.openxmlformats.org/officeDocument/2006/relationships" id="259" r:id="Ref253913c2894c58"/>
    <p:sldId xmlns:r="http://schemas.openxmlformats.org/officeDocument/2006/relationships" id="260" r:id="R1fda0da605314844"/>
    <p:sldId xmlns:r="http://schemas.openxmlformats.org/officeDocument/2006/relationships" id="261" r:id="Ra986b1112cb44b31"/>
    <p:sldId xmlns:r="http://schemas.openxmlformats.org/officeDocument/2006/relationships" id="262" r:id="R98ce58af53ea4bb5"/>
    <p:sldId xmlns:r="http://schemas.openxmlformats.org/officeDocument/2006/relationships" id="263" r:id="R4661f13e976a4c86"/>
    <p:sldId xmlns:r="http://schemas.openxmlformats.org/officeDocument/2006/relationships" id="264" r:id="Refd478d90b7946ad"/>
    <p:sldId xmlns:r="http://schemas.openxmlformats.org/officeDocument/2006/relationships" id="265" r:id="R5839e2f8078448a8"/>
    <p:sldId xmlns:r="http://schemas.openxmlformats.org/officeDocument/2006/relationships" id="266" r:id="Re25bbaa85675422f"/>
    <p:sldId xmlns:r="http://schemas.openxmlformats.org/officeDocument/2006/relationships" id="267" r:id="Rb9478f5931f041fb"/>
    <p:sldId xmlns:r="http://schemas.openxmlformats.org/officeDocument/2006/relationships" id="268" r:id="R7f19816bfad849ee"/>
    <p:sldId xmlns:r="http://schemas.openxmlformats.org/officeDocument/2006/relationships" id="269" r:id="R04c9edabadc24e37"/>
    <p:sldId xmlns:r="http://schemas.openxmlformats.org/officeDocument/2006/relationships" id="270" r:id="R0119dc53aa2c4ba4"/>
    <p:sldId xmlns:r="http://schemas.openxmlformats.org/officeDocument/2006/relationships" id="271" r:id="Rdf07ebc736424192"/>
    <p:sldId xmlns:r="http://schemas.openxmlformats.org/officeDocument/2006/relationships" id="272" r:id="R3a29a28a24bf4d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61235fd2ed4b4e" /><Relationship Type="http://schemas.openxmlformats.org/officeDocument/2006/relationships/slideMaster" Target="/ppt/slideMasters/slideMaster1.xml" Id="Rc5bf88073d3043c1" /><Relationship Type="http://schemas.openxmlformats.org/officeDocument/2006/relationships/notesMaster" Target="/ppt/notesMasters/notesMaster1.xml" Id="R86978fcefeae4b29" /><Relationship Type="http://schemas.openxmlformats.org/officeDocument/2006/relationships/presProps" Target="/ppt/presProps.xml" Id="Rfe03133a6c964aa8" /><Relationship Type="http://schemas.openxmlformats.org/officeDocument/2006/relationships/tableStyles" Target="/ppt/tableStyles.xml" Id="R33b5747c4c0e4a65" /><Relationship Type="http://schemas.openxmlformats.org/officeDocument/2006/relationships/slide" Target="/ppt/slides/slide1.xml" Id="R67113df1555a4449" /><Relationship Type="http://schemas.openxmlformats.org/officeDocument/2006/relationships/slide" Target="/ppt/slides/slide2.xml" Id="R736e7d7fb88248ed" /><Relationship Type="http://schemas.openxmlformats.org/officeDocument/2006/relationships/slide" Target="/ppt/slides/slide3.xml" Id="R1691ec6db9ee4cc8" /><Relationship Type="http://schemas.openxmlformats.org/officeDocument/2006/relationships/slide" Target="/ppt/slides/slide4.xml" Id="Ref253913c2894c58" /><Relationship Type="http://schemas.openxmlformats.org/officeDocument/2006/relationships/slide" Target="/ppt/slides/slide5.xml" Id="R1fda0da605314844" /><Relationship Type="http://schemas.openxmlformats.org/officeDocument/2006/relationships/slide" Target="/ppt/slides/slide6.xml" Id="Ra986b1112cb44b31" /><Relationship Type="http://schemas.openxmlformats.org/officeDocument/2006/relationships/slide" Target="/ppt/slides/slide7.xml" Id="R98ce58af53ea4bb5" /><Relationship Type="http://schemas.openxmlformats.org/officeDocument/2006/relationships/slide" Target="/ppt/slides/slide8.xml" Id="R4661f13e976a4c86" /><Relationship Type="http://schemas.openxmlformats.org/officeDocument/2006/relationships/slide" Target="/ppt/slides/slide9.xml" Id="Refd478d90b7946ad" /><Relationship Type="http://schemas.openxmlformats.org/officeDocument/2006/relationships/slide" Target="/ppt/slides/slide10.xml" Id="R5839e2f8078448a8" /><Relationship Type="http://schemas.openxmlformats.org/officeDocument/2006/relationships/slide" Target="/ppt/slides/slide11.xml" Id="Re25bbaa85675422f" /><Relationship Type="http://schemas.openxmlformats.org/officeDocument/2006/relationships/slide" Target="/ppt/slides/slide12.xml" Id="Rb9478f5931f041fb" /><Relationship Type="http://schemas.openxmlformats.org/officeDocument/2006/relationships/slide" Target="/ppt/slides/slide13.xml" Id="R7f19816bfad849ee" /><Relationship Type="http://schemas.openxmlformats.org/officeDocument/2006/relationships/slide" Target="/ppt/slides/slide14.xml" Id="R04c9edabadc24e37" /><Relationship Type="http://schemas.openxmlformats.org/officeDocument/2006/relationships/slide" Target="/ppt/slides/slide15.xml" Id="R0119dc53aa2c4ba4" /><Relationship Type="http://schemas.openxmlformats.org/officeDocument/2006/relationships/slide" Target="/ppt/slides/slide16.xml" Id="Rdf07ebc736424192" /><Relationship Type="http://schemas.openxmlformats.org/officeDocument/2006/relationships/slide" Target="/ppt/slides/slide17.xml" Id="R3a29a28a24bf4d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124e7462ef48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15828cebc94519" /><Relationship Type="http://schemas.openxmlformats.org/officeDocument/2006/relationships/notesMaster" Target="/ppt/notesMasters/notesMaster1.xml" Id="R10410473fba346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4707dfb2994601" /><Relationship Type="http://schemas.openxmlformats.org/officeDocument/2006/relationships/notesMaster" Target="/ppt/notesMasters/notesMaster1.xml" Id="Rcb3c7f30e46544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5c5439e94f4f1a" /><Relationship Type="http://schemas.openxmlformats.org/officeDocument/2006/relationships/notesMaster" Target="/ppt/notesMasters/notesMaster1.xml" Id="Rfcdfc5446c6045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cf5dc4ce244cb0" /><Relationship Type="http://schemas.openxmlformats.org/officeDocument/2006/relationships/notesMaster" Target="/ppt/notesMasters/notesMaster1.xml" Id="R11285c5e6e6444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6ecb5c446e4218" /><Relationship Type="http://schemas.openxmlformats.org/officeDocument/2006/relationships/notesMaster" Target="/ppt/notesMasters/notesMaster1.xml" Id="R5ecbf0a295b54b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7c035a189a4138" /><Relationship Type="http://schemas.openxmlformats.org/officeDocument/2006/relationships/notesMaster" Target="/ppt/notesMasters/notesMaster1.xml" Id="Rea73a8da62d140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516b7db0c34ecf" /><Relationship Type="http://schemas.openxmlformats.org/officeDocument/2006/relationships/notesMaster" Target="/ppt/notesMasters/notesMaster1.xml" Id="R86ad2d1509fb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89f94d0d944e3e" /><Relationship Type="http://schemas.openxmlformats.org/officeDocument/2006/relationships/notesMaster" Target="/ppt/notesMasters/notesMaster1.xml" Id="R7258fedd5ab942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e3344ba8af422d" /><Relationship Type="http://schemas.openxmlformats.org/officeDocument/2006/relationships/notesMaster" Target="/ppt/notesMasters/notesMaster1.xml" Id="R9fc2c88322904b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6d32675eb43ac" /><Relationship Type="http://schemas.openxmlformats.org/officeDocument/2006/relationships/notesMaster" Target="/ppt/notesMasters/notesMaster1.xml" Id="R9f2889de779e4d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7b9c16d8fb46a8" /><Relationship Type="http://schemas.openxmlformats.org/officeDocument/2006/relationships/notesMaster" Target="/ppt/notesMasters/notesMaster1.xml" Id="R49efe93a593e4d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646270948e4c6a" /><Relationship Type="http://schemas.openxmlformats.org/officeDocument/2006/relationships/notesMaster" Target="/ppt/notesMasters/notesMaster1.xml" Id="R1d155431b6534a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ea73b5bf074d2c" /><Relationship Type="http://schemas.openxmlformats.org/officeDocument/2006/relationships/notesMaster" Target="/ppt/notesMasters/notesMaster1.xml" Id="Rb77f14af984c4c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af16c0fba74f18" /><Relationship Type="http://schemas.openxmlformats.org/officeDocument/2006/relationships/notesMaster" Target="/ppt/notesMasters/notesMaster1.xml" Id="R8fde567617a745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304b3d284d49d3" /><Relationship Type="http://schemas.openxmlformats.org/officeDocument/2006/relationships/notesMaster" Target="/ppt/notesMasters/notesMaster1.xml" Id="Rb577148d5af647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75d79f49f7480d" /><Relationship Type="http://schemas.openxmlformats.org/officeDocument/2006/relationships/notesMaster" Target="/ppt/notesMasters/notesMaster1.xml" Id="Rf79e16bbcfa54f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92cb3796a74d85" /><Relationship Type="http://schemas.openxmlformats.org/officeDocument/2006/relationships/notesMaster" Target="/ppt/notesMasters/notesMaster1.xml" Id="Rfca29d5af23244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발표 약 8–10분 / 4분 축약 경로: 1→3→4→6→7→12]</a:t>
            </a:r>
          </a:p>
          <a:p xmlns:a="http://schemas.openxmlformats.org/drawingml/2006/main">
            <a:r>
              <a:t>[4분 경로 15초] 안녕하세요. 기준모델 구현과 공통 학습을 맡은 이봉헌입니다. MLP를 구현한 뒤 역전파를 확인하고, 동일한 사람 분할에서 일곱 가지 조건을 비교했습니다. 오늘 설명하는 값은 공식 시험 점수가 아닌 검증 결과입니다.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https://github.com/kara320090/smartphone-har/blob/704885df8776dcf594e65d19f0695991202b4eab/docs/BONGHEON_WORK_SUMMARY.md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 역할의 중심은 기준모델과 공통 학습 코드입니다. 전처리 담당자의 작업과 독립적으로 진행하도록 UCI 참조 어댑터를 만들었고, 이후 팀 공식 모듈과 교체할 수 있게 입력 계약을 정의했습니다. CNN·RNN·LSTM·AE, 전체 시험 평가, 시연 시스템의 완료를 제 성과로 포함하지 않습니다. 실제 팀원 환경의 실행 확인도 남아 있습니다.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https://github.com/kara320090/smartphone-har/blob/704885df8776dcf594e65d19f0695991202b4eab/src/train.py</a:t>
            </a:r>
          </a:p>
          <a:p xmlns:a="http://schemas.openxmlformats.org/drawingml/2006/main">
            <a:r>
              <a:t>https://github.com/kara320090/smartphone-har/blob/704885df8776dcf594e65d19f0695991202b4eab/docs/HANDOFF_KO.md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경로 40초] UCI는 공식적으로 사람 기준 train과 test를 제공합니다. 저는 공식 train 안에서 다시 사람 1, 6, 14, 21, 23을 검증에 배정했습니다. 학습은 16명 5,577개, 검증은 5명 1,775개이며 test는 사용하지 않았습니다. 중첩 창을 무작위로 나누면 같은 사람의 비슷한 데이터가 섞일 수 있어 사람 분할을 고정했습니다. 평균·표준편차·PCA도 학습 자료에서만 계산했습니다.</a:t>
            </a:r>
          </a:p>
          <a:p xmlns:a="http://schemas.openxmlformats.org/drawingml/2006/main">
            <a:r>
              <a:t/>
            </a:r>
          </a:p>
          <a:p xmlns:a="http://schemas.openxmlformats.org/drawingml/2006/main">
            <a:r>
              <a:t>출처 및 근거</a:t>
            </a:r>
          </a:p>
          <a:p xmlns:a="http://schemas.openxmlformats.org/drawingml/2006/main">
            <a:r>
              <a:t>https://archive.ics.uci.edu/dataset/240/human+activity+recognition+using+smartphones</a:t>
            </a:r>
          </a:p>
          <a:p xmlns:a="http://schemas.openxmlformats.org/drawingml/2006/main">
            <a:r>
              <a:t>https://github.com/kara320090/smartphone-har/blob/704885df8776dcf594e65d19f0695991202b4eab/src/adapters/uci_reference.py</a:t>
            </a:r>
          </a:p>
          <a:p xmlns:a="http://schemas.openxmlformats.org/drawingml/2006/main">
            <a:r>
              <a:t>https://github.com/kara320090/smartphone-har/blob/704885df8776dcf594e65d19f0695991202b4eab/src/adapters/preprocessing_reference.py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경로 40초] 기준모델은 561개의 특징을 128개, 64개의 은닉 뉴런을 거쳐 6개 행동 점수로 바꾸는 MLP입니다. 첫 층은 561 곱하기 128에 편향 128개를 더하고, 모든 층을 합하면 80,582개 파라미터입니다. 시계열 버전은 128 곱하기 9를 펼칩니다. PCA 버전은 입력이 100차원으로 줄어 크기도 감소합니다. 마지막은 확률이 아닌 logits이며 손실 함수가 이를 처리합니다.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https://github.com/kara320090/smartphone-har/blob/704885df8776dcf594e65d19f0695991202b4eab/src/models/mlp.py</a:t>
            </a:r>
          </a:p>
          <a:p xmlns:a="http://schemas.openxmlformats.org/drawingml/2006/main">
            <a:r>
              <a:t>https://github.com/kara320090/smartphone-har/blob/704885df8776dcf594e65d19f0695991202b4eab/reports/experiment_summary.csv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trainer는 모델 구조를 만드는 함수와 분리했습니다. 따라서 다른 담당자가 만든 Keras 모델도 계약에 맞으면 연결할 수 있습니다. tf.data는 cache, 학습 shuffle, batch, prefetch를 사용합니다. 검증 데이터는 섞지 않습니다. seed 2026과 CPU 스레드를 고정했습니다. TFRecord는 별도 200표본 왕복 검사이며 일곱 실험은 배열 기반 tf.data로 학습했습니다. 재구성 모델 인터페이스의 연결 검사와 실제 팀 AE 학습은 구분합니다.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https://github.com/kara320090/smartphone-har/blob/704885df8776dcf594e65d19f0695991202b4eab/src/train.py</a:t>
            </a:r>
          </a:p>
          <a:p xmlns:a="http://schemas.openxmlformats.org/drawingml/2006/main">
            <a:r>
              <a:t>https://github.com/kara320090/smartphone-har/blob/704885df8776dcf594e65d19f0695991202b4eab/src/contracts.py</a:t>
            </a:r>
          </a:p>
          <a:p xmlns:a="http://schemas.openxmlformats.org/drawingml/2006/main">
            <a:r>
              <a:t>https://keras.io/api/callbacks/early_stopping/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경로 45초] 역전파는 손실의 기울기를 연쇄법칙으로 계산하고 옵티마이저는 이를 이용해 파라미터를 갱신합니다. 한 뉴런 예제에서 손실의 출력 기울기는 마이너스 3입니다. 출력의 가중치 기울기가 2이므로 곱해서 마이너스 6이 됩니다. 학습률 0.1이면 손실이 줄지만 0.5에서는 오히려 증가합니다. 별도로 17개 파라미터의 작은 tanh 신경망에서 직접 미분, 중심차분, 자동미분을 비교했습니다. 이 설명용 갱신은 SGD이며 실제 HAR 학습은 Adam입니다.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https://github.com/kara320090/smartphone-har/blob/704885df8776dcf594e65d19f0695991202b4eab/src/math_checks.py</a:t>
            </a:r>
          </a:p>
          <a:p xmlns:a="http://schemas.openxmlformats.org/drawingml/2006/main">
            <a:r>
              <a:t>https://github.com/kara320090/smartphone-har/blob/704885df8776dcf594e65d19f0695991202b4eab/reports/math/gradient_checks.json</a:t>
            </a:r>
          </a:p>
          <a:p xmlns:a="http://schemas.openxmlformats.org/drawingml/2006/main">
            <a:r>
              <a:t>https://www.tensorflow.org/guide/autodiff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경로 55초] E02는 표준화한 특징 MLP이고, E03은 시계열, E07은 추가 표준화 생략, E08은 Dropout 0.3, E09와 E10은 학습률, E11은 PCA입니다. 최고 검증 Macro F1은 E02의 0.9138, Accuracy는 0.9161입니다. 정답은 1,775개 중 1,626개입니다. E08도 0.8940으로 기준선보다 낮았습니다. 이번 한 번의 검증 결과에서의 순위이며 최종 시험 성능이나 통계적 우월성은 아닙니다. 모델은 모두 최소 검증 손실 시점의 가중치를 사용했습니다.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https://github.com/kara320090/smartphone-har/blob/704885df8776dcf594e65d19f0695991202b4eab/reports/experiment_summary.csv</a:t>
            </a:r>
          </a:p>
          <a:p xmlns:a="http://schemas.openxmlformats.org/drawingml/2006/main">
            <a:r>
              <a:t>https://github.com/kara320090/smartphone-har/blob/704885df8776dcf594e65d19f0695991202b4eab/docs/EXPERIMENT_NOTES_KO.md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손실은 계속 낮아지지만 검증 손실은 epoch 2에서 최소였습니다. 6개의 epoch 동안 그 최솟값을 갱신하지 못해 epoch 8에서 종료했습니다. 마지막 가중치가 아니라 epoch 2의 가중치를 복원해 저장합니다. 학습 곡선은 과적합 가능성을 보여 주지만 원인을 확정하지 않습니다. CSV의 epoch는 0부터 시작해 여기서는 1을 더해 표시했습니다. E02는 우연히 이 시점의 F1도 가장 높지만 선택 규칙 자체는 val_loss입니다.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https://github.com/kara320090/smartphone-har/blob/704885df8776dcf594e65d19f0695991202b4eab/src/train.py</a:t>
            </a:r>
          </a:p>
          <a:p xmlns:a="http://schemas.openxmlformats.org/drawingml/2006/main">
            <a:r>
              <a:t>실행 원본: runs/formal/E02_seed2026/history.csv</a:t>
            </a:r>
          </a:p>
          <a:p xmlns:a="http://schemas.openxmlformats.org/drawingml/2006/main">
            <a:r>
              <a:t>https://keras.io/api/callbacks/early_stopping/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표준화를 생략한 E07, Dropout을 추가한 E08, 학습률을 바꾼 E09와 E10 모두 이번에는 E02의 F1보다 낮았습니다. 여기서 퍼센트포인트는 F1 차이에 100을 곱한 값이며 상대 변화율이 아닙니다. E07은 검증 손실 0.2651로 E02보다 낮지만 F1은 낮습니다. 손실과 F1의 평가 대상이 다르기 때문에 생기는 차이입니다. 학습률과 조기 종료 정책의 상호작용도 있어 반복과 추가 실험이 필요합니다.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https://github.com/kara320090/smartphone-har/blob/704885df8776dcf594e65d19f0695991202b4eab/reports/experiment_summary.csv</a:t>
            </a:r>
          </a:p>
          <a:p xmlns:a="http://schemas.openxmlformats.org/drawingml/2006/main">
            <a:r>
              <a:t>https://scikit-learn.org/stable/modules/generated/sklearn.metrics.f1_score.html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95%는 정확도 95%가 아니라 설명분산을 뜻합니다. 이 학습 자료에서는 100개의 성분이 선택되어 파라미터가 21,574개로 줄었습니다. 대신 검증 F1은 3.43퍼센트포인트 낮았습니다. 시계열 Flatten MLP 역시 입력과 파라미터 수가 달라 단순하게 시계열이 나쁘다고 말할 수 없습니다. 추론 시간이나 실제 메모리는 별도 측정이 필요하며 담당 ⑤의 검증으로 이어집니다.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https://github.com/kara320090/smartphone-har/blob/704885df8776dcf594e65d19f0695991202b4eab/reports/experiment_summary.csv</a:t>
            </a:r>
          </a:p>
          <a:p xmlns:a="http://schemas.openxmlformats.org/drawingml/2006/main">
            <a:r>
              <a:t>https://github.com/kara320090/smartphone-har/blob/704885df8776dcf594e65d19f0695991202b4eab/src/adapters/preprocessing_reference.py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오분류는 149개이고, 앉기와 서기 사이 61개, 걷기와 계단 오르기 사이 47개, 계단 오르기와 내려가기 사이 33개가 있습니다. 합계 141개로 오류의 약 94.6퍼센트입니다. 계단 오르기는 256개 중 212개를 맞혀 재현율 82.81퍼센트로 가장 낮습니다. 움직임의 유사성을 가능한 설명으로 제시할 수 있지만 행렬만으로 인과를 확정하지 않습니다. 이 분석은 검증 자료의 보조 관찰이며 최종 평가 담당 업무와 연결해야 합니다.</a:t>
            </a:r>
          </a:p>
          <a:p xmlns:a="http://schemas.openxmlformats.org/drawingml/2006/main">
            <a:r>
              <a:t/>
            </a:r>
          </a:p>
          <a:p xmlns:a="http://schemas.openxmlformats.org/drawingml/2006/main">
            <a:r>
              <a:t>출처 및 근거</a:t>
            </a:r>
          </a:p>
          <a:p xmlns:a="http://schemas.openxmlformats.org/drawingml/2006/main">
            <a:r>
              <a:t>실행 원본: runs/formal/E02_seed2026/metrics.json</a:t>
            </a:r>
          </a:p>
          <a:p xmlns:a="http://schemas.openxmlformats.org/drawingml/2006/main">
            <a:r>
              <a:t>실행 원본: runs/formal/E02_seed2026/validation_predictions.csv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경로 45초] 마무리하면 기준모델뿐 아니라 공통 학습과 저장 형식까지 만들었습니다. 테스트 8개와 노트북 3개를 실행했고, 새 프로세스에서 모델 7개를 다시 불러 각 1,775개 예측이 같은지 확인했습니다. 같은 환경에서 최대 확률 차이는 0이었습니다. 이제 팀 전처리와 비교 모델을 연결하고 반복 seed, 공식 시험 평가, 시연을 검증해야 합니다. 저장 모델은 추론용 최선 가중치이며 옵티마이저 상태까지 정확한 재개 지점을 보장하는 체크포인트는 아닙니다. [4분 축약 발표는 여기서 종료하고 질문에 따라 보충 슬라이드를 사용합니다.]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https://github.com/kara320090/smartphone-har/blob/704885df8776dcf594e65d19f0695991202b4eab/reports/VERIFICATION_KO.md</a:t>
            </a:r>
          </a:p>
          <a:p xmlns:a="http://schemas.openxmlformats.org/drawingml/2006/main">
            <a:r>
              <a:t>https://github.com/kara320090/smartphone-har/blob/704885df8776dcf594e65d19f0695991202b4eab/reports/fresh_process_verification.json</a:t>
            </a:r>
          </a:p>
          <a:p xmlns:a="http://schemas.openxmlformats.org/drawingml/2006/main">
            <a:r>
              <a:t>https://github.com/kara320090/smartphone-har/blob/704885df8776dcf594e65d19f0695991202b4eab/docs/TEAM_TASKS_KO.md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시 참고하는 전체 수치 표입니다. 최선 epoch는 val_loss가 가장 낮은 epoch, 실행 epoch는 조기 종료까지 실제 실행한 길이입니다. E03은 10개 epoch, E10과 E11은 7개, 나머지는 8개를 수행했습니다. 시간은 장치와 최초 추적 비용의 영향을 받으므로 정밀한 속도 순위로 해석하지 않습니다.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https://github.com/kara320090/smartphone-har/blob/704885df8776dcf594e65d19f0695991202b4eab/reports/experiment_summary.csv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중심차분은 L(theta+h)와 L(theta-h)의 차이를 2h로 나눈 근사입니다. 상대 오차는 두 기울기 차이의 절댓값을 max(1e-8, 두 기울기의 절댓값 합)으로 나눕니다. 단계 h에 따라 근사와 상쇄 오차가 달라질 수 있습니다. 이 작은 네트워크의 미분 일치를 검증한 것이며 모든 모델의 정당성을 증명하는 것은 아닙니다.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https://github.com/kara320090/smartphone-har/blob/704885df8776dcf594e65d19f0695991202b4eab/reports/math/gradient_checks.json</a:t>
            </a:r>
          </a:p>
          <a:p xmlns:a="http://schemas.openxmlformats.org/drawingml/2006/main">
            <a:r>
              <a:t>https://github.com/kara320090/smartphone-har/blob/704885df8776dcf594e65d19f0695991202b4eab/src/math_checks.py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시계열 채널은 body_acc의 x,y,z, body_gyro의 x,y,z, total_acc의 x,y,z 순서입니다. 출력 logits는 softmax로 확률화할 수 있고 argmax로 클래스를 정합니다. 재구성 모델은 입력과 같은 shape를 출력하고 별도 task_type을 사용합니다. 다른 모델을 연결할 때 모델 생성 전에 seed를 설정하고 전처리 fit 범위도 동일하게 맞춰야 합니다.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https://github.com/kara320090/smartphone-har/blob/704885df8776dcf594e65d19f0695991202b4eab/src/contracts.py</a:t>
            </a:r>
          </a:p>
          <a:p xmlns:a="http://schemas.openxmlformats.org/drawingml/2006/main">
            <a:r>
              <a:t>https://github.com/kara320090/smartphone-har/blob/704885df8776dcf594e65d19f0695991202b4eab/src/adapters/uci_reference.py</a:t>
            </a:r>
          </a:p>
          <a:p xmlns:a="http://schemas.openxmlformats.org/drawingml/2006/main">
            <a:r>
              <a:t>https://github.com/kara320090/smartphone-har/blob/704885df8776dcf594e65d19f0695991202b4eab/docs/HANDOFF_KO.md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환경은 Python 3.11.9, TensorFlow 2.21.0, Keras 3.15.1, NumPy 2.2.6, scikit-learn 1.7.2입니다. requirements.lock.txt에는 설치 버전 묶음이 있습니다. GitHub main에는 코드와 가벼운 근거 자료를 두고 v1 릴리스 ZIP에는 학습 모델을 포함했습니다. 공식 원시 자료는 저장소에 넣지 않고 내려받기 스크립트로 준비합니다. 재로딩은 compile=False로 하며 전처리를 다시 fit하지 않습니다.</a:t>
            </a:r>
          </a:p>
          <a:p xmlns:a="http://schemas.openxmlformats.org/drawingml/2006/main">
            <a:r>
              <a:t/>
            </a:r>
          </a:p>
          <a:p xmlns:a="http://schemas.openxmlformats.org/drawingml/2006/main">
            <a:r>
              <a:t>출처 및 근거</a:t>
            </a:r>
          </a:p>
          <a:p xmlns:a="http://schemas.openxmlformats.org/drawingml/2006/main">
            <a:r>
              <a:t>https://github.com/kara320090/smartphone-har/blob/704885df8776dcf594e65d19f0695991202b4eab/requirements.lock.txt</a:t>
            </a:r>
          </a:p>
          <a:p xmlns:a="http://schemas.openxmlformats.org/drawingml/2006/main">
            <a:r>
              <a:t>https://github.com/kara320090/smartphone-har/blob/704885df8776dcf594e65d19f0695991202b4eab/docs/RUN_GUIDE_KO.md</a:t>
            </a:r>
          </a:p>
          <a:p xmlns:a="http://schemas.openxmlformats.org/drawingml/2006/main">
            <a:r>
              <a:t>https://github.com/kara320090/smartphone-har/releases/tag/bongheon-part2-v1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질문에는 관찰한 결과와 가능한 해석을 구분해 답합니다. 1. 검증 F1이 높다는 사실과 시험 성능은 다릅니다. 2. PCA는 분류 목적을 직접 최적화하지 않습니다. 3. Dropout 결과는 비율·모델·예산에 따라 달라질 수 있습니다. 4. 팀장으로서 구현된 인터페이스와 인계 자료는 준비했으나 실제 팀 모듈 통합과 발표 연습은 진행해야 합니다. 참고문헌은 보고서 마지막 쪽과 각 슬라이드 발표자 노트에 있습니다.</a:t>
            </a:r>
          </a:p>
          <a:p xmlns:a="http://schemas.openxmlformats.org/drawingml/2006/main">
            <a:r>
              <a:t/>
            </a:r>
          </a:p>
          <a:p xmlns:a="http://schemas.openxmlformats.org/drawingml/2006/main">
            <a:r>
              <a:t>출처 및 근거</a:t>
            </a:r>
          </a:p>
          <a:p xmlns:a="http://schemas.openxmlformats.org/drawingml/2006/main">
            <a:r>
              <a:t>https://archive.ics.uci.edu/dataset/240/human+activity+recognition+using+smartphones</a:t>
            </a:r>
          </a:p>
          <a:p xmlns:a="http://schemas.openxmlformats.org/drawingml/2006/main">
            <a:r>
              <a:t>https://github.com/kara320090/smartphone-har/blob/704885df8776dcf594e65d19f0695991202b4eab/docs/BONGHEON_WORK_SUMMARY.md</a:t>
            </a:r>
          </a:p>
          <a:p xmlns:a="http://schemas.openxmlformats.org/drawingml/2006/main">
            <a:r>
              <a:t>https://github.com/kara320090/smartphone-har/blob/704885df8776dcf594e65d19f0695991202b4eab/docs/EXPERIMENT_NOTES_KO.md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7ceb8962ef49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a0d91a6f53480d" /><Relationship Type="http://schemas.openxmlformats.org/officeDocument/2006/relationships/slideLayout" Target="/ppt/slideLayouts/slideLayout1.xml" Id="R47259e36878e44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259e36878e44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9738e815ed49cb" /><Relationship Type="http://schemas.openxmlformats.org/officeDocument/2006/relationships/notesSlide" Target="/ppt/notesSlides/notesSlide1.xml" Id="Rd736437836da43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e9b6b70e314ca9" /><Relationship Type="http://schemas.openxmlformats.org/officeDocument/2006/relationships/notesSlide" Target="/ppt/notesSlides/notesSlide2.xml" Id="R73988be050bf4f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6af29ccbca4aff" /><Relationship Type="http://schemas.openxmlformats.org/officeDocument/2006/relationships/notesSlide" Target="/ppt/notesSlides/notesSlide3.xml" Id="R96197b881f0846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3091db1ae24bca" /><Relationship Type="http://schemas.openxmlformats.org/officeDocument/2006/relationships/notesSlide" Target="/ppt/notesSlides/notesSlide4.xml" Id="R5c18bc58dedb41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13e29807a14a6f" /><Relationship Type="http://schemas.openxmlformats.org/officeDocument/2006/relationships/notesSlide" Target="/ppt/notesSlides/notesSlide5.xml" Id="R00407c3d6e4a41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b7eeda233449ca" /><Relationship Type="http://schemas.openxmlformats.org/officeDocument/2006/relationships/notesSlide" Target="/ppt/notesSlides/notesSlide6.xml" Id="R14289ba0982d46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b7abe838684271" /><Relationship Type="http://schemas.openxmlformats.org/officeDocument/2006/relationships/chart" Target="/ppt/slides/charts/chart1.xml" Id="R2c292faee97f442a" /><Relationship Type="http://schemas.openxmlformats.org/officeDocument/2006/relationships/notesSlide" Target="/ppt/notesSlides/notesSlide7.xml" Id="R3c632555f7cb46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455450db484320" /><Relationship Type="http://schemas.openxmlformats.org/officeDocument/2006/relationships/chart" Target="/ppt/slides/charts/chart2.xml" Id="R23bda592b79f4efd" /><Relationship Type="http://schemas.openxmlformats.org/officeDocument/2006/relationships/notesSlide" Target="/ppt/notesSlides/notesSlide8.xml" Id="R3e7d58df4ea748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c698c91a444195" /><Relationship Type="http://schemas.openxmlformats.org/officeDocument/2006/relationships/notesSlide" Target="/ppt/notesSlides/notesSlide9.xml" Id="Rbd9a4818db724c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58aa0b38e24f45" /><Relationship Type="http://schemas.openxmlformats.org/officeDocument/2006/relationships/notesSlide" Target="/ppt/notesSlides/notesSlide10.xml" Id="R3f10e8a1319040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f6b5cba13f4d2b" /><Relationship Type="http://schemas.openxmlformats.org/officeDocument/2006/relationships/chart" Target="/ppt/slides/charts/chart3.xml" Id="Rbb8677c776224e59" /><Relationship Type="http://schemas.openxmlformats.org/officeDocument/2006/relationships/notesSlide" Target="/ppt/notesSlides/notesSlide11.xml" Id="R2a29bb6bba8d48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f7d28513cd41b3" /><Relationship Type="http://schemas.openxmlformats.org/officeDocument/2006/relationships/notesSlide" Target="/ppt/notesSlides/notesSlide12.xml" Id="Raae16ffda21541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cdf7c0ded84f1e" /><Relationship Type="http://schemas.openxmlformats.org/officeDocument/2006/relationships/notesSlide" Target="/ppt/notesSlides/notesSlide13.xml" Id="R0dee609fff7640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78dd708a064de3" /><Relationship Type="http://schemas.openxmlformats.org/officeDocument/2006/relationships/notesSlide" Target="/ppt/notesSlides/notesSlide14.xml" Id="R89fbd3aaf59c4a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849d53d5d94226" /><Relationship Type="http://schemas.openxmlformats.org/officeDocument/2006/relationships/notesSlide" Target="/ppt/notesSlides/notesSlide15.xml" Id="Rb191da7192a447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5f70cc61a74edb" /><Relationship Type="http://schemas.openxmlformats.org/officeDocument/2006/relationships/notesSlide" Target="/ppt/notesSlides/notesSlide16.xml" Id="R309ecd85282d46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47f556ba2b144f2" /><Relationship Type="http://schemas.openxmlformats.org/officeDocument/2006/relationships/notesSlide" Target="/ppt/notesSlides/notesSlide17.xml" Id="Rcbf8bfdeaf7f45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검증 Macro F1</c:v>
          </c:tx>
          <c:spPr>
            <a:solidFill xmlns:a="http://schemas.openxmlformats.org/drawingml/2006/main">
              <a:srgbClr val="7C99AC"/>
            </a:solidFill>
          </c:spPr>
          <c:dPt>
            <c:idx val="0"/>
            <c:invertIfNegative val="0"/>
            <c:spPr>
              <a:solidFill xmlns:a="http://schemas.openxmlformats.org/drawingml/2006/main">
                <a:srgbClr val="176C77"/>
              </a:solidFill>
            </c:spPr>
          </c:dPt>
          <c:cat>
            <c:strRef>
              <c:f>'Chart Data'!$A$2:$A$8</c:f>
              <c:strCache>
                <c:ptCount val="7"/>
                <c:pt idx="0">
                  <c:v>E02</c:v>
                </c:pt>
                <c:pt idx="1">
                  <c:v>E03</c:v>
                </c:pt>
                <c:pt idx="2">
                  <c:v>E07</c:v>
                </c:pt>
                <c:pt idx="3">
                  <c:v>E08</c:v>
                </c:pt>
                <c:pt idx="4">
                  <c:v>E09</c:v>
                </c:pt>
                <c:pt idx="5">
                  <c:v>E10</c:v>
                </c:pt>
                <c:pt idx="6">
                  <c:v>E11</c:v>
                </c:pt>
              </c:strCache>
            </c:strRef>
          </c:cat>
          <c:val>
            <c:numRef>
              <c:f>'Chart Data'!$B$2:$B$8</c:f>
              <c:numCache>
                <c:formatCode>0.0000</c:formatCode>
                <c:ptCount val="7"/>
                <c:pt idx="0">
                  <c:v>0.913832</c:v>
                </c:pt>
                <c:pt idx="1">
                  <c:v>0.876531</c:v>
                </c:pt>
                <c:pt idx="2">
                  <c:v>0.886399</c:v>
                </c:pt>
                <c:pt idx="3">
                  <c:v>0.893953</c:v>
                </c:pt>
                <c:pt idx="4">
                  <c:v>0.874863</c:v>
                </c:pt>
                <c:pt idx="5">
                  <c:v>0.889871</c:v>
                </c:pt>
                <c:pt idx="6">
                  <c:v>0.879529</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364A"/>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1.05"/>
          <c:min val="0"/>
        </c:scaling>
        <c:delete val="0"/>
        <c:axPos val="l"/>
        <c:majorGridlines>
          <c:spPr>
            <a:ln xmlns:a="http://schemas.openxmlformats.org/drawingml/2006/main" w="9525">
              <a:solidFill>
                <a:srgbClr val="D9E2E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2"/>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학습 손실</c:v>
          </c:tx>
          <c:spPr>
            <a:ln xmlns:a="http://schemas.openxmlformats.org/drawingml/2006/main" w="28575">
              <a:solidFill>
                <a:srgbClr val="176C77"/>
              </a:solidFill>
            </a:ln>
          </c:spPr>
          <c:marker>
            <c:symbol val="circle"/>
            <c:size val="6"/>
            <c:spPr>
              <a:solidFill xmlns:a="http://schemas.openxmlformats.org/drawingml/2006/main">
                <a:srgbClr val="176C77"/>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c:formatCode>
                <c:ptCount val="8"/>
                <c:pt idx="0">
                  <c:v>0.373358</c:v>
                </c:pt>
                <c:pt idx="1">
                  <c:v>0.095802</c:v>
                </c:pt>
                <c:pt idx="2">
                  <c:v>0.064214</c:v>
                </c:pt>
                <c:pt idx="3">
                  <c:v>0.054534</c:v>
                </c:pt>
                <c:pt idx="4">
                  <c:v>0.043413</c:v>
                </c:pt>
                <c:pt idx="5">
                  <c:v>0.033611</c:v>
                </c:pt>
                <c:pt idx="6">
                  <c:v>0.037662</c:v>
                </c:pt>
                <c:pt idx="7">
                  <c:v>0.030051</c:v>
                </c:pt>
              </c:numCache>
            </c:numRef>
          </c:val>
          <c:smooth val="0"/>
        </c:ser>
        <c:ser>
          <c:idx val="1"/>
          <c:order val="1"/>
          <c:tx>
            <c:v>검증 손실</c:v>
          </c:tx>
          <c:spPr>
            <a:ln xmlns:a="http://schemas.openxmlformats.org/drawingml/2006/main" w="28575">
              <a:solidFill>
                <a:srgbClr val="B86236"/>
              </a:solidFill>
            </a:ln>
          </c:spPr>
          <c:marker>
            <c:symbol val="circle"/>
            <c:size val="6"/>
            <c:spPr>
              <a:solidFill xmlns:a="http://schemas.openxmlformats.org/drawingml/2006/main">
                <a:srgbClr val="B86236"/>
              </a:solidFill>
            </c:spPr>
          </c:marke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0.0</c:formatCode>
                <c:ptCount val="8"/>
                <c:pt idx="0">
                  <c:v>0.310123</c:v>
                </c:pt>
                <c:pt idx="1">
                  <c:v>0.284719</c:v>
                </c:pt>
                <c:pt idx="2">
                  <c:v>0.370819</c:v>
                </c:pt>
                <c:pt idx="3">
                  <c:v>0.368501</c:v>
                </c:pt>
                <c:pt idx="4">
                  <c:v>0.450729</c:v>
                </c:pt>
                <c:pt idx="5">
                  <c:v>0.397224</c:v>
                </c:pt>
                <c:pt idx="6">
                  <c:v>0.483488</c:v>
                </c:pt>
                <c:pt idx="7">
                  <c:v>0.427848</c:v>
                </c:pt>
              </c:numCache>
            </c:numRef>
          </c: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Epoch</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0.55"/>
          <c:min val="0"/>
        </c:scaling>
        <c:delete val="0"/>
        <c:axPos val="l"/>
        <c:majorGridlines>
          <c:spPr>
            <a:ln xmlns:a="http://schemas.openxmlformats.org/drawingml/2006/main" w="9525">
              <a:solidFill>
                <a:srgbClr val="D9E2E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양방향 오류 수</c:v>
          </c:tx>
          <c:spPr>
            <a:solidFill xmlns:a="http://schemas.openxmlformats.org/drawingml/2006/main">
              <a:srgbClr val="176C77"/>
            </a:solidFill>
          </c:spPr>
          <c:cat>
            <c:strRef>
              <c:f>'Chart Data'!$A$2:$A$4</c:f>
              <c:strCache>
                <c:ptCount val="3"/>
                <c:pt idx="0">
                  <c:v>앉기 ↔ 서기</c:v>
                </c:pt>
                <c:pt idx="1">
                  <c:v>걷기 ↔ 오르기</c:v>
                </c:pt>
                <c:pt idx="2">
                  <c:v>오르기 ↔ 내리기</c:v>
                </c:pt>
              </c:strCache>
            </c:strRef>
          </c:cat>
          <c:val>
            <c:numRef>
              <c:f>'Chart Data'!$B$2:$B$4</c:f>
              <c:numCache>
                <c:formatCode>0</c:formatCode>
                <c:ptCount val="3"/>
                <c:pt idx="0">
                  <c:v>61</c:v>
                </c:pt>
                <c:pt idx="1">
                  <c:v>47</c:v>
                </c:pt>
                <c:pt idx="2">
                  <c:v>33</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364A"/>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72768"/>
      </c:catAx>
      <c:valAx>
        <c:axId val="48672768"/>
        <c:scaling>
          <c:orientation val="minMax"/>
          <c:max val="70"/>
          <c:min val="0"/>
        </c:scaling>
        <c:delete val="0"/>
        <c:axPos val="l"/>
        <c:majorGridlines>
          <c:spPr>
            <a:ln xmlns:a="http://schemas.openxmlformats.org/drawingml/2006/main" w="9525">
              <a:solidFill>
                <a:srgbClr val="D9E2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96B77"/>
                </a:solidFill>
                <a:latin typeface="Malgun Gothic"/>
                <a:ea typeface="Malgun Gothic"/>
                <a:cs typeface="Malgun Gothic"/>
              </a:defRPr>
            </a:pPr>
          </a:p>
        </c:txPr>
        <c:crossAx val="48650112"/>
        <c:crossBetween val="between"/>
        <c:majorUnit val="10"/>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8A6F87-F7A7-4E37-A596-0C55CB4C52F5}"/>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개인 담당 보고 · 이봉헌</a:t>
            </a:r>
          </a:p>
        </p:txBody>
      </p:sp>
      <p:sp>
        <p:nvSpPr>
          <p:cNvPr id="2" name="">
            <a:extLst xmlns:a="http://schemas.openxmlformats.org/drawingml/2006/main">
              <a:ext uri="{FF2B5EF4-FFF2-40B4-BE49-F238E27FC236}">
                <a16:creationId xmlns:a16="http://schemas.microsoft.com/office/drawing/2014/main" id="{227C2AA1-7829-486C-B69F-2916441FB06E}"/>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스마트폰 행동 인식</a:t>
            </a:r>
          </a:p>
        </p:txBody>
      </p:sp>
      <p:sp>
        <p:nvSpPr>
          <p:cNvPr id="3" name="">
            <a:extLst xmlns:a="http://schemas.openxmlformats.org/drawingml/2006/main">
              <a:ext uri="{FF2B5EF4-FFF2-40B4-BE49-F238E27FC236}">
                <a16:creationId xmlns:a16="http://schemas.microsoft.com/office/drawing/2014/main" id="{0C201635-90BF-40C0-B7E9-A2886270E0D3}"/>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4" name="">
            <a:extLst xmlns:a="http://schemas.openxmlformats.org/drawingml/2006/main">
              <a:ext uri="{FF2B5EF4-FFF2-40B4-BE49-F238E27FC236}">
                <a16:creationId xmlns:a16="http://schemas.microsoft.com/office/drawing/2014/main" id="{F26A26FC-D049-4814-B1EA-FB0866F9EE26}"/>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7AB0CE62-F6B1-4CD4-AA0E-ED674850F005}"/>
              </a:ext>
            </a:extLst>
          </p:cNvPr>
          <p:cNvSpPr>
            <a:spLocks xmlns:a="http://schemas.openxmlformats.org/drawingml/2006/main" noGrp="1"/>
          </p:cNvSpPr>
          <p:nvPr/>
        </p:nvSpPr>
        <p:spPr>
          <a:xfrm xmlns:a="http://schemas.openxmlformats.org/drawingml/2006/main">
            <a:off x="609600" y="1943100"/>
            <a:ext cx="10477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7364A"/>
                </a:solidFill>
                <a:latin typeface="Malgun Gothic"/>
                <a:ea typeface="Malgun Gothic"/>
                <a:cs typeface="Malgun Gothic"/>
              </a:defRPr>
            </a:pPr>
            <a:r>
              <a:rPr sz="4425" b="1">
                <a:solidFill>
                  <a:srgbClr val="17364A"/>
                </a:solidFill>
                <a:latin typeface="Malgun Gothic"/>
                <a:ea typeface="Malgun Gothic"/>
                <a:cs typeface="Malgun Gothic"/>
              </a:rPr>
              <a:t>MLP 기준모델 구현과</a:t>
            </a:r>
          </a:p>
          <a:p xmlns:a="http://schemas.openxmlformats.org/drawingml/2006/main">
            <a:pPr>
              <a:defRPr sz="4425" b="1">
                <a:solidFill>
                  <a:srgbClr val="17364A"/>
                </a:solidFill>
                <a:latin typeface="Malgun Gothic"/>
                <a:ea typeface="Malgun Gothic"/>
                <a:cs typeface="Malgun Gothic"/>
              </a:defRPr>
            </a:pPr>
            <a:r>
              <a:rPr sz="4425" b="1">
                <a:solidFill>
                  <a:srgbClr val="17364A"/>
                </a:solidFill>
                <a:latin typeface="Malgun Gothic"/>
                <a:ea typeface="Malgun Gothic"/>
                <a:cs typeface="Malgun Gothic"/>
              </a:rPr>
              <a:t>학습 조건 비교</a:t>
            </a:r>
          </a:p>
        </p:txBody>
      </p:sp>
      <p:sp>
        <p:nvSpPr>
          <p:cNvPr id="6" name="">
            <a:extLst xmlns:a="http://schemas.openxmlformats.org/drawingml/2006/main">
              <a:ext uri="{FF2B5EF4-FFF2-40B4-BE49-F238E27FC236}">
                <a16:creationId xmlns:a16="http://schemas.microsoft.com/office/drawing/2014/main" id="{C37FAB1A-A397-4B7E-BE8A-1FB377982BC9}"/>
              </a:ext>
            </a:extLst>
          </p:cNvPr>
          <p:cNvSpPr>
            <a:spLocks xmlns:a="http://schemas.openxmlformats.org/drawingml/2006/main" noGrp="1"/>
          </p:cNvSpPr>
          <p:nvPr/>
        </p:nvSpPr>
        <p:spPr>
          <a:xfrm xmlns:a="http://schemas.openxmlformats.org/drawingml/2006/main">
            <a:off x="647700" y="39719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6C77"/>
                </a:solidFill>
                <a:latin typeface="Malgun Gothic"/>
                <a:ea typeface="Malgun Gothic"/>
                <a:cs typeface="Malgun Gothic"/>
              </a:defRPr>
            </a:pPr>
            <a:r>
              <a:rPr sz="2250" b="0">
                <a:solidFill>
                  <a:srgbClr val="176C77"/>
                </a:solidFill>
                <a:latin typeface="Malgun Gothic"/>
                <a:ea typeface="Malgun Gothic"/>
                <a:cs typeface="Malgun Gothic"/>
              </a:rPr>
              <a:t>역전파 검증 · 공통 학습 코드 · 7개 조건 실험</a:t>
            </a:r>
          </a:p>
        </p:txBody>
      </p:sp>
      <p:sp>
        <p:nvSpPr>
          <p:cNvPr id="7" name="">
            <a:extLst xmlns:a="http://schemas.openxmlformats.org/drawingml/2006/main">
              <a:ext uri="{FF2B5EF4-FFF2-40B4-BE49-F238E27FC236}">
                <a16:creationId xmlns:a16="http://schemas.microsoft.com/office/drawing/2014/main" id="{F11A0783-8994-45D8-9EC6-86633AB522DD}"/>
              </a:ext>
            </a:extLst>
          </p:cNvPr>
          <p:cNvSpPr>
            <a:spLocks xmlns:a="http://schemas.openxmlformats.org/drawingml/2006/main" noGrp="1"/>
          </p:cNvSpPr>
          <p:nvPr/>
        </p:nvSpPr>
        <p:spPr>
          <a:xfrm xmlns:a="http://schemas.openxmlformats.org/drawingml/2006/main">
            <a:off x="647700" y="50958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Malgun Gothic"/>
                <a:ea typeface="Malgun Gothic"/>
                <a:cs typeface="Malgun Gothic"/>
              </a:defRPr>
            </a:pPr>
            <a:r>
              <a:rPr sz="1725" b="0">
                <a:solidFill>
                  <a:srgbClr val="596B77"/>
                </a:solidFill>
                <a:latin typeface="Malgun Gothic"/>
                <a:ea typeface="Malgun Gothic"/>
                <a:cs typeface="Malgun Gothic"/>
              </a:rPr>
              <a:t>UCI HAR / TensorFlow·Keras</a:t>
            </a:r>
          </a:p>
          <a:p xmlns:a="http://schemas.openxmlformats.org/drawingml/2006/main">
            <a:pPr>
              <a:defRPr sz="1725" b="0">
                <a:solidFill>
                  <a:srgbClr val="596B77"/>
                </a:solidFill>
                <a:latin typeface="Malgun Gothic"/>
                <a:ea typeface="Malgun Gothic"/>
                <a:cs typeface="Malgun Gothic"/>
              </a:defRPr>
            </a:pPr>
            <a:r>
              <a:rPr sz="1725" b="0">
                <a:solidFill>
                  <a:srgbClr val="596B77"/>
                </a:solidFill>
                <a:latin typeface="Malgun Gothic"/>
                <a:ea typeface="Malgun Gothic"/>
                <a:cs typeface="Malgun Gothic"/>
              </a:rPr>
              <a:t>실험 2026.09.28 · 발표자료 2026.09.29</a:t>
            </a:r>
          </a:p>
        </p:txBody>
      </p:sp>
    </p:spTree>
    <p:extLst>
      <p:ext uri="{BB962C8B-B14F-4D97-AF65-F5344CB8AC3E}">
        <p14:creationId xmlns:p14="http://schemas.microsoft.com/office/powerpoint/2010/main" val="16085869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36494D4-9E24-41EC-9438-BFE458B9DC64}"/>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E827B95-CCFF-4C11-B019-42B1DD38F8F3}"/>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기준모델과 공통 학습 경로를 구현했다</a:t>
            </a:r>
          </a:p>
        </p:txBody>
      </p:sp>
      <p:sp>
        <p:nvSpPr>
          <p:cNvPr id="3" name="">
            <a:extLst xmlns:a="http://schemas.openxmlformats.org/drawingml/2006/main">
              <a:ext uri="{FF2B5EF4-FFF2-40B4-BE49-F238E27FC236}">
                <a16:creationId xmlns:a16="http://schemas.microsoft.com/office/drawing/2014/main" id="{207471EE-B9E7-43F4-8D92-26A82FDD2A00}"/>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완료한 담당 업무와 팀 연결 업무를 구분</a:t>
            </a:r>
          </a:p>
        </p:txBody>
      </p:sp>
      <p:sp>
        <p:nvSpPr>
          <p:cNvPr id="4" name="">
            <a:extLst xmlns:a="http://schemas.openxmlformats.org/drawingml/2006/main">
              <a:ext uri="{FF2B5EF4-FFF2-40B4-BE49-F238E27FC236}">
                <a16:creationId xmlns:a16="http://schemas.microsoft.com/office/drawing/2014/main" id="{DF0DB782-DDDE-4B47-A42E-6593FF0875C7}"/>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25B4432D-9B16-48F5-9274-4738CA4B45E3}"/>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9A5C4EAC-A1C5-4C8B-AD5A-B588D139A67F}"/>
              </a:ext>
            </a:extLst>
          </p:cNvPr>
          <p:cNvSpPr>
            <a:spLocks xmlns:a="http://schemas.openxmlformats.org/drawingml/2006/main" noGrp="1"/>
          </p:cNvSpPr>
          <p:nvPr/>
        </p:nvSpPr>
        <p:spPr>
          <a:xfrm xmlns:a="http://schemas.openxmlformats.org/drawingml/2006/main">
            <a:off x="638175" y="2238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모델 구현</a:t>
            </a:r>
          </a:p>
        </p:txBody>
      </p:sp>
      <p:sp>
        <p:nvSpPr>
          <p:cNvPr id="7" name="">
            <a:extLst xmlns:a="http://schemas.openxmlformats.org/drawingml/2006/main">
              <a:ext uri="{FF2B5EF4-FFF2-40B4-BE49-F238E27FC236}">
                <a16:creationId xmlns:a16="http://schemas.microsoft.com/office/drawing/2014/main" id="{36115F6F-23F4-4B60-B8BF-67CF33558FAE}"/>
              </a:ext>
            </a:extLst>
          </p:cNvPr>
          <p:cNvSpPr>
            <a:spLocks xmlns:a="http://schemas.openxmlformats.org/drawingml/2006/main" noGrp="1"/>
          </p:cNvSpPr>
          <p:nvPr/>
        </p:nvSpPr>
        <p:spPr>
          <a:xfrm xmlns:a="http://schemas.openxmlformats.org/drawingml/2006/main">
            <a:off x="3429000" y="22383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특징 MLP와 시계열 Flatten MLP</a:t>
            </a:r>
          </a:p>
        </p:txBody>
      </p:sp>
      <p:sp>
        <p:nvSpPr>
          <p:cNvPr id="8" name="">
            <a:extLst xmlns:a="http://schemas.openxmlformats.org/drawingml/2006/main">
              <a:ext uri="{FF2B5EF4-FFF2-40B4-BE49-F238E27FC236}">
                <a16:creationId xmlns:a16="http://schemas.microsoft.com/office/drawing/2014/main" id="{A80A21A5-1B58-4098-A80E-3083D0416EC1}"/>
              </a:ext>
            </a:extLst>
          </p:cNvPr>
          <p:cNvSpPr>
            <a:spLocks xmlns:a="http://schemas.openxmlformats.org/drawingml/2006/main" noGrp="1"/>
          </p:cNvSpPr>
          <p:nvPr/>
        </p:nvSpPr>
        <p:spPr>
          <a:xfrm xmlns:a="http://schemas.openxmlformats.org/drawingml/2006/main">
            <a:off x="638175" y="31051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학습·검증</a:t>
            </a:r>
          </a:p>
        </p:txBody>
      </p:sp>
      <p:sp>
        <p:nvSpPr>
          <p:cNvPr id="9" name="">
            <a:extLst xmlns:a="http://schemas.openxmlformats.org/drawingml/2006/main">
              <a:ext uri="{FF2B5EF4-FFF2-40B4-BE49-F238E27FC236}">
                <a16:creationId xmlns:a16="http://schemas.microsoft.com/office/drawing/2014/main" id="{E0E027FE-EF68-42AD-8266-A359D5E16D05}"/>
              </a:ext>
            </a:extLst>
          </p:cNvPr>
          <p:cNvSpPr>
            <a:spLocks xmlns:a="http://schemas.openxmlformats.org/drawingml/2006/main" noGrp="1"/>
          </p:cNvSpPr>
          <p:nvPr/>
        </p:nvSpPr>
        <p:spPr>
          <a:xfrm xmlns:a="http://schemas.openxmlformats.org/drawingml/2006/main">
            <a:off x="3429000" y="310515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공통 trainer, 역전파 확인, 조기 종료</a:t>
            </a:r>
          </a:p>
        </p:txBody>
      </p:sp>
      <p:sp>
        <p:nvSpPr>
          <p:cNvPr id="10" name="">
            <a:extLst xmlns:a="http://schemas.openxmlformats.org/drawingml/2006/main">
              <a:ext uri="{FF2B5EF4-FFF2-40B4-BE49-F238E27FC236}">
                <a16:creationId xmlns:a16="http://schemas.microsoft.com/office/drawing/2014/main" id="{E51482B7-F90A-4A62-9C04-1C64A7E14127}"/>
              </a:ext>
            </a:extLst>
          </p:cNvPr>
          <p:cNvSpPr>
            <a:spLocks xmlns:a="http://schemas.openxmlformats.org/drawingml/2006/main" noGrp="1"/>
          </p:cNvSpPr>
          <p:nvPr/>
        </p:nvSpPr>
        <p:spPr>
          <a:xfrm xmlns:a="http://schemas.openxmlformats.org/drawingml/2006/main">
            <a:off x="638175" y="39719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조건 비교</a:t>
            </a:r>
          </a:p>
        </p:txBody>
      </p:sp>
      <p:sp>
        <p:nvSpPr>
          <p:cNvPr id="11" name="">
            <a:extLst xmlns:a="http://schemas.openxmlformats.org/drawingml/2006/main">
              <a:ext uri="{FF2B5EF4-FFF2-40B4-BE49-F238E27FC236}">
                <a16:creationId xmlns:a16="http://schemas.microsoft.com/office/drawing/2014/main" id="{706A3D78-4BB4-4B65-8FDD-44DE7B5A02B3}"/>
              </a:ext>
            </a:extLst>
          </p:cNvPr>
          <p:cNvSpPr>
            <a:spLocks xmlns:a="http://schemas.openxmlformats.org/drawingml/2006/main" noGrp="1"/>
          </p:cNvSpPr>
          <p:nvPr/>
        </p:nvSpPr>
        <p:spPr>
          <a:xfrm xmlns:a="http://schemas.openxmlformats.org/drawingml/2006/main">
            <a:off x="3429000" y="39719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표준화·Dropout·학습률·PCA 등 7조건</a:t>
            </a:r>
          </a:p>
        </p:txBody>
      </p:sp>
      <p:sp>
        <p:nvSpPr>
          <p:cNvPr id="12" name="">
            <a:extLst xmlns:a="http://schemas.openxmlformats.org/drawingml/2006/main">
              <a:ext uri="{FF2B5EF4-FFF2-40B4-BE49-F238E27FC236}">
                <a16:creationId xmlns:a16="http://schemas.microsoft.com/office/drawing/2014/main" id="{5DF9E2E9-545C-4E0F-B6C1-C5E6E6880B0E}"/>
              </a:ext>
            </a:extLst>
          </p:cNvPr>
          <p:cNvSpPr>
            <a:spLocks xmlns:a="http://schemas.openxmlformats.org/drawingml/2006/main" noGrp="1"/>
          </p:cNvSpPr>
          <p:nvPr/>
        </p:nvSpPr>
        <p:spPr>
          <a:xfrm xmlns:a="http://schemas.openxmlformats.org/drawingml/2006/main">
            <a:off x="638175" y="4838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팀 인계</a:t>
            </a:r>
          </a:p>
        </p:txBody>
      </p:sp>
      <p:sp>
        <p:nvSpPr>
          <p:cNvPr id="13" name="">
            <a:extLst xmlns:a="http://schemas.openxmlformats.org/drawingml/2006/main">
              <a:ext uri="{FF2B5EF4-FFF2-40B4-BE49-F238E27FC236}">
                <a16:creationId xmlns:a16="http://schemas.microsoft.com/office/drawing/2014/main" id="{A6A3838E-6104-43E9-A98C-214F1D85B8B4}"/>
              </a:ext>
            </a:extLst>
          </p:cNvPr>
          <p:cNvSpPr>
            <a:spLocks xmlns:a="http://schemas.openxmlformats.org/drawingml/2006/main" noGrp="1"/>
          </p:cNvSpPr>
          <p:nvPr/>
        </p:nvSpPr>
        <p:spPr>
          <a:xfrm xmlns:a="http://schemas.openxmlformats.org/drawingml/2006/main">
            <a:off x="3429000" y="48387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모델·전처리·설정·분할·표본별 예측 전달</a:t>
            </a:r>
          </a:p>
        </p:txBody>
      </p:sp>
    </p:spTree>
    <p:extLst>
      <p:ext uri="{BB962C8B-B14F-4D97-AF65-F5344CB8AC3E}">
        <p14:creationId xmlns:p14="http://schemas.microsoft.com/office/powerpoint/2010/main" val="1728639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91BAC3-BD04-4DDA-B604-5BF5DADEC4B8}"/>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데이터 · 분할</a:t>
            </a:r>
          </a:p>
        </p:txBody>
      </p:sp>
      <p:sp>
        <p:nvSpPr>
          <p:cNvPr id="2" name="">
            <a:extLst xmlns:a="http://schemas.openxmlformats.org/drawingml/2006/main">
              <a:ext uri="{FF2B5EF4-FFF2-40B4-BE49-F238E27FC236}">
                <a16:creationId xmlns:a16="http://schemas.microsoft.com/office/drawing/2014/main" id="{14658285-9B0A-4BCB-9DDD-E63DB490C213}"/>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같은 사람이 학습과 검증에 섞이지 않게 했다</a:t>
            </a:r>
          </a:p>
        </p:txBody>
      </p:sp>
      <p:sp>
        <p:nvSpPr>
          <p:cNvPr id="3" name="">
            <a:extLst xmlns:a="http://schemas.openxmlformats.org/drawingml/2006/main">
              <a:ext uri="{FF2B5EF4-FFF2-40B4-BE49-F238E27FC236}">
                <a16:creationId xmlns:a16="http://schemas.microsoft.com/office/drawing/2014/main" id="{959B26D5-129C-4744-AF6E-FF4B59C44F97}"/>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UCI HAR · 30명 · 6가지 행동 · 50 Hz · 128시점</a:t>
            </a:r>
          </a:p>
        </p:txBody>
      </p:sp>
      <p:sp>
        <p:nvSpPr>
          <p:cNvPr id="4" name="">
            <a:extLst xmlns:a="http://schemas.openxmlformats.org/drawingml/2006/main">
              <a:ext uri="{FF2B5EF4-FFF2-40B4-BE49-F238E27FC236}">
                <a16:creationId xmlns:a16="http://schemas.microsoft.com/office/drawing/2014/main" id="{CC0F8A97-612D-4ECC-B11F-0F83C92C022E}"/>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0265543E-3C2D-425A-AB54-FFE76D2EDFF2}"/>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C9DE6CFE-E3B0-46BD-A22D-80B38E9E4949}"/>
              </a:ext>
            </a:extLst>
          </p:cNvPr>
          <p:cNvSpPr>
            <a:spLocks xmlns:a="http://schemas.openxmlformats.org/drawingml/2006/main" noGrp="1"/>
          </p:cNvSpPr>
          <p:nvPr/>
        </p:nvSpPr>
        <p:spPr>
          <a:xfrm xmlns:a="http://schemas.openxmlformats.org/drawingml/2006/main">
            <a:off x="628650" y="23241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176C77"/>
                </a:solidFill>
                <a:latin typeface="Malgun Gothic"/>
                <a:ea typeface="Malgun Gothic"/>
                <a:cs typeface="Malgun Gothic"/>
              </a:defRPr>
            </a:pPr>
            <a:r>
              <a:rPr sz="5175" b="1">
                <a:solidFill>
                  <a:srgbClr val="176C77"/>
                </a:solidFill>
                <a:latin typeface="Malgun Gothic"/>
                <a:ea typeface="Malgun Gothic"/>
                <a:cs typeface="Malgun Gothic"/>
              </a:rPr>
              <a:t>5,577</a:t>
            </a:r>
          </a:p>
        </p:txBody>
      </p:sp>
      <p:sp>
        <p:nvSpPr>
          <p:cNvPr id="7" name="">
            <a:extLst xmlns:a="http://schemas.openxmlformats.org/drawingml/2006/main">
              <a:ext uri="{FF2B5EF4-FFF2-40B4-BE49-F238E27FC236}">
                <a16:creationId xmlns:a16="http://schemas.microsoft.com/office/drawing/2014/main" id="{0DD9A020-E186-4F9D-84C7-6E51129E87A8}"/>
              </a:ext>
            </a:extLst>
          </p:cNvPr>
          <p:cNvSpPr>
            <a:spLocks xmlns:a="http://schemas.openxmlformats.org/drawingml/2006/main" noGrp="1"/>
          </p:cNvSpPr>
          <p:nvPr/>
        </p:nvSpPr>
        <p:spPr>
          <a:xfrm xmlns:a="http://schemas.openxmlformats.org/drawingml/2006/main">
            <a:off x="685800" y="33147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학습 창 / 16명</a:t>
            </a:r>
          </a:p>
        </p:txBody>
      </p:sp>
      <p:sp>
        <p:nvSpPr>
          <p:cNvPr id="8" name="">
            <a:extLst xmlns:a="http://schemas.openxmlformats.org/drawingml/2006/main">
              <a:ext uri="{FF2B5EF4-FFF2-40B4-BE49-F238E27FC236}">
                <a16:creationId xmlns:a16="http://schemas.microsoft.com/office/drawing/2014/main" id="{F01B1777-4501-430B-A346-AC35795A2318}"/>
              </a:ext>
            </a:extLst>
          </p:cNvPr>
          <p:cNvSpPr>
            <a:spLocks xmlns:a="http://schemas.openxmlformats.org/drawingml/2006/main" noGrp="1"/>
          </p:cNvSpPr>
          <p:nvPr/>
        </p:nvSpPr>
        <p:spPr>
          <a:xfrm xmlns:a="http://schemas.openxmlformats.org/drawingml/2006/main">
            <a:off x="4610100" y="23241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176C77"/>
                </a:solidFill>
                <a:latin typeface="Malgun Gothic"/>
                <a:ea typeface="Malgun Gothic"/>
                <a:cs typeface="Malgun Gothic"/>
              </a:defRPr>
            </a:pPr>
            <a:r>
              <a:rPr sz="5175" b="1">
                <a:solidFill>
                  <a:srgbClr val="176C77"/>
                </a:solidFill>
                <a:latin typeface="Malgun Gothic"/>
                <a:ea typeface="Malgun Gothic"/>
                <a:cs typeface="Malgun Gothic"/>
              </a:rPr>
              <a:t>1,775</a:t>
            </a:r>
          </a:p>
        </p:txBody>
      </p:sp>
      <p:sp>
        <p:nvSpPr>
          <p:cNvPr id="9" name="">
            <a:extLst xmlns:a="http://schemas.openxmlformats.org/drawingml/2006/main">
              <a:ext uri="{FF2B5EF4-FFF2-40B4-BE49-F238E27FC236}">
                <a16:creationId xmlns:a16="http://schemas.microsoft.com/office/drawing/2014/main" id="{908C51C1-1D63-4C75-BE7F-2407551D5440}"/>
              </a:ext>
            </a:extLst>
          </p:cNvPr>
          <p:cNvSpPr>
            <a:spLocks xmlns:a="http://schemas.openxmlformats.org/drawingml/2006/main" noGrp="1"/>
          </p:cNvSpPr>
          <p:nvPr/>
        </p:nvSpPr>
        <p:spPr>
          <a:xfrm xmlns:a="http://schemas.openxmlformats.org/drawingml/2006/main">
            <a:off x="4667250" y="33147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검증 창 / 5명</a:t>
            </a:r>
          </a:p>
        </p:txBody>
      </p:sp>
      <p:sp>
        <p:nvSpPr>
          <p:cNvPr id="10" name="">
            <a:extLst xmlns:a="http://schemas.openxmlformats.org/drawingml/2006/main">
              <a:ext uri="{FF2B5EF4-FFF2-40B4-BE49-F238E27FC236}">
                <a16:creationId xmlns:a16="http://schemas.microsoft.com/office/drawing/2014/main" id="{A4B5FC80-5CCF-4E19-8982-58411C8EF6C2}"/>
              </a:ext>
            </a:extLst>
          </p:cNvPr>
          <p:cNvSpPr>
            <a:spLocks xmlns:a="http://schemas.openxmlformats.org/drawingml/2006/main" noGrp="1"/>
          </p:cNvSpPr>
          <p:nvPr/>
        </p:nvSpPr>
        <p:spPr>
          <a:xfrm xmlns:a="http://schemas.openxmlformats.org/drawingml/2006/main">
            <a:off x="8477250" y="23241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596B77"/>
                </a:solidFill>
                <a:latin typeface="Malgun Gothic"/>
                <a:ea typeface="Malgun Gothic"/>
                <a:cs typeface="Malgun Gothic"/>
              </a:defRPr>
            </a:pPr>
            <a:r>
              <a:rPr sz="5175" b="1">
                <a:solidFill>
                  <a:srgbClr val="596B77"/>
                </a:solidFill>
                <a:latin typeface="Malgun Gothic"/>
                <a:ea typeface="Malgun Gothic"/>
                <a:cs typeface="Malgun Gothic"/>
              </a:rPr>
              <a:t>2,947</a:t>
            </a:r>
          </a:p>
        </p:txBody>
      </p:sp>
      <p:sp>
        <p:nvSpPr>
          <p:cNvPr id="11" name="">
            <a:extLst xmlns:a="http://schemas.openxmlformats.org/drawingml/2006/main">
              <a:ext uri="{FF2B5EF4-FFF2-40B4-BE49-F238E27FC236}">
                <a16:creationId xmlns:a16="http://schemas.microsoft.com/office/drawing/2014/main" id="{BA4D4888-61CF-45A5-AD0E-130467889D6B}"/>
              </a:ext>
            </a:extLst>
          </p:cNvPr>
          <p:cNvSpPr>
            <a:spLocks xmlns:a="http://schemas.openxmlformats.org/drawingml/2006/main" noGrp="1"/>
          </p:cNvSpPr>
          <p:nvPr/>
        </p:nvSpPr>
        <p:spPr>
          <a:xfrm xmlns:a="http://schemas.openxmlformats.org/drawingml/2006/main">
            <a:off x="8543925" y="3314700"/>
            <a:ext cx="338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64A"/>
                </a:solidFill>
                <a:latin typeface="Malgun Gothic"/>
                <a:ea typeface="Malgun Gothic"/>
                <a:cs typeface="Malgun Gothic"/>
              </a:defRPr>
            </a:pPr>
            <a:r>
              <a:rPr sz="2175" b="0">
                <a:solidFill>
                  <a:srgbClr val="17364A"/>
                </a:solidFill>
                <a:latin typeface="Malgun Gothic"/>
                <a:ea typeface="Malgun Gothic"/>
                <a:cs typeface="Malgun Gothic"/>
              </a:rPr>
              <a:t>공식 test / 미사용</a:t>
            </a:r>
          </a:p>
        </p:txBody>
      </p:sp>
      <p:sp>
        <p:nvSpPr>
          <p:cNvPr id="12" name="">
            <a:extLst xmlns:a="http://schemas.openxmlformats.org/drawingml/2006/main">
              <a:ext uri="{FF2B5EF4-FFF2-40B4-BE49-F238E27FC236}">
                <a16:creationId xmlns:a16="http://schemas.microsoft.com/office/drawing/2014/main" id="{CF20BFED-3638-41F0-9C4C-73F78564D6DC}"/>
              </a:ext>
            </a:extLst>
          </p:cNvPr>
          <p:cNvSpPr>
            <a:spLocks xmlns:a="http://schemas.openxmlformats.org/drawingml/2006/main" noGrp="1"/>
          </p:cNvSpPr>
          <p:nvPr/>
        </p:nvSpPr>
        <p:spPr>
          <a:xfrm xmlns:a="http://schemas.openxmlformats.org/drawingml/2006/main">
            <a:off x="666750" y="4448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64A"/>
                </a:solidFill>
                <a:latin typeface="Malgun Gothic"/>
                <a:ea typeface="Malgun Gothic"/>
                <a:cs typeface="Malgun Gothic"/>
              </a:defRPr>
            </a:pPr>
            <a:r>
              <a:rPr sz="2325" b="1">
                <a:solidFill>
                  <a:srgbClr val="17364A"/>
                </a:solidFill>
                <a:latin typeface="Malgun Gothic"/>
                <a:ea typeface="Malgun Gothic"/>
                <a:cs typeface="Malgun Gothic"/>
              </a:rPr>
              <a:t>검증 사람 ID: 1 · 6 · 14 · 21 · 23</a:t>
            </a:r>
          </a:p>
        </p:txBody>
      </p:sp>
      <p:sp>
        <p:nvSpPr>
          <p:cNvPr id="13" name="">
            <a:extLst xmlns:a="http://schemas.openxmlformats.org/drawingml/2006/main">
              <a:ext uri="{FF2B5EF4-FFF2-40B4-BE49-F238E27FC236}">
                <a16:creationId xmlns:a16="http://schemas.microsoft.com/office/drawing/2014/main" id="{8E5972F7-A487-45C6-B13F-2AE85BD2283A}"/>
              </a:ext>
            </a:extLst>
          </p:cNvPr>
          <p:cNvSpPr>
            <a:spLocks xmlns:a="http://schemas.openxmlformats.org/drawingml/2006/main" noGrp="1"/>
          </p:cNvSpPr>
          <p:nvPr/>
        </p:nvSpPr>
        <p:spPr>
          <a:xfrm xmlns:a="http://schemas.openxmlformats.org/drawingml/2006/main">
            <a:off x="666750" y="51911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표준화와 PCA는 학습 자료로만 fit</a:t>
            </a:r>
          </a:p>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561개 특징과 128×9 시계열은 같은 sample_id 유지</a:t>
            </a:r>
          </a:p>
        </p:txBody>
      </p:sp>
    </p:spTree>
    <p:extLst>
      <p:ext uri="{BB962C8B-B14F-4D97-AF65-F5344CB8AC3E}">
        <p14:creationId xmlns:p14="http://schemas.microsoft.com/office/powerpoint/2010/main" val="853085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BA50BA-FE31-4A8F-A44A-24760D10D47E}"/>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모델 구조</a:t>
            </a:r>
          </a:p>
        </p:txBody>
      </p:sp>
      <p:sp>
        <p:nvSpPr>
          <p:cNvPr id="2" name="">
            <a:extLst xmlns:a="http://schemas.openxmlformats.org/drawingml/2006/main">
              <a:ext uri="{FF2B5EF4-FFF2-40B4-BE49-F238E27FC236}">
                <a16:creationId xmlns:a16="http://schemas.microsoft.com/office/drawing/2014/main" id="{A8264116-F73E-49C9-857D-DABEB3ECAF85}"/>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설명하기 쉬운 MLP를 기준선으로 만들었다</a:t>
            </a:r>
          </a:p>
        </p:txBody>
      </p:sp>
      <p:sp>
        <p:nvSpPr>
          <p:cNvPr id="3" name="">
            <a:extLst xmlns:a="http://schemas.openxmlformats.org/drawingml/2006/main">
              <a:ext uri="{FF2B5EF4-FFF2-40B4-BE49-F238E27FC236}">
                <a16:creationId xmlns:a16="http://schemas.microsoft.com/office/drawing/2014/main" id="{CF0FEA99-A291-45BD-8E58-3E7739745097}"/>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은닉층은 ReLU, 마지막 층은 6개 logits</a:t>
            </a:r>
          </a:p>
        </p:txBody>
      </p:sp>
      <p:sp>
        <p:nvSpPr>
          <p:cNvPr id="4" name="">
            <a:extLst xmlns:a="http://schemas.openxmlformats.org/drawingml/2006/main">
              <a:ext uri="{FF2B5EF4-FFF2-40B4-BE49-F238E27FC236}">
                <a16:creationId xmlns:a16="http://schemas.microsoft.com/office/drawing/2014/main" id="{715B8F96-8A9D-478A-9E11-1A5AB9F8F6B9}"/>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0B12127B-0A82-47D4-8F90-C096CDE9D0B5}"/>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EC37232C-4390-4E87-8EF1-2C2294FFF2C7}"/>
              </a:ext>
            </a:extLst>
          </p:cNvPr>
          <p:cNvSpPr>
            <a:spLocks xmlns:a="http://schemas.openxmlformats.org/drawingml/2006/main" noGrp="1"/>
          </p:cNvSpPr>
          <p:nvPr/>
        </p:nvSpPr>
        <p:spPr>
          <a:xfrm xmlns:a="http://schemas.openxmlformats.org/drawingml/2006/main">
            <a:off x="638175" y="2200275"/>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76C77"/>
                </a:solidFill>
                <a:latin typeface="Malgun Gothic"/>
                <a:ea typeface="Malgun Gothic"/>
                <a:cs typeface="Malgun Gothic"/>
              </a:defRPr>
            </a:pPr>
            <a:r>
              <a:rPr sz="4200" b="1">
                <a:solidFill>
                  <a:srgbClr val="176C77"/>
                </a:solidFill>
                <a:latin typeface="Malgun Gothic"/>
                <a:ea typeface="Malgun Gothic"/>
                <a:cs typeface="Malgun Gothic"/>
              </a:rPr>
              <a:t>561  →  128  →  64  →  6</a:t>
            </a:r>
          </a:p>
        </p:txBody>
      </p:sp>
      <p:graphicFrame>
        <p:nvGraphicFramePr>
          <p:cNvPr id="15" name=""/>
          <p:cNvGraphicFramePr/>
          <p:nvPr/>
        </p:nvGraphicFramePr>
        <p:xfrm>
          <a:off xmlns:a="http://schemas.openxmlformats.org/drawingml/2006/main" x="619125" y="3448050"/>
          <a:ext xmlns:a="http://schemas.openxmlformats.org/drawingml/2006/main" cx="10953750" cy="2124075"/>
        </p:xfrm>
        <a:graphic xmlns:a="http://schemas.openxmlformats.org/drawingml/2006/main">
          <a:graphicData uri="http://schemas.openxmlformats.org/drawingml/2006/table">
            <a:tbl>
              <a:tblPr/>
              <a:tblGrid>
                <a:gridCol w="3048000"/>
                <a:gridCol w="5191125"/>
                <a:gridCol w="2714625"/>
              </a:tblGrid>
              <a:tr h="531019">
                <a:tc>
                  <a:txBody>
                    <a:bodyPr/>
                    <a:lstStyle/>
                    <a:p>
                      <a:r>
                        <a:rPr sz="1875" b="1">
                          <a:solidFill>
                            <a:srgbClr val="FFFFFF"/>
                          </a:solidFill>
                          <a:latin typeface="Malgun Gothic"/>
                          <a:ea typeface="Malgun Gothic"/>
                          <a:cs typeface="Malgun Gothic"/>
                        </a:rPr>
                        <a:t>모델</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입력 처리</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파라미터</a:t>
                      </a:r>
                    </a:p>
                  </a:txBody>
                  <a:tcPr marL="91440" marR="91440" marT="45720" marB="45720">
                    <a:solidFill>
                      <a:srgbClr val="17364A"/>
                    </a:solidFill>
                  </a:tcPr>
                </a:tc>
              </a:tr>
              <a:tr h="531019">
                <a:tc>
                  <a:txBody>
                    <a:bodyPr/>
                    <a:lstStyle/>
                    <a:p>
                      <a:r>
                        <a:rPr sz="1875" b="0">
                          <a:solidFill>
                            <a:srgbClr val="17364A"/>
                          </a:solidFill>
                          <a:latin typeface="Malgun Gothic"/>
                          <a:ea typeface="Malgun Gothic"/>
                          <a:cs typeface="Malgun Gothic"/>
                        </a:rPr>
                        <a:t>E02 특징 MLP</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561개 특징</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80,582</a:t>
                      </a:r>
                    </a:p>
                  </a:txBody>
                  <a:tcPr marL="91440" marR="91440" marT="45720" marB="45720">
                    <a:solidFill>
                      <a:srgbClr val="FFFFFF"/>
                    </a:solidFill>
                  </a:tcPr>
                </a:tc>
              </a:tr>
              <a:tr h="531019">
                <a:tc>
                  <a:txBody>
                    <a:bodyPr/>
                    <a:lstStyle/>
                    <a:p>
                      <a:r>
                        <a:rPr sz="1875" b="0">
                          <a:solidFill>
                            <a:srgbClr val="17364A"/>
                          </a:solidFill>
                          <a:latin typeface="Malgun Gothic"/>
                          <a:ea typeface="Malgun Gothic"/>
                          <a:cs typeface="Malgun Gothic"/>
                        </a:rPr>
                        <a:t>E03 시계열 MLP</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128×9 → Flatten 1,152</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156,230</a:t>
                      </a:r>
                    </a:p>
                  </a:txBody>
                  <a:tcPr marL="91440" marR="91440" marT="45720" marB="45720">
                    <a:solidFill>
                      <a:srgbClr val="F0F5F7"/>
                    </a:solidFill>
                  </a:tcPr>
                </a:tc>
              </a:tr>
              <a:tr h="531019">
                <a:tc>
                  <a:txBody>
                    <a:bodyPr/>
                    <a:lstStyle/>
                    <a:p>
                      <a:r>
                        <a:rPr sz="1875" b="0">
                          <a:solidFill>
                            <a:srgbClr val="17364A"/>
                          </a:solidFill>
                          <a:latin typeface="Malgun Gothic"/>
                          <a:ea typeface="Malgun Gothic"/>
                          <a:cs typeface="Malgun Gothic"/>
                        </a:rPr>
                        <a:t>E11 PCA MLP</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561 → PCA 100</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21,574</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F241354-972C-4699-A72F-04BC6D5511FF}"/>
              </a:ext>
            </a:extLst>
          </p:cNvPr>
          <p:cNvSpPr>
            <a:spLocks xmlns:a="http://schemas.openxmlformats.org/drawingml/2006/main" noGrp="1"/>
          </p:cNvSpPr>
          <p:nvPr/>
        </p:nvSpPr>
        <p:spPr>
          <a:xfrm xmlns:a="http://schemas.openxmlformats.org/drawingml/2006/main">
            <a:off x="666750" y="57912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손실: SparseCategoricalCrossentropy(from_logits=True)</a:t>
            </a:r>
          </a:p>
        </p:txBody>
      </p:sp>
    </p:spTree>
    <p:extLst>
      <p:ext uri="{BB962C8B-B14F-4D97-AF65-F5344CB8AC3E}">
        <p14:creationId xmlns:p14="http://schemas.microsoft.com/office/powerpoint/2010/main" val="17711146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E93C3E-5E6E-4AF0-8743-8CE015E98CA0}"/>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공통 trainer</a:t>
            </a:r>
          </a:p>
        </p:txBody>
      </p:sp>
      <p:sp>
        <p:nvSpPr>
          <p:cNvPr id="2" name="">
            <a:extLst xmlns:a="http://schemas.openxmlformats.org/drawingml/2006/main">
              <a:ext uri="{FF2B5EF4-FFF2-40B4-BE49-F238E27FC236}">
                <a16:creationId xmlns:a16="http://schemas.microsoft.com/office/drawing/2014/main" id="{F0A5B54D-3797-4A80-91D3-F0610C752F51}"/>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학습과 저장 규칙을 한 코드로 통일했다</a:t>
            </a:r>
          </a:p>
        </p:txBody>
      </p:sp>
      <p:sp>
        <p:nvSpPr>
          <p:cNvPr id="3" name="">
            <a:extLst xmlns:a="http://schemas.openxmlformats.org/drawingml/2006/main">
              <a:ext uri="{FF2B5EF4-FFF2-40B4-BE49-F238E27FC236}">
                <a16:creationId xmlns:a16="http://schemas.microsoft.com/office/drawing/2014/main" id="{30508C64-3CAE-447A-BC96-E396C634A99E}"/>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분류 모델은 (B, 6) logits로 연결</a:t>
            </a:r>
          </a:p>
        </p:txBody>
      </p:sp>
      <p:sp>
        <p:nvSpPr>
          <p:cNvPr id="4" name="">
            <a:extLst xmlns:a="http://schemas.openxmlformats.org/drawingml/2006/main">
              <a:ext uri="{FF2B5EF4-FFF2-40B4-BE49-F238E27FC236}">
                <a16:creationId xmlns:a16="http://schemas.microsoft.com/office/drawing/2014/main" id="{5B323EB8-ACF8-4279-BCDA-B6028F99C6B1}"/>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39020DFB-B243-44EA-AD89-BA81CE194DC5}"/>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E0EE00D2-DC55-4649-9292-AD31A4FB30BF}"/>
              </a:ext>
            </a:extLst>
          </p:cNvPr>
          <p:cNvSpPr>
            <a:spLocks xmlns:a="http://schemas.openxmlformats.org/drawingml/2006/main" noGrp="1"/>
          </p:cNvSpPr>
          <p:nvPr/>
        </p:nvSpPr>
        <p:spPr>
          <a:xfrm xmlns:a="http://schemas.openxmlformats.org/drawingml/2006/main">
            <a:off x="638175" y="22098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입력 검사</a:t>
            </a:r>
          </a:p>
        </p:txBody>
      </p:sp>
      <p:sp>
        <p:nvSpPr>
          <p:cNvPr id="7" name="">
            <a:extLst xmlns:a="http://schemas.openxmlformats.org/drawingml/2006/main">
              <a:ext uri="{FF2B5EF4-FFF2-40B4-BE49-F238E27FC236}">
                <a16:creationId xmlns:a16="http://schemas.microsoft.com/office/drawing/2014/main" id="{41A63650-84C2-4867-B1AE-3887EF76C60E}"/>
              </a:ext>
            </a:extLst>
          </p:cNvPr>
          <p:cNvSpPr>
            <a:spLocks xmlns:a="http://schemas.openxmlformats.org/drawingml/2006/main" noGrp="1"/>
          </p:cNvSpPr>
          <p:nvPr/>
        </p:nvSpPr>
        <p:spPr>
          <a:xfrm xmlns:a="http://schemas.openxmlformats.org/drawingml/2006/main">
            <a:off x="3429000" y="22098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shape · 라벨 · 사람 분할 · 유한값 확인</a:t>
            </a:r>
          </a:p>
        </p:txBody>
      </p:sp>
      <p:sp>
        <p:nvSpPr>
          <p:cNvPr id="8" name="">
            <a:extLst xmlns:a="http://schemas.openxmlformats.org/drawingml/2006/main">
              <a:ext uri="{FF2B5EF4-FFF2-40B4-BE49-F238E27FC236}">
                <a16:creationId xmlns:a16="http://schemas.microsoft.com/office/drawing/2014/main" id="{84BC2326-ECD4-4438-BBCF-5734F8A3AE50}"/>
              </a:ext>
            </a:extLst>
          </p:cNvPr>
          <p:cNvSpPr>
            <a:spLocks xmlns:a="http://schemas.openxmlformats.org/drawingml/2006/main" noGrp="1"/>
          </p:cNvSpPr>
          <p:nvPr/>
        </p:nvSpPr>
        <p:spPr>
          <a:xfrm xmlns:a="http://schemas.openxmlformats.org/drawingml/2006/main">
            <a:off x="638175" y="30861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학습 설정</a:t>
            </a:r>
          </a:p>
        </p:txBody>
      </p:sp>
      <p:sp>
        <p:nvSpPr>
          <p:cNvPr id="9" name="">
            <a:extLst xmlns:a="http://schemas.openxmlformats.org/drawingml/2006/main">
              <a:ext uri="{FF2B5EF4-FFF2-40B4-BE49-F238E27FC236}">
                <a16:creationId xmlns:a16="http://schemas.microsoft.com/office/drawing/2014/main" id="{4FE094AE-6924-4F38-A0A0-03B54B0FCE09}"/>
              </a:ext>
            </a:extLst>
          </p:cNvPr>
          <p:cNvSpPr>
            <a:spLocks xmlns:a="http://schemas.openxmlformats.org/drawingml/2006/main" noGrp="1"/>
          </p:cNvSpPr>
          <p:nvPr/>
        </p:nvSpPr>
        <p:spPr>
          <a:xfrm xmlns:a="http://schemas.openxmlformats.org/drawingml/2006/main">
            <a:off x="3429000" y="30861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Adam 0.001 / batch 64 / 최대 40 epoch</a:t>
            </a:r>
          </a:p>
        </p:txBody>
      </p:sp>
      <p:sp>
        <p:nvSpPr>
          <p:cNvPr id="10" name="">
            <a:extLst xmlns:a="http://schemas.openxmlformats.org/drawingml/2006/main">
              <a:ext uri="{FF2B5EF4-FFF2-40B4-BE49-F238E27FC236}">
                <a16:creationId xmlns:a16="http://schemas.microsoft.com/office/drawing/2014/main" id="{2BD06825-083E-44D7-AB1A-02412C708288}"/>
              </a:ext>
            </a:extLst>
          </p:cNvPr>
          <p:cNvSpPr>
            <a:spLocks xmlns:a="http://schemas.openxmlformats.org/drawingml/2006/main" noGrp="1"/>
          </p:cNvSpPr>
          <p:nvPr/>
        </p:nvSpPr>
        <p:spPr>
          <a:xfrm xmlns:a="http://schemas.openxmlformats.org/drawingml/2006/main">
            <a:off x="638175" y="39624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모델 선택</a:t>
            </a:r>
          </a:p>
        </p:txBody>
      </p:sp>
      <p:sp>
        <p:nvSpPr>
          <p:cNvPr id="11" name="">
            <a:extLst xmlns:a="http://schemas.openxmlformats.org/drawingml/2006/main">
              <a:ext uri="{FF2B5EF4-FFF2-40B4-BE49-F238E27FC236}">
                <a16:creationId xmlns:a16="http://schemas.microsoft.com/office/drawing/2014/main" id="{C981FED7-811D-4E0A-9511-4719A1D119DB}"/>
              </a:ext>
            </a:extLst>
          </p:cNvPr>
          <p:cNvSpPr>
            <a:spLocks xmlns:a="http://schemas.openxmlformats.org/drawingml/2006/main" noGrp="1"/>
          </p:cNvSpPr>
          <p:nvPr/>
        </p:nvSpPr>
        <p:spPr>
          <a:xfrm xmlns:a="http://schemas.openxmlformats.org/drawingml/2006/main">
            <a:off x="3429000" y="39624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val_loss 최소 · patience 6 · 최선 가중치 복원</a:t>
            </a:r>
          </a:p>
        </p:txBody>
      </p:sp>
      <p:sp>
        <p:nvSpPr>
          <p:cNvPr id="12" name="">
            <a:extLst xmlns:a="http://schemas.openxmlformats.org/drawingml/2006/main">
              <a:ext uri="{FF2B5EF4-FFF2-40B4-BE49-F238E27FC236}">
                <a16:creationId xmlns:a16="http://schemas.microsoft.com/office/drawing/2014/main" id="{609B088C-3469-443F-AAF4-296D39D0D188}"/>
              </a:ext>
            </a:extLst>
          </p:cNvPr>
          <p:cNvSpPr>
            <a:spLocks xmlns:a="http://schemas.openxmlformats.org/drawingml/2006/main" noGrp="1"/>
          </p:cNvSpPr>
          <p:nvPr/>
        </p:nvSpPr>
        <p:spPr>
          <a:xfrm xmlns:a="http://schemas.openxmlformats.org/drawingml/2006/main">
            <a:off x="638175" y="4838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저장 묶음</a:t>
            </a:r>
          </a:p>
        </p:txBody>
      </p:sp>
      <p:sp>
        <p:nvSpPr>
          <p:cNvPr id="13" name="">
            <a:extLst xmlns:a="http://schemas.openxmlformats.org/drawingml/2006/main">
              <a:ext uri="{FF2B5EF4-FFF2-40B4-BE49-F238E27FC236}">
                <a16:creationId xmlns:a16="http://schemas.microsoft.com/office/drawing/2014/main" id="{14BA1623-102B-4727-905D-326D468CA9E6}"/>
              </a:ext>
            </a:extLst>
          </p:cNvPr>
          <p:cNvSpPr>
            <a:spLocks xmlns:a="http://schemas.openxmlformats.org/drawingml/2006/main" noGrp="1"/>
          </p:cNvSpPr>
          <p:nvPr/>
        </p:nvSpPr>
        <p:spPr>
          <a:xfrm xmlns:a="http://schemas.openxmlformats.org/drawingml/2006/main">
            <a:off x="3429000" y="4838700"/>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모델 + 전처리 + 설정 + 분할 + 예측 + 로그</a:t>
            </a:r>
          </a:p>
        </p:txBody>
      </p:sp>
    </p:spTree>
    <p:extLst>
      <p:ext uri="{BB962C8B-B14F-4D97-AF65-F5344CB8AC3E}">
        <p14:creationId xmlns:p14="http://schemas.microsoft.com/office/powerpoint/2010/main" val="7136191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4F46A58-8244-4B51-BC00-F4D08A6FD61C}"/>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역전파 검증</a:t>
            </a:r>
          </a:p>
        </p:txBody>
      </p:sp>
      <p:sp>
        <p:nvSpPr>
          <p:cNvPr id="2" name="">
            <a:extLst xmlns:a="http://schemas.openxmlformats.org/drawingml/2006/main">
              <a:ext uri="{FF2B5EF4-FFF2-40B4-BE49-F238E27FC236}">
                <a16:creationId xmlns:a16="http://schemas.microsoft.com/office/drawing/2014/main" id="{1AC68A14-955B-4FBE-9276-A93EA1891F94}"/>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손계산과 자동미분으로 역전파를 확인했다</a:t>
            </a:r>
          </a:p>
        </p:txBody>
      </p:sp>
      <p:sp>
        <p:nvSpPr>
          <p:cNvPr id="3" name="">
            <a:extLst xmlns:a="http://schemas.openxmlformats.org/drawingml/2006/main">
              <a:ext uri="{FF2B5EF4-FFF2-40B4-BE49-F238E27FC236}">
                <a16:creationId xmlns:a16="http://schemas.microsoft.com/office/drawing/2014/main" id="{09B06A38-6409-47E1-94F1-9862F647A4A8}"/>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설명용 한 뉴런: x=2, w=3, b=1, 목표 t=10</a:t>
            </a:r>
          </a:p>
        </p:txBody>
      </p:sp>
      <p:sp>
        <p:nvSpPr>
          <p:cNvPr id="4" name="">
            <a:extLst xmlns:a="http://schemas.openxmlformats.org/drawingml/2006/main">
              <a:ext uri="{FF2B5EF4-FFF2-40B4-BE49-F238E27FC236}">
                <a16:creationId xmlns:a16="http://schemas.microsoft.com/office/drawing/2014/main" id="{0AB6ABF3-39E5-46A4-919A-A75EF48802F8}"/>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DF4DA073-9297-4B66-BAF2-6A49A1DF97D6}"/>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06</a:t>
            </a:r>
          </a:p>
        </p:txBody>
      </p:sp>
      <p:sp>
        <p:nvSpPr>
          <p:cNvPr id="6" name="">
            <a:extLst xmlns:a="http://schemas.openxmlformats.org/drawingml/2006/main">
              <a:ext uri="{FF2B5EF4-FFF2-40B4-BE49-F238E27FC236}">
                <a16:creationId xmlns:a16="http://schemas.microsoft.com/office/drawing/2014/main" id="{3683E95D-0387-46E0-944E-6F65EE6D178F}"/>
              </a:ext>
            </a:extLst>
          </p:cNvPr>
          <p:cNvSpPr>
            <a:spLocks xmlns:a="http://schemas.openxmlformats.org/drawingml/2006/main" noGrp="1"/>
          </p:cNvSpPr>
          <p:nvPr/>
        </p:nvSpPr>
        <p:spPr>
          <a:xfrm xmlns:a="http://schemas.openxmlformats.org/drawingml/2006/main">
            <a:off x="647700" y="223837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364A"/>
                </a:solidFill>
                <a:latin typeface="Malgun Gothic"/>
                <a:ea typeface="Malgun Gothic"/>
                <a:cs typeface="Malgun Gothic"/>
              </a:defRPr>
            </a:pPr>
            <a:r>
              <a:rPr sz="2925" b="1">
                <a:solidFill>
                  <a:srgbClr val="17364A"/>
                </a:solidFill>
                <a:latin typeface="Malgun Gothic"/>
                <a:ea typeface="Malgun Gothic"/>
                <a:cs typeface="Malgun Gothic"/>
              </a:rPr>
              <a:t>예측 y=7  →  손실 L=4.5</a:t>
            </a:r>
          </a:p>
        </p:txBody>
      </p:sp>
      <p:sp>
        <p:nvSpPr>
          <p:cNvPr id="7" name="">
            <a:extLst xmlns:a="http://schemas.openxmlformats.org/drawingml/2006/main">
              <a:ext uri="{FF2B5EF4-FFF2-40B4-BE49-F238E27FC236}">
                <a16:creationId xmlns:a16="http://schemas.microsoft.com/office/drawing/2014/main" id="{E7CB46C8-65BB-4266-BA37-53ED7E5CFA31}"/>
              </a:ext>
            </a:extLst>
          </p:cNvPr>
          <p:cNvSpPr>
            <a:spLocks xmlns:a="http://schemas.openxmlformats.org/drawingml/2006/main" noGrp="1"/>
          </p:cNvSpPr>
          <p:nvPr/>
        </p:nvSpPr>
        <p:spPr>
          <a:xfrm xmlns:a="http://schemas.openxmlformats.org/drawingml/2006/main">
            <a:off x="647700" y="308610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6C77"/>
                </a:solidFill>
                <a:latin typeface="Malgun Gothic"/>
                <a:ea typeface="Malgun Gothic"/>
                <a:cs typeface="Malgun Gothic"/>
              </a:defRPr>
            </a:pPr>
            <a:r>
              <a:rPr sz="2700" b="1">
                <a:solidFill>
                  <a:srgbClr val="176C77"/>
                </a:solidFill>
                <a:latin typeface="Malgun Gothic"/>
                <a:ea typeface="Malgun Gothic"/>
                <a:cs typeface="Malgun Gothic"/>
              </a:rPr>
              <a:t>기울기:  ∂L/∂w = −6     ∂L/∂b = −3</a:t>
            </a:r>
          </a:p>
        </p:txBody>
      </p:sp>
      <p:sp>
        <p:nvSpPr>
          <p:cNvPr id="8" name="">
            <a:extLst xmlns:a="http://schemas.openxmlformats.org/drawingml/2006/main">
              <a:ext uri="{FF2B5EF4-FFF2-40B4-BE49-F238E27FC236}">
                <a16:creationId xmlns:a16="http://schemas.microsoft.com/office/drawing/2014/main" id="{A2CD8BAF-07D0-4659-9D75-DEE3FD4DE166}"/>
              </a:ext>
            </a:extLst>
          </p:cNvPr>
          <p:cNvSpPr>
            <a:spLocks xmlns:a="http://schemas.openxmlformats.org/drawingml/2006/main" noGrp="1"/>
          </p:cNvSpPr>
          <p:nvPr/>
        </p:nvSpPr>
        <p:spPr>
          <a:xfrm xmlns:a="http://schemas.openxmlformats.org/drawingml/2006/main">
            <a:off x="657225" y="40290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SGD 한 번: 학습률 0.1 → 손실 1.125</a:t>
            </a:r>
          </a:p>
          <a:p xmlns:a="http://schemas.openxmlformats.org/drawingml/2006/main">
            <a:pPr>
              <a:defRPr sz="2250" b="0">
                <a:solidFill>
                  <a:srgbClr val="17364A"/>
                </a:solidFill>
                <a:latin typeface="Malgun Gothic"/>
                <a:ea typeface="Malgun Gothic"/>
                <a:cs typeface="Malgun Gothic"/>
              </a:defRPr>
            </a:pPr>
            <a:r>
              <a:rPr sz="2250" b="0">
                <a:solidFill>
                  <a:srgbClr val="17364A"/>
                </a:solidFill>
                <a:latin typeface="Malgun Gothic"/>
                <a:ea typeface="Malgun Gothic"/>
                <a:cs typeface="Malgun Gothic"/>
              </a:rPr>
              <a:t>학습률 0.5 → 손실 10.125</a:t>
            </a:r>
          </a:p>
        </p:txBody>
      </p:sp>
      <p:sp>
        <p:nvSpPr>
          <p:cNvPr id="9" name="">
            <a:extLst xmlns:a="http://schemas.openxmlformats.org/drawingml/2006/main">
              <a:ext uri="{FF2B5EF4-FFF2-40B4-BE49-F238E27FC236}">
                <a16:creationId xmlns:a16="http://schemas.microsoft.com/office/drawing/2014/main" id="{104CCC6D-CAF5-4A0C-B673-0F273E36D176}"/>
              </a:ext>
            </a:extLst>
          </p:cNvPr>
          <p:cNvSpPr>
            <a:spLocks xmlns:a="http://schemas.openxmlformats.org/drawingml/2006/main" noGrp="1"/>
          </p:cNvSpPr>
          <p:nvPr/>
        </p:nvSpPr>
        <p:spPr>
          <a:xfrm xmlns:a="http://schemas.openxmlformats.org/drawingml/2006/main">
            <a:off x="657225" y="53816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작은 MLP: 17파라미터 × h 3종 = 수치미분 51개 비교</a:t>
            </a:r>
          </a:p>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NumPy와 TensorFlow 기울기 최대 절대 오차 5.55×10⁻¹⁷</a:t>
            </a:r>
          </a:p>
        </p:txBody>
      </p:sp>
    </p:spTree>
    <p:extLst>
      <p:ext uri="{BB962C8B-B14F-4D97-AF65-F5344CB8AC3E}">
        <p14:creationId xmlns:p14="http://schemas.microsoft.com/office/powerpoint/2010/main" val="13702671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1F8826-85F4-43D5-B536-B32C498B2C2C}"/>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핵심 결과</a:t>
            </a:r>
          </a:p>
        </p:txBody>
      </p:sp>
      <p:sp>
        <p:nvSpPr>
          <p:cNvPr id="2" name="">
            <a:extLst xmlns:a="http://schemas.openxmlformats.org/drawingml/2006/main">
              <a:ext uri="{FF2B5EF4-FFF2-40B4-BE49-F238E27FC236}">
                <a16:creationId xmlns:a16="http://schemas.microsoft.com/office/drawing/2014/main" id="{582F7076-D32D-43F7-990B-24ADDC4A2D15}"/>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7개 조건 중 E02의 검증 F1이 가장 높았다</a:t>
            </a:r>
          </a:p>
        </p:txBody>
      </p:sp>
      <p:sp>
        <p:nvSpPr>
          <p:cNvPr id="3" name="">
            <a:extLst xmlns:a="http://schemas.openxmlformats.org/drawingml/2006/main">
              <a:ext uri="{FF2B5EF4-FFF2-40B4-BE49-F238E27FC236}">
                <a16:creationId xmlns:a16="http://schemas.microsoft.com/office/drawing/2014/main" id="{D8865542-D6B6-4369-8A7F-2387CF1C7925}"/>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동일한 사람 분할 · seed 2026 · 공식 시험 결과 아님</a:t>
            </a:r>
          </a:p>
        </p:txBody>
      </p:sp>
      <p:sp>
        <p:nvSpPr>
          <p:cNvPr id="4" name="">
            <a:extLst xmlns:a="http://schemas.openxmlformats.org/drawingml/2006/main">
              <a:ext uri="{FF2B5EF4-FFF2-40B4-BE49-F238E27FC236}">
                <a16:creationId xmlns:a16="http://schemas.microsoft.com/office/drawing/2014/main" id="{F65DE890-CD74-47D1-A635-B1379E5753DB}"/>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7AC17958-B2EE-466D-BCF0-952647255943}"/>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07</a:t>
            </a:r>
          </a:p>
        </p:txBody>
      </p:sp>
      <p:graphicFrame>
        <p:nvGraphicFramePr>
          <p:cNvPr id="15" name="Chart"/>
          <p:cNvGraphicFramePr/>
          <p:nvPr/>
        </p:nvGraphicFramePr>
        <p:xfrm>
          <a:off xmlns:a="http://schemas.openxmlformats.org/drawingml/2006/main" x="609600" y="2162175"/>
          <a:ext xmlns:a="http://schemas.openxmlformats.org/drawingml/2006/main" cx="8124825" cy="3667125"/>
        </p:xfrm>
        <a:graphic xmlns:a="http://schemas.openxmlformats.org/drawingml/2006/main">
          <a:graphicData uri="http://schemas.openxmlformats.org/drawingml/2006/chart">
            <c:chart xmlns:r="http://schemas.openxmlformats.org/officeDocument/2006/relationships" xmlns:c="http://schemas.openxmlformats.org/drawingml/2006/chart" r:id="R2c292faee97f442a"/>
          </a:graphicData>
        </a:graphic>
      </p:graphicFrame>
      <p:sp>
        <p:nvSpPr>
          <p:cNvPr id="7" name="">
            <a:extLst xmlns:a="http://schemas.openxmlformats.org/drawingml/2006/main">
              <a:ext uri="{FF2B5EF4-FFF2-40B4-BE49-F238E27FC236}">
                <a16:creationId xmlns:a16="http://schemas.microsoft.com/office/drawing/2014/main" id="{FC8FC928-F549-4A1C-8DE5-490EB10936B7}"/>
              </a:ext>
            </a:extLst>
          </p:cNvPr>
          <p:cNvSpPr>
            <a:spLocks xmlns:a="http://schemas.openxmlformats.org/drawingml/2006/main" noGrp="1"/>
          </p:cNvSpPr>
          <p:nvPr/>
        </p:nvSpPr>
        <p:spPr>
          <a:xfrm xmlns:a="http://schemas.openxmlformats.org/drawingml/2006/main">
            <a:off x="9086850" y="2533650"/>
            <a:ext cx="263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6C77"/>
                </a:solidFill>
                <a:latin typeface="Malgun Gothic"/>
                <a:ea typeface="Malgun Gothic"/>
                <a:cs typeface="Malgun Gothic"/>
              </a:defRPr>
            </a:pPr>
            <a:r>
              <a:rPr sz="3975" b="1">
                <a:solidFill>
                  <a:srgbClr val="176C77"/>
                </a:solidFill>
                <a:latin typeface="Malgun Gothic"/>
                <a:ea typeface="Malgun Gothic"/>
                <a:cs typeface="Malgun Gothic"/>
              </a:rPr>
              <a:t>0.9138</a:t>
            </a:r>
          </a:p>
        </p:txBody>
      </p:sp>
      <p:sp>
        <p:nvSpPr>
          <p:cNvPr id="8" name="">
            <a:extLst xmlns:a="http://schemas.openxmlformats.org/drawingml/2006/main">
              <a:ext uri="{FF2B5EF4-FFF2-40B4-BE49-F238E27FC236}">
                <a16:creationId xmlns:a16="http://schemas.microsoft.com/office/drawing/2014/main" id="{A640B4EA-DFD4-462B-8080-4E140F8A2FAC}"/>
              </a:ext>
            </a:extLst>
          </p:cNvPr>
          <p:cNvSpPr>
            <a:spLocks xmlns:a="http://schemas.openxmlformats.org/drawingml/2006/main" noGrp="1"/>
          </p:cNvSpPr>
          <p:nvPr/>
        </p:nvSpPr>
        <p:spPr>
          <a:xfrm xmlns:a="http://schemas.openxmlformats.org/drawingml/2006/main">
            <a:off x="9124950" y="3476625"/>
            <a:ext cx="257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64A"/>
                </a:solidFill>
                <a:latin typeface="Malgun Gothic"/>
                <a:ea typeface="Malgun Gothic"/>
                <a:cs typeface="Malgun Gothic"/>
              </a:defRPr>
            </a:pPr>
            <a:r>
              <a:rPr sz="1875" b="1">
                <a:solidFill>
                  <a:srgbClr val="17364A"/>
                </a:solidFill>
                <a:latin typeface="Malgun Gothic"/>
                <a:ea typeface="Malgun Gothic"/>
                <a:cs typeface="Malgun Gothic"/>
              </a:rPr>
              <a:t>E02 Macro F1</a:t>
            </a:r>
          </a:p>
        </p:txBody>
      </p:sp>
      <p:sp>
        <p:nvSpPr>
          <p:cNvPr id="9" name="">
            <a:extLst xmlns:a="http://schemas.openxmlformats.org/drawingml/2006/main">
              <a:ext uri="{FF2B5EF4-FFF2-40B4-BE49-F238E27FC236}">
                <a16:creationId xmlns:a16="http://schemas.microsoft.com/office/drawing/2014/main" id="{56D95B47-7111-4B0C-89AA-019124C8E339}"/>
              </a:ext>
            </a:extLst>
          </p:cNvPr>
          <p:cNvSpPr>
            <a:spLocks xmlns:a="http://schemas.openxmlformats.org/drawingml/2006/main" noGrp="1"/>
          </p:cNvSpPr>
          <p:nvPr/>
        </p:nvSpPr>
        <p:spPr>
          <a:xfrm xmlns:a="http://schemas.openxmlformats.org/drawingml/2006/main">
            <a:off x="9124950" y="4086225"/>
            <a:ext cx="25717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Accuracy</a:t>
            </a:r>
          </a:p>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0.9161</a:t>
            </a:r>
          </a:p>
          <a:p xmlns:a="http://schemas.openxmlformats.org/drawingml/2006/main">
            <a:r>
              <a:t/>
            </a:r>
          </a:p>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반복 seed·test</a:t>
            </a:r>
          </a:p>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평가는 후속 과제</a:t>
            </a:r>
          </a:p>
        </p:txBody>
      </p:sp>
    </p:spTree>
    <p:extLst>
      <p:ext uri="{BB962C8B-B14F-4D97-AF65-F5344CB8AC3E}">
        <p14:creationId xmlns:p14="http://schemas.microsoft.com/office/powerpoint/2010/main" val="11690663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C7465C-47DF-43C1-B00D-E16E91EE4319}"/>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학습 곡선</a:t>
            </a:r>
          </a:p>
        </p:txBody>
      </p:sp>
      <p:sp>
        <p:nvSpPr>
          <p:cNvPr id="2" name="">
            <a:extLst xmlns:a="http://schemas.openxmlformats.org/drawingml/2006/main">
              <a:ext uri="{FF2B5EF4-FFF2-40B4-BE49-F238E27FC236}">
                <a16:creationId xmlns:a16="http://schemas.microsoft.com/office/drawing/2014/main" id="{1A5A9D95-D17E-4B8E-BAED-6A046C7683D4}"/>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epoch 8에 종료하고 epoch 2의 가중치를 선택</a:t>
            </a:r>
          </a:p>
        </p:txBody>
      </p:sp>
      <p:sp>
        <p:nvSpPr>
          <p:cNvPr id="3" name="">
            <a:extLst xmlns:a="http://schemas.openxmlformats.org/drawingml/2006/main">
              <a:ext uri="{FF2B5EF4-FFF2-40B4-BE49-F238E27FC236}">
                <a16:creationId xmlns:a16="http://schemas.microsoft.com/office/drawing/2014/main" id="{3E4BA7EE-4BA7-4850-BFC8-875582A0A0E7}"/>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E02 · 선택 기준은 val_loss 최소</a:t>
            </a:r>
          </a:p>
        </p:txBody>
      </p:sp>
      <p:sp>
        <p:nvSpPr>
          <p:cNvPr id="4" name="">
            <a:extLst xmlns:a="http://schemas.openxmlformats.org/drawingml/2006/main">
              <a:ext uri="{FF2B5EF4-FFF2-40B4-BE49-F238E27FC236}">
                <a16:creationId xmlns:a16="http://schemas.microsoft.com/office/drawing/2014/main" id="{33061A7D-320E-4132-B66E-4EAC65356F61}"/>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434D9434-010C-4555-88F9-2D9EB80CD563}"/>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08</a:t>
            </a:r>
          </a:p>
        </p:txBody>
      </p:sp>
      <p:graphicFrame>
        <p:nvGraphicFramePr>
          <p:cNvPr id="15" name="Chart"/>
          <p:cNvGraphicFramePr/>
          <p:nvPr/>
        </p:nvGraphicFramePr>
        <p:xfrm>
          <a:off xmlns:a="http://schemas.openxmlformats.org/drawingml/2006/main" x="619125" y="2219325"/>
          <a:ext xmlns:a="http://schemas.openxmlformats.org/drawingml/2006/main" cx="8029575" cy="3667125"/>
        </p:xfrm>
        <a:graphic xmlns:a="http://schemas.openxmlformats.org/drawingml/2006/main">
          <a:graphicData uri="http://schemas.openxmlformats.org/drawingml/2006/chart">
            <c:chart xmlns:r="http://schemas.openxmlformats.org/officeDocument/2006/relationships" xmlns:c="http://schemas.openxmlformats.org/drawingml/2006/chart" r:id="R23bda592b79f4efd"/>
          </a:graphicData>
        </a:graphic>
      </p:graphicFrame>
      <p:sp>
        <p:nvSpPr>
          <p:cNvPr id="7" name="">
            <a:extLst xmlns:a="http://schemas.openxmlformats.org/drawingml/2006/main">
              <a:ext uri="{FF2B5EF4-FFF2-40B4-BE49-F238E27FC236}">
                <a16:creationId xmlns:a16="http://schemas.microsoft.com/office/drawing/2014/main" id="{E7FBE338-D6BF-4620-8571-322F76B9CE32}"/>
              </a:ext>
            </a:extLst>
          </p:cNvPr>
          <p:cNvSpPr>
            <a:spLocks xmlns:a="http://schemas.openxmlformats.org/drawingml/2006/main" noGrp="1"/>
          </p:cNvSpPr>
          <p:nvPr/>
        </p:nvSpPr>
        <p:spPr>
          <a:xfrm xmlns:a="http://schemas.openxmlformats.org/drawingml/2006/main">
            <a:off x="9096375" y="2524125"/>
            <a:ext cx="257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86236"/>
                </a:solidFill>
                <a:latin typeface="Malgun Gothic"/>
                <a:ea typeface="Malgun Gothic"/>
                <a:cs typeface="Malgun Gothic"/>
              </a:defRPr>
            </a:pPr>
            <a:r>
              <a:rPr sz="3675" b="1">
                <a:solidFill>
                  <a:srgbClr val="B86236"/>
                </a:solidFill>
                <a:latin typeface="Malgun Gothic"/>
                <a:ea typeface="Malgun Gothic"/>
                <a:cs typeface="Malgun Gothic"/>
              </a:rPr>
              <a:t>0.2847</a:t>
            </a:r>
          </a:p>
        </p:txBody>
      </p:sp>
      <p:sp>
        <p:nvSpPr>
          <p:cNvPr id="8" name="">
            <a:extLst xmlns:a="http://schemas.openxmlformats.org/drawingml/2006/main">
              <a:ext uri="{FF2B5EF4-FFF2-40B4-BE49-F238E27FC236}">
                <a16:creationId xmlns:a16="http://schemas.microsoft.com/office/drawing/2014/main" id="{E46248F7-E9C3-475C-91EC-03B5CACB3851}"/>
              </a:ext>
            </a:extLst>
          </p:cNvPr>
          <p:cNvSpPr>
            <a:spLocks xmlns:a="http://schemas.openxmlformats.org/drawingml/2006/main" noGrp="1"/>
          </p:cNvSpPr>
          <p:nvPr/>
        </p:nvSpPr>
        <p:spPr>
          <a:xfrm xmlns:a="http://schemas.openxmlformats.org/drawingml/2006/main">
            <a:off x="9153525" y="3409950"/>
            <a:ext cx="24098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64A"/>
                </a:solidFill>
                <a:latin typeface="Malgun Gothic"/>
                <a:ea typeface="Malgun Gothic"/>
                <a:cs typeface="Malgun Gothic"/>
              </a:defRPr>
            </a:pPr>
            <a:r>
              <a:rPr sz="2025" b="1">
                <a:solidFill>
                  <a:srgbClr val="17364A"/>
                </a:solidFill>
                <a:latin typeface="Malgun Gothic"/>
                <a:ea typeface="Malgun Gothic"/>
                <a:cs typeface="Malgun Gothic"/>
              </a:rPr>
              <a:t>최소 검증 손실</a:t>
            </a:r>
          </a:p>
          <a:p xmlns:a="http://schemas.openxmlformats.org/drawingml/2006/main">
            <a:pPr>
              <a:defRPr sz="2025" b="1">
                <a:solidFill>
                  <a:srgbClr val="17364A"/>
                </a:solidFill>
                <a:latin typeface="Malgun Gothic"/>
                <a:ea typeface="Malgun Gothic"/>
                <a:cs typeface="Malgun Gothic"/>
              </a:defRPr>
            </a:pPr>
            <a:r>
              <a:rPr sz="2025" b="1">
                <a:solidFill>
                  <a:srgbClr val="17364A"/>
                </a:solidFill>
                <a:latin typeface="Malgun Gothic"/>
                <a:ea typeface="Malgun Gothic"/>
                <a:cs typeface="Malgun Gothic"/>
              </a:rPr>
              <a:t>epoch 2</a:t>
            </a:r>
          </a:p>
        </p:txBody>
      </p:sp>
      <p:sp>
        <p:nvSpPr>
          <p:cNvPr id="9" name="">
            <a:extLst xmlns:a="http://schemas.openxmlformats.org/drawingml/2006/main">
              <a:ext uri="{FF2B5EF4-FFF2-40B4-BE49-F238E27FC236}">
                <a16:creationId xmlns:a16="http://schemas.microsoft.com/office/drawing/2014/main" id="{7A21DB76-1871-470D-9741-29FB1870D8BB}"/>
              </a:ext>
            </a:extLst>
          </p:cNvPr>
          <p:cNvSpPr>
            <a:spLocks xmlns:a="http://schemas.openxmlformats.org/drawingml/2006/main" noGrp="1"/>
          </p:cNvSpPr>
          <p:nvPr/>
        </p:nvSpPr>
        <p:spPr>
          <a:xfrm xmlns:a="http://schemas.openxmlformats.org/drawingml/2006/main">
            <a:off x="9153525" y="4800600"/>
            <a:ext cx="2419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이후 6 epoch</a:t>
            </a:r>
          </a:p>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개선 없음</a:t>
            </a:r>
          </a:p>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 조기 종료</a:t>
            </a:r>
          </a:p>
        </p:txBody>
      </p:sp>
    </p:spTree>
    <p:extLst>
      <p:ext uri="{BB962C8B-B14F-4D97-AF65-F5344CB8AC3E}">
        <p14:creationId xmlns:p14="http://schemas.microsoft.com/office/powerpoint/2010/main" val="12593878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704B99-5364-48C9-8295-4BFDE3024071}"/>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조건별 해석</a:t>
            </a:r>
          </a:p>
        </p:txBody>
      </p:sp>
      <p:sp>
        <p:nvSpPr>
          <p:cNvPr id="2" name="">
            <a:extLst xmlns:a="http://schemas.openxmlformats.org/drawingml/2006/main">
              <a:ext uri="{FF2B5EF4-FFF2-40B4-BE49-F238E27FC236}">
                <a16:creationId xmlns:a16="http://schemas.microsoft.com/office/drawing/2014/main" id="{42A75DC6-52F1-440C-8FAD-EDEEBCDA142E}"/>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한 조건의 결과를 일반 법칙으로 확대하지 않았다</a:t>
            </a:r>
          </a:p>
        </p:txBody>
      </p:sp>
      <p:sp>
        <p:nvSpPr>
          <p:cNvPr id="3" name="">
            <a:extLst xmlns:a="http://schemas.openxmlformats.org/drawingml/2006/main">
              <a:ext uri="{FF2B5EF4-FFF2-40B4-BE49-F238E27FC236}">
                <a16:creationId xmlns:a16="http://schemas.microsoft.com/office/drawing/2014/main" id="{073842A1-07D7-4F4A-814D-79E1BF7E379C}"/>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E02 대비 검증 Macro F1 차이</a:t>
            </a:r>
          </a:p>
        </p:txBody>
      </p:sp>
      <p:sp>
        <p:nvSpPr>
          <p:cNvPr id="4" name="">
            <a:extLst xmlns:a="http://schemas.openxmlformats.org/drawingml/2006/main">
              <a:ext uri="{FF2B5EF4-FFF2-40B4-BE49-F238E27FC236}">
                <a16:creationId xmlns:a16="http://schemas.microsoft.com/office/drawing/2014/main" id="{0556F9B7-2745-4219-9DAC-1A70969A52F4}"/>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DE123B6B-B8DF-43B3-8D60-A8E2FFBDB43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09</a:t>
            </a:r>
          </a:p>
        </p:txBody>
      </p:sp>
      <p:graphicFrame>
        <p:nvGraphicFramePr>
          <p:cNvPr id="13" name=""/>
          <p:cNvGraphicFramePr/>
          <p:nvPr/>
        </p:nvGraphicFramePr>
        <p:xfrm>
          <a:off xmlns:a="http://schemas.openxmlformats.org/drawingml/2006/main" x="619125" y="2324100"/>
          <a:ext xmlns:a="http://schemas.openxmlformats.org/drawingml/2006/main" cx="10953750" cy="2714625"/>
        </p:xfrm>
        <a:graphic xmlns:a="http://schemas.openxmlformats.org/drawingml/2006/main">
          <a:graphicData uri="http://schemas.openxmlformats.org/drawingml/2006/table">
            <a:tbl>
              <a:tblPr/>
              <a:tblGrid>
                <a:gridCol w="2857500"/>
                <a:gridCol w="1762125"/>
                <a:gridCol w="6334125"/>
              </a:tblGrid>
              <a:tr h="542925">
                <a:tc>
                  <a:txBody>
                    <a:bodyPr/>
                    <a:lstStyle/>
                    <a:p>
                      <a:r>
                        <a:rPr sz="1800" b="1">
                          <a:solidFill>
                            <a:srgbClr val="FFFFFF"/>
                          </a:solidFill>
                          <a:latin typeface="Malgun Gothic"/>
                          <a:ea typeface="Malgun Gothic"/>
                          <a:cs typeface="Malgun Gothic"/>
                        </a:rPr>
                        <a:t>조건</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F1 차이</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이번 실험에서의 관찰</a:t>
                      </a:r>
                    </a:p>
                  </a:txBody>
                  <a:tcPr marL="91440" marR="91440" marT="45720" marB="45720">
                    <a:solidFill>
                      <a:srgbClr val="17364A"/>
                    </a:solidFill>
                  </a:tcPr>
                </a:tc>
              </a:tr>
              <a:tr h="542925">
                <a:tc>
                  <a:txBody>
                    <a:bodyPr/>
                    <a:lstStyle/>
                    <a:p>
                      <a:r>
                        <a:rPr sz="1800" b="0">
                          <a:solidFill>
                            <a:srgbClr val="17364A"/>
                          </a:solidFill>
                          <a:latin typeface="Malgun Gothic"/>
                          <a:ea typeface="Malgun Gothic"/>
                          <a:cs typeface="Malgun Gothic"/>
                        </a:rPr>
                        <a:t>표준화 생략</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−2.74%p</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추가 표준화를 한 기준선이 높음</a:t>
                      </a:r>
                    </a:p>
                  </a:txBody>
                  <a:tcPr marL="91440" marR="91440" marT="45720" marB="45720">
                    <a:solidFill>
                      <a:srgbClr val="FFFFFF"/>
                    </a:solidFill>
                  </a:tcPr>
                </a:tc>
              </a:tr>
              <a:tr h="542925">
                <a:tc>
                  <a:txBody>
                    <a:bodyPr/>
                    <a:lstStyle/>
                    <a:p>
                      <a:r>
                        <a:rPr sz="1800" b="0">
                          <a:solidFill>
                            <a:srgbClr val="17364A"/>
                          </a:solidFill>
                          <a:latin typeface="Malgun Gothic"/>
                          <a:ea typeface="Malgun Gothic"/>
                          <a:cs typeface="Malgun Gothic"/>
                        </a:rPr>
                        <a:t>Dropout 0.3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−1.99%p</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이 비율에서는 성능 향상 없음</a:t>
                      </a:r>
                    </a:p>
                  </a:txBody>
                  <a:tcPr marL="91440" marR="91440" marT="45720" marB="45720">
                    <a:solidFill>
                      <a:srgbClr val="F0F5F7"/>
                    </a:solidFill>
                  </a:tcPr>
                </a:tc>
              </a:tr>
              <a:tr h="542925">
                <a:tc>
                  <a:txBody>
                    <a:bodyPr/>
                    <a:lstStyle/>
                    <a:p>
                      <a:r>
                        <a:rPr sz="1800" b="0">
                          <a:solidFill>
                            <a:srgbClr val="17364A"/>
                          </a:solidFill>
                          <a:latin typeface="Malgun Gothic"/>
                          <a:ea typeface="Malgun Gothic"/>
                          <a:cs typeface="Malgun Gothic"/>
                        </a:rPr>
                        <a:t>학습률 0.0003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−3.90%p</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작은 학습률이 항상 유리하지 않음</a:t>
                      </a:r>
                    </a:p>
                  </a:txBody>
                  <a:tcPr marL="91440" marR="91440" marT="45720" marB="45720">
                    <a:solidFill>
                      <a:srgbClr val="FFFFFF"/>
                    </a:solidFill>
                  </a:tcPr>
                </a:tc>
              </a:tr>
              <a:tr h="542925">
                <a:tc>
                  <a:txBody>
                    <a:bodyPr/>
                    <a:lstStyle/>
                    <a:p>
                      <a:r>
                        <a:rPr sz="1800" b="0">
                          <a:solidFill>
                            <a:srgbClr val="17364A"/>
                          </a:solidFill>
                          <a:latin typeface="Malgun Gothic"/>
                          <a:ea typeface="Malgun Gothic"/>
                          <a:cs typeface="Malgun Gothic"/>
                        </a:rPr>
                        <a:t>학습률 0.003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−2.40%p</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큰 학습률도 기준선을 넘지 못함</a:t>
                      </a:r>
                    </a:p>
                  </a:txBody>
                  <a:tcPr marL="91440" marR="91440" marT="45720" marB="45720">
                    <a:solidFill>
                      <a:srgbClr val="F0F5F7"/>
                    </a:solidFill>
                  </a:tcPr>
                </a:tc>
              </a:tr>
            </a:tbl>
          </a:graphicData>
        </a:graphic>
      </p:graphicFrame>
      <p:sp>
        <p:nvSpPr>
          <p:cNvPr id="7" name="">
            <a:extLst xmlns:a="http://schemas.openxmlformats.org/drawingml/2006/main">
              <a:ext uri="{FF2B5EF4-FFF2-40B4-BE49-F238E27FC236}">
                <a16:creationId xmlns:a16="http://schemas.microsoft.com/office/drawing/2014/main" id="{29A43714-64DD-4831-BFA3-FC0C20DEC342}"/>
              </a:ext>
            </a:extLst>
          </p:cNvPr>
          <p:cNvSpPr>
            <a:spLocks xmlns:a="http://schemas.openxmlformats.org/drawingml/2006/main" noGrp="1"/>
          </p:cNvSpPr>
          <p:nvPr/>
        </p:nvSpPr>
        <p:spPr>
          <a:xfrm xmlns:a="http://schemas.openxmlformats.org/drawingml/2006/main">
            <a:off x="657225" y="5400675"/>
            <a:ext cx="10715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E07은 손실이 더 낮아도 F1은 낮다.</a:t>
            </a:r>
          </a:p>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교차엔트로피는 확률을, F1은 예측 클래스를 평가한다.</a:t>
            </a:r>
          </a:p>
        </p:txBody>
      </p:sp>
    </p:spTree>
    <p:extLst>
      <p:ext uri="{BB962C8B-B14F-4D97-AF65-F5344CB8AC3E}">
        <p14:creationId xmlns:p14="http://schemas.microsoft.com/office/powerpoint/2010/main" val="12441916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00A534-C912-4AF5-978E-DC75AFA49809}"/>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표현과 모델 크기</a:t>
            </a:r>
          </a:p>
        </p:txBody>
      </p:sp>
      <p:sp>
        <p:nvSpPr>
          <p:cNvPr id="2" name="">
            <a:extLst xmlns:a="http://schemas.openxmlformats.org/drawingml/2006/main">
              <a:ext uri="{FF2B5EF4-FFF2-40B4-BE49-F238E27FC236}">
                <a16:creationId xmlns:a16="http://schemas.microsoft.com/office/drawing/2014/main" id="{206BC24B-5A4F-4122-ACA7-A415E9064C68}"/>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PCA는 크기를 줄였고, 검증 F1도 낮아졌다</a:t>
            </a:r>
          </a:p>
        </p:txBody>
      </p:sp>
      <p:sp>
        <p:nvSpPr>
          <p:cNvPr id="3" name="">
            <a:extLst xmlns:a="http://schemas.openxmlformats.org/drawingml/2006/main">
              <a:ext uri="{FF2B5EF4-FFF2-40B4-BE49-F238E27FC236}">
                <a16:creationId xmlns:a16="http://schemas.microsoft.com/office/drawing/2014/main" id="{726962E8-C15A-44C3-A2FF-7019246D34D6}"/>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E03·E11은 입력 표현과 파라미터 수가 함께 변함</a:t>
            </a:r>
          </a:p>
        </p:txBody>
      </p:sp>
      <p:sp>
        <p:nvSpPr>
          <p:cNvPr id="4" name="">
            <a:extLst xmlns:a="http://schemas.openxmlformats.org/drawingml/2006/main">
              <a:ext uri="{FF2B5EF4-FFF2-40B4-BE49-F238E27FC236}">
                <a16:creationId xmlns:a16="http://schemas.microsoft.com/office/drawing/2014/main" id="{DC061074-5798-49B5-A71D-EE8870764EFF}"/>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20DC544E-4F4E-41E6-88FD-8D4055367C48}"/>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10</a:t>
            </a:r>
          </a:p>
        </p:txBody>
      </p:sp>
      <p:graphicFrame>
        <p:nvGraphicFramePr>
          <p:cNvPr id="14" name=""/>
          <p:cNvGraphicFramePr/>
          <p:nvPr/>
        </p:nvGraphicFramePr>
        <p:xfrm>
          <a:off xmlns:a="http://schemas.openxmlformats.org/drawingml/2006/main" x="619125" y="2324100"/>
          <a:ext xmlns:a="http://schemas.openxmlformats.org/drawingml/2006/main" cx="10953750" cy="2305050"/>
        </p:xfrm>
        <a:graphic xmlns:a="http://schemas.openxmlformats.org/drawingml/2006/main">
          <a:graphicData uri="http://schemas.openxmlformats.org/drawingml/2006/table">
            <a:tbl>
              <a:tblPr/>
              <a:tblGrid>
                <a:gridCol w="2952750"/>
                <a:gridCol w="2667000"/>
                <a:gridCol w="2667000"/>
                <a:gridCol w="2667000"/>
              </a:tblGrid>
              <a:tr h="576263">
                <a:tc>
                  <a:txBody>
                    <a:bodyPr/>
                    <a:lstStyle/>
                    <a:p>
                      <a:r>
                        <a:rPr sz="1875" b="1">
                          <a:solidFill>
                            <a:srgbClr val="FFFFFF"/>
                          </a:solidFill>
                          <a:latin typeface="Malgun Gothic"/>
                          <a:ea typeface="Malgun Gothic"/>
                          <a:cs typeface="Malgun Gothic"/>
                        </a:rPr>
                        <a:t>비교 항목</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E02 특징</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E03 시계열</a:t>
                      </a:r>
                    </a:p>
                  </a:txBody>
                  <a:tcPr marL="91440" marR="91440" marT="45720" marB="45720">
                    <a:solidFill>
                      <a:srgbClr val="17364A"/>
                    </a:solidFill>
                  </a:tcPr>
                </a:tc>
                <a:tc>
                  <a:txBody>
                    <a:bodyPr/>
                    <a:lstStyle/>
                    <a:p>
                      <a:r>
                        <a:rPr sz="1875" b="1">
                          <a:solidFill>
                            <a:srgbClr val="FFFFFF"/>
                          </a:solidFill>
                          <a:latin typeface="Malgun Gothic"/>
                          <a:ea typeface="Malgun Gothic"/>
                          <a:cs typeface="Malgun Gothic"/>
                        </a:rPr>
                        <a:t>E11 PCA</a:t>
                      </a:r>
                    </a:p>
                  </a:txBody>
                  <a:tcPr marL="91440" marR="91440" marT="45720" marB="45720">
                    <a:solidFill>
                      <a:srgbClr val="17364A"/>
                    </a:solidFill>
                  </a:tcPr>
                </a:tc>
              </a:tr>
              <a:tr h="576263">
                <a:tc>
                  <a:txBody>
                    <a:bodyPr/>
                    <a:lstStyle/>
                    <a:p>
                      <a:r>
                        <a:rPr sz="1875" b="0">
                          <a:solidFill>
                            <a:srgbClr val="17364A"/>
                          </a:solidFill>
                          <a:latin typeface="Malgun Gothic"/>
                          <a:ea typeface="Malgun Gothic"/>
                          <a:cs typeface="Malgun Gothic"/>
                        </a:rPr>
                        <a:t>입력 차원</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561</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1,152</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100</a:t>
                      </a:r>
                    </a:p>
                  </a:txBody>
                  <a:tcPr marL="91440" marR="91440" marT="45720" marB="45720">
                    <a:solidFill>
                      <a:srgbClr val="FFFFFF"/>
                    </a:solidFill>
                  </a:tcPr>
                </a:tc>
              </a:tr>
              <a:tr h="576263">
                <a:tc>
                  <a:txBody>
                    <a:bodyPr/>
                    <a:lstStyle/>
                    <a:p>
                      <a:r>
                        <a:rPr sz="1875" b="0">
                          <a:solidFill>
                            <a:srgbClr val="17364A"/>
                          </a:solidFill>
                          <a:latin typeface="Malgun Gothic"/>
                          <a:ea typeface="Malgun Gothic"/>
                          <a:cs typeface="Malgun Gothic"/>
                        </a:rPr>
                        <a:t>파라미터</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80,582</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156,230</a:t>
                      </a:r>
                    </a:p>
                  </a:txBody>
                  <a:tcPr marL="91440" marR="91440" marT="45720" marB="45720">
                    <a:solidFill>
                      <a:srgbClr val="F0F5F7"/>
                    </a:solidFill>
                  </a:tcPr>
                </a:tc>
                <a:tc>
                  <a:txBody>
                    <a:bodyPr/>
                    <a:lstStyle/>
                    <a:p>
                      <a:r>
                        <a:rPr sz="1875" b="0">
                          <a:solidFill>
                            <a:srgbClr val="17364A"/>
                          </a:solidFill>
                          <a:latin typeface="Malgun Gothic"/>
                          <a:ea typeface="Malgun Gothic"/>
                          <a:cs typeface="Malgun Gothic"/>
                        </a:rPr>
                        <a:t>21,574</a:t>
                      </a:r>
                    </a:p>
                  </a:txBody>
                  <a:tcPr marL="91440" marR="91440" marT="45720" marB="45720">
                    <a:solidFill>
                      <a:srgbClr val="F0F5F7"/>
                    </a:solidFill>
                  </a:tcPr>
                </a:tc>
              </a:tr>
              <a:tr h="576263">
                <a:tc>
                  <a:txBody>
                    <a:bodyPr/>
                    <a:lstStyle/>
                    <a:p>
                      <a:r>
                        <a:rPr sz="1875" b="0">
                          <a:solidFill>
                            <a:srgbClr val="17364A"/>
                          </a:solidFill>
                          <a:latin typeface="Malgun Gothic"/>
                          <a:ea typeface="Malgun Gothic"/>
                          <a:cs typeface="Malgun Gothic"/>
                        </a:rPr>
                        <a:t>Macro F1</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0.9138</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0.8765</a:t>
                      </a:r>
                    </a:p>
                  </a:txBody>
                  <a:tcPr marL="91440" marR="91440" marT="45720" marB="45720">
                    <a:solidFill>
                      <a:srgbClr val="FFFFFF"/>
                    </a:solidFill>
                  </a:tcPr>
                </a:tc>
                <a:tc>
                  <a:txBody>
                    <a:bodyPr/>
                    <a:lstStyle/>
                    <a:p>
                      <a:r>
                        <a:rPr sz="1875" b="0">
                          <a:solidFill>
                            <a:srgbClr val="17364A"/>
                          </a:solidFill>
                          <a:latin typeface="Malgun Gothic"/>
                          <a:ea typeface="Malgun Gothic"/>
                          <a:cs typeface="Malgun Gothic"/>
                        </a:rPr>
                        <a:t>0.8795</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52BC1B4-B7CD-47A7-BF9E-13E9818F6D54}"/>
              </a:ext>
            </a:extLst>
          </p:cNvPr>
          <p:cNvSpPr>
            <a:spLocks xmlns:a="http://schemas.openxmlformats.org/drawingml/2006/main" noGrp="1"/>
          </p:cNvSpPr>
          <p:nvPr/>
        </p:nvSpPr>
        <p:spPr>
          <a:xfrm xmlns:a="http://schemas.openxmlformats.org/drawingml/2006/main">
            <a:off x="666750" y="50196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6C77"/>
                </a:solidFill>
                <a:latin typeface="Malgun Gothic"/>
                <a:ea typeface="Malgun Gothic"/>
                <a:cs typeface="Malgun Gothic"/>
              </a:defRPr>
            </a:pPr>
            <a:r>
              <a:rPr sz="2325" b="1">
                <a:solidFill>
                  <a:srgbClr val="176C77"/>
                </a:solidFill>
                <a:latin typeface="Malgun Gothic"/>
                <a:ea typeface="Malgun Gothic"/>
                <a:cs typeface="Malgun Gothic"/>
              </a:rPr>
              <a:t>PCA: 파라미터 73.2% 감소 / Macro F1 3.43%p 감소</a:t>
            </a:r>
          </a:p>
        </p:txBody>
      </p:sp>
      <p:sp>
        <p:nvSpPr>
          <p:cNvPr id="8" name="">
            <a:extLst xmlns:a="http://schemas.openxmlformats.org/drawingml/2006/main">
              <a:ext uri="{FF2B5EF4-FFF2-40B4-BE49-F238E27FC236}">
                <a16:creationId xmlns:a16="http://schemas.microsoft.com/office/drawing/2014/main" id="{38321582-AE0E-4320-8893-0D02DC61D972}"/>
              </a:ext>
            </a:extLst>
          </p:cNvPr>
          <p:cNvSpPr>
            <a:spLocks xmlns:a="http://schemas.openxmlformats.org/drawingml/2006/main" noGrp="1"/>
          </p:cNvSpPr>
          <p:nvPr/>
        </p:nvSpPr>
        <p:spPr>
          <a:xfrm xmlns:a="http://schemas.openxmlformats.org/drawingml/2006/main">
            <a:off x="666750" y="57054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표현만의 효과나 추론 속도 개선으로 단정할 수 없다.</a:t>
            </a:r>
          </a:p>
        </p:txBody>
      </p:sp>
    </p:spTree>
    <p:extLst>
      <p:ext uri="{BB962C8B-B14F-4D97-AF65-F5344CB8AC3E}">
        <p14:creationId xmlns:p14="http://schemas.microsoft.com/office/powerpoint/2010/main" val="7352477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DD659F-09D3-4C6E-81CC-78E57537E685}"/>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E02 검증 오류</a:t>
            </a:r>
          </a:p>
        </p:txBody>
      </p:sp>
      <p:sp>
        <p:nvSpPr>
          <p:cNvPr id="2" name="">
            <a:extLst xmlns:a="http://schemas.openxmlformats.org/drawingml/2006/main">
              <a:ext uri="{FF2B5EF4-FFF2-40B4-BE49-F238E27FC236}">
                <a16:creationId xmlns:a16="http://schemas.microsoft.com/office/drawing/2014/main" id="{EED7A4AB-9750-4405-B227-B47CDC46C1ED}"/>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149개 오류 중 141개가 세 행동 쌍에 모였다</a:t>
            </a:r>
          </a:p>
        </p:txBody>
      </p:sp>
      <p:sp>
        <p:nvSpPr>
          <p:cNvPr id="3" name="">
            <a:extLst xmlns:a="http://schemas.openxmlformats.org/drawingml/2006/main">
              <a:ext uri="{FF2B5EF4-FFF2-40B4-BE49-F238E27FC236}">
                <a16:creationId xmlns:a16="http://schemas.microsoft.com/office/drawing/2014/main" id="{838D468E-DD1B-4174-92DE-A95CEEA8ED0F}"/>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양방향 혼동 횟수 · 표본별 예측으로 계산</a:t>
            </a:r>
          </a:p>
        </p:txBody>
      </p:sp>
      <p:sp>
        <p:nvSpPr>
          <p:cNvPr id="4" name="">
            <a:extLst xmlns:a="http://schemas.openxmlformats.org/drawingml/2006/main">
              <a:ext uri="{FF2B5EF4-FFF2-40B4-BE49-F238E27FC236}">
                <a16:creationId xmlns:a16="http://schemas.microsoft.com/office/drawing/2014/main" id="{02FAEAB6-C142-4FD0-BC40-BCA581BB7A8C}"/>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2B99D75A-660F-4E91-BE03-187F27FEFC8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11</a:t>
            </a:r>
          </a:p>
        </p:txBody>
      </p:sp>
      <p:graphicFrame>
        <p:nvGraphicFramePr>
          <p:cNvPr id="15" name="Chart"/>
          <p:cNvGraphicFramePr/>
          <p:nvPr/>
        </p:nvGraphicFramePr>
        <p:xfrm>
          <a:off xmlns:a="http://schemas.openxmlformats.org/drawingml/2006/main" x="647700" y="2266950"/>
          <a:ext xmlns:a="http://schemas.openxmlformats.org/drawingml/2006/main" cx="8067675" cy="3505200"/>
        </p:xfrm>
        <a:graphic xmlns:a="http://schemas.openxmlformats.org/drawingml/2006/main">
          <a:graphicData uri="http://schemas.openxmlformats.org/drawingml/2006/chart">
            <c:chart xmlns:r="http://schemas.openxmlformats.org/officeDocument/2006/relationships" xmlns:c="http://schemas.openxmlformats.org/drawingml/2006/chart" r:id="Rbb8677c776224e59"/>
          </a:graphicData>
        </a:graphic>
      </p:graphicFrame>
      <p:sp>
        <p:nvSpPr>
          <p:cNvPr id="7" name="">
            <a:extLst xmlns:a="http://schemas.openxmlformats.org/drawingml/2006/main">
              <a:ext uri="{FF2B5EF4-FFF2-40B4-BE49-F238E27FC236}">
                <a16:creationId xmlns:a16="http://schemas.microsoft.com/office/drawing/2014/main" id="{DBC43185-3680-42F6-93C4-680EC0D73A9A}"/>
              </a:ext>
            </a:extLst>
          </p:cNvPr>
          <p:cNvSpPr>
            <a:spLocks xmlns:a="http://schemas.openxmlformats.org/drawingml/2006/main" noGrp="1"/>
          </p:cNvSpPr>
          <p:nvPr/>
        </p:nvSpPr>
        <p:spPr>
          <a:xfrm xmlns:a="http://schemas.openxmlformats.org/drawingml/2006/main">
            <a:off x="9058275" y="2733675"/>
            <a:ext cx="2647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B86236"/>
                </a:solidFill>
                <a:latin typeface="Malgun Gothic"/>
                <a:ea typeface="Malgun Gothic"/>
                <a:cs typeface="Malgun Gothic"/>
              </a:defRPr>
            </a:pPr>
            <a:r>
              <a:rPr sz="3450" b="1">
                <a:solidFill>
                  <a:srgbClr val="B86236"/>
                </a:solidFill>
                <a:latin typeface="Malgun Gothic"/>
                <a:ea typeface="Malgun Gothic"/>
                <a:cs typeface="Malgun Gothic"/>
              </a:rPr>
              <a:t>82.81%</a:t>
            </a:r>
          </a:p>
        </p:txBody>
      </p:sp>
      <p:sp>
        <p:nvSpPr>
          <p:cNvPr id="8" name="">
            <a:extLst xmlns:a="http://schemas.openxmlformats.org/drawingml/2006/main">
              <a:ext uri="{FF2B5EF4-FFF2-40B4-BE49-F238E27FC236}">
                <a16:creationId xmlns:a16="http://schemas.microsoft.com/office/drawing/2014/main" id="{7BD43405-4652-461E-B5EB-03CB3C584554}"/>
              </a:ext>
            </a:extLst>
          </p:cNvPr>
          <p:cNvSpPr>
            <a:spLocks xmlns:a="http://schemas.openxmlformats.org/drawingml/2006/main" noGrp="1"/>
          </p:cNvSpPr>
          <p:nvPr/>
        </p:nvSpPr>
        <p:spPr>
          <a:xfrm xmlns:a="http://schemas.openxmlformats.org/drawingml/2006/main">
            <a:off x="9105900" y="37719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64A"/>
                </a:solidFill>
                <a:latin typeface="Malgun Gothic"/>
                <a:ea typeface="Malgun Gothic"/>
                <a:cs typeface="Malgun Gothic"/>
              </a:defRPr>
            </a:pPr>
            <a:r>
              <a:rPr sz="1875" b="1">
                <a:solidFill>
                  <a:srgbClr val="17364A"/>
                </a:solidFill>
                <a:latin typeface="Malgun Gothic"/>
                <a:ea typeface="Malgun Gothic"/>
                <a:cs typeface="Malgun Gothic"/>
              </a:rPr>
              <a:t>계단 오르기 재현율</a:t>
            </a:r>
          </a:p>
          <a:p xmlns:a="http://schemas.openxmlformats.org/drawingml/2006/main">
            <a:pPr>
              <a:defRPr sz="1875" b="1">
                <a:solidFill>
                  <a:srgbClr val="17364A"/>
                </a:solidFill>
                <a:latin typeface="Malgun Gothic"/>
                <a:ea typeface="Malgun Gothic"/>
                <a:cs typeface="Malgun Gothic"/>
              </a:defRPr>
            </a:pPr>
            <a:r>
              <a:rPr sz="1875" b="1">
                <a:solidFill>
                  <a:srgbClr val="17364A"/>
                </a:solidFill>
                <a:latin typeface="Malgun Gothic"/>
                <a:ea typeface="Malgun Gothic"/>
                <a:cs typeface="Malgun Gothic"/>
              </a:rPr>
              <a:t>6개 클래스 중 최저</a:t>
            </a:r>
          </a:p>
        </p:txBody>
      </p:sp>
      <p:sp>
        <p:nvSpPr>
          <p:cNvPr id="9" name="">
            <a:extLst xmlns:a="http://schemas.openxmlformats.org/drawingml/2006/main">
              <a:ext uri="{FF2B5EF4-FFF2-40B4-BE49-F238E27FC236}">
                <a16:creationId xmlns:a16="http://schemas.microsoft.com/office/drawing/2014/main" id="{20B8BE6B-6DB9-424A-92BA-6B510D2A2B6A}"/>
              </a:ext>
            </a:extLst>
          </p:cNvPr>
          <p:cNvSpPr>
            <a:spLocks xmlns:a="http://schemas.openxmlformats.org/drawingml/2006/main" noGrp="1"/>
          </p:cNvSpPr>
          <p:nvPr/>
        </p:nvSpPr>
        <p:spPr>
          <a:xfrm xmlns:a="http://schemas.openxmlformats.org/drawingml/2006/main">
            <a:off x="9105900" y="4953000"/>
            <a:ext cx="26098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오류 원인 확정에는</a:t>
            </a:r>
          </a:p>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신호·사람별</a:t>
            </a:r>
          </a:p>
          <a:p xmlns:a="http://schemas.openxmlformats.org/drawingml/2006/main">
            <a:pPr>
              <a:defRPr sz="1875" b="0">
                <a:solidFill>
                  <a:srgbClr val="17364A"/>
                </a:solidFill>
                <a:latin typeface="Malgun Gothic"/>
                <a:ea typeface="Malgun Gothic"/>
                <a:cs typeface="Malgun Gothic"/>
              </a:defRPr>
            </a:pPr>
            <a:r>
              <a:rPr sz="1875" b="0">
                <a:solidFill>
                  <a:srgbClr val="17364A"/>
                </a:solidFill>
                <a:latin typeface="Malgun Gothic"/>
                <a:ea typeface="Malgun Gothic"/>
                <a:cs typeface="Malgun Gothic"/>
              </a:rPr>
              <a:t>후속 분석 필요</a:t>
            </a:r>
          </a:p>
        </p:txBody>
      </p:sp>
    </p:spTree>
    <p:extLst>
      <p:ext uri="{BB962C8B-B14F-4D97-AF65-F5344CB8AC3E}">
        <p14:creationId xmlns:p14="http://schemas.microsoft.com/office/powerpoint/2010/main" val="874467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45D0CE-D575-4BFF-9700-2048396FBAAD}"/>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정리 · 다음 단계</a:t>
            </a:r>
          </a:p>
        </p:txBody>
      </p:sp>
      <p:sp>
        <p:nvSpPr>
          <p:cNvPr id="2" name="">
            <a:extLst xmlns:a="http://schemas.openxmlformats.org/drawingml/2006/main">
              <a:ext uri="{FF2B5EF4-FFF2-40B4-BE49-F238E27FC236}">
                <a16:creationId xmlns:a16="http://schemas.microsoft.com/office/drawing/2014/main" id="{DE792AD0-2B10-4323-A28F-38F55765CAB9}"/>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모델 성능과 함께 재현 가능한 근거를 남겼다</a:t>
            </a:r>
          </a:p>
        </p:txBody>
      </p:sp>
      <p:sp>
        <p:nvSpPr>
          <p:cNvPr id="3" name="">
            <a:extLst xmlns:a="http://schemas.openxmlformats.org/drawingml/2006/main">
              <a:ext uri="{FF2B5EF4-FFF2-40B4-BE49-F238E27FC236}">
                <a16:creationId xmlns:a16="http://schemas.microsoft.com/office/drawing/2014/main" id="{8DD14096-1CE0-49E2-BBEC-51145D04E925}"/>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구현 결과를 다른 담당자가 다시 확인할 수 있도록 전달</a:t>
            </a:r>
          </a:p>
        </p:txBody>
      </p:sp>
      <p:sp>
        <p:nvSpPr>
          <p:cNvPr id="4" name="">
            <a:extLst xmlns:a="http://schemas.openxmlformats.org/drawingml/2006/main">
              <a:ext uri="{FF2B5EF4-FFF2-40B4-BE49-F238E27FC236}">
                <a16:creationId xmlns:a16="http://schemas.microsoft.com/office/drawing/2014/main" id="{C2405AEA-AADC-473D-8837-C0169B629116}"/>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65D7FCA0-A96B-4A49-B774-E9146771972D}"/>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12</a:t>
            </a:r>
          </a:p>
        </p:txBody>
      </p:sp>
      <p:sp>
        <p:nvSpPr>
          <p:cNvPr id="6" name="">
            <a:extLst xmlns:a="http://schemas.openxmlformats.org/drawingml/2006/main">
              <a:ext uri="{FF2B5EF4-FFF2-40B4-BE49-F238E27FC236}">
                <a16:creationId xmlns:a16="http://schemas.microsoft.com/office/drawing/2014/main" id="{EF9230B7-6796-4D8C-AEC5-3B7F77E6AE0E}"/>
              </a:ext>
            </a:extLst>
          </p:cNvPr>
          <p:cNvSpPr>
            <a:spLocks xmlns:a="http://schemas.openxmlformats.org/drawingml/2006/main" noGrp="1"/>
          </p:cNvSpPr>
          <p:nvPr/>
        </p:nvSpPr>
        <p:spPr>
          <a:xfrm xmlns:a="http://schemas.openxmlformats.org/drawingml/2006/main">
            <a:off x="638175" y="22002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확인한 결과</a:t>
            </a:r>
          </a:p>
        </p:txBody>
      </p:sp>
      <p:sp>
        <p:nvSpPr>
          <p:cNvPr id="7" name="">
            <a:extLst xmlns:a="http://schemas.openxmlformats.org/drawingml/2006/main">
              <a:ext uri="{FF2B5EF4-FFF2-40B4-BE49-F238E27FC236}">
                <a16:creationId xmlns:a16="http://schemas.microsoft.com/office/drawing/2014/main" id="{33A62EFA-8F38-49C0-88B0-E46F2A1CE443}"/>
              </a:ext>
            </a:extLst>
          </p:cNvPr>
          <p:cNvSpPr>
            <a:spLocks xmlns:a="http://schemas.openxmlformats.org/drawingml/2006/main" noGrp="1"/>
          </p:cNvSpPr>
          <p:nvPr/>
        </p:nvSpPr>
        <p:spPr>
          <a:xfrm xmlns:a="http://schemas.openxmlformats.org/drawingml/2006/main">
            <a:off x="3429000" y="22002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테스트 8개 · 실행 노트북 3개 · 재로딩 7모델</a:t>
            </a:r>
          </a:p>
        </p:txBody>
      </p:sp>
      <p:sp>
        <p:nvSpPr>
          <p:cNvPr id="8" name="">
            <a:extLst xmlns:a="http://schemas.openxmlformats.org/drawingml/2006/main">
              <a:ext uri="{FF2B5EF4-FFF2-40B4-BE49-F238E27FC236}">
                <a16:creationId xmlns:a16="http://schemas.microsoft.com/office/drawing/2014/main" id="{5FAC2F73-0B18-4D51-9B27-930DD8A3BE4C}"/>
              </a:ext>
            </a:extLst>
          </p:cNvPr>
          <p:cNvSpPr>
            <a:spLocks xmlns:a="http://schemas.openxmlformats.org/drawingml/2006/main" noGrp="1"/>
          </p:cNvSpPr>
          <p:nvPr/>
        </p:nvSpPr>
        <p:spPr>
          <a:xfrm xmlns:a="http://schemas.openxmlformats.org/drawingml/2006/main">
            <a:off x="638175" y="3095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재로딩 근거</a:t>
            </a:r>
          </a:p>
        </p:txBody>
      </p:sp>
      <p:sp>
        <p:nvSpPr>
          <p:cNvPr id="9" name="">
            <a:extLst xmlns:a="http://schemas.openxmlformats.org/drawingml/2006/main">
              <a:ext uri="{FF2B5EF4-FFF2-40B4-BE49-F238E27FC236}">
                <a16:creationId xmlns:a16="http://schemas.microsoft.com/office/drawing/2014/main" id="{91AC3E90-0D6C-480A-9BD3-CF2921870431}"/>
              </a:ext>
            </a:extLst>
          </p:cNvPr>
          <p:cNvSpPr>
            <a:spLocks xmlns:a="http://schemas.openxmlformats.org/drawingml/2006/main" noGrp="1"/>
          </p:cNvSpPr>
          <p:nvPr/>
        </p:nvSpPr>
        <p:spPr>
          <a:xfrm xmlns:a="http://schemas.openxmlformats.org/drawingml/2006/main">
            <a:off x="3429000" y="30956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각 1,775개 검증 예측 일치 / 최대 확률 차이 0</a:t>
            </a:r>
          </a:p>
        </p:txBody>
      </p:sp>
      <p:sp>
        <p:nvSpPr>
          <p:cNvPr id="10" name="">
            <a:extLst xmlns:a="http://schemas.openxmlformats.org/drawingml/2006/main">
              <a:ext uri="{FF2B5EF4-FFF2-40B4-BE49-F238E27FC236}">
                <a16:creationId xmlns:a16="http://schemas.microsoft.com/office/drawing/2014/main" id="{9F332D4F-5D69-48BA-B116-B8E9CA765018}"/>
              </a:ext>
            </a:extLst>
          </p:cNvPr>
          <p:cNvSpPr>
            <a:spLocks xmlns:a="http://schemas.openxmlformats.org/drawingml/2006/main" noGrp="1"/>
          </p:cNvSpPr>
          <p:nvPr/>
        </p:nvSpPr>
        <p:spPr>
          <a:xfrm xmlns:a="http://schemas.openxmlformats.org/drawingml/2006/main">
            <a:off x="638175" y="39909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전달 산출물</a:t>
            </a:r>
          </a:p>
        </p:txBody>
      </p:sp>
      <p:sp>
        <p:nvSpPr>
          <p:cNvPr id="11" name="">
            <a:extLst xmlns:a="http://schemas.openxmlformats.org/drawingml/2006/main">
              <a:ext uri="{FF2B5EF4-FFF2-40B4-BE49-F238E27FC236}">
                <a16:creationId xmlns:a16="http://schemas.microsoft.com/office/drawing/2014/main" id="{07BA554B-772C-4A09-BCF1-854365C0A860}"/>
              </a:ext>
            </a:extLst>
          </p:cNvPr>
          <p:cNvSpPr>
            <a:spLocks xmlns:a="http://schemas.openxmlformats.org/drawingml/2006/main" noGrp="1"/>
          </p:cNvSpPr>
          <p:nvPr/>
        </p:nvSpPr>
        <p:spPr>
          <a:xfrm xmlns:a="http://schemas.openxmlformats.org/drawingml/2006/main">
            <a:off x="3429000" y="39909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코드 · 설정 · 모델 · 전처리 · 예측 · 문서</a:t>
            </a:r>
          </a:p>
        </p:txBody>
      </p:sp>
      <p:sp>
        <p:nvSpPr>
          <p:cNvPr id="12" name="">
            <a:extLst xmlns:a="http://schemas.openxmlformats.org/drawingml/2006/main">
              <a:ext uri="{FF2B5EF4-FFF2-40B4-BE49-F238E27FC236}">
                <a16:creationId xmlns:a16="http://schemas.microsoft.com/office/drawing/2014/main" id="{81D687B4-85D6-4D47-9457-597938EEBEE7}"/>
              </a:ext>
            </a:extLst>
          </p:cNvPr>
          <p:cNvSpPr>
            <a:spLocks xmlns:a="http://schemas.openxmlformats.org/drawingml/2006/main" noGrp="1"/>
          </p:cNvSpPr>
          <p:nvPr/>
        </p:nvSpPr>
        <p:spPr>
          <a:xfrm xmlns:a="http://schemas.openxmlformats.org/drawingml/2006/main">
            <a:off x="638175" y="48863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남은 검증</a:t>
            </a:r>
          </a:p>
        </p:txBody>
      </p:sp>
      <p:sp>
        <p:nvSpPr>
          <p:cNvPr id="13" name="">
            <a:extLst xmlns:a="http://schemas.openxmlformats.org/drawingml/2006/main">
              <a:ext uri="{FF2B5EF4-FFF2-40B4-BE49-F238E27FC236}">
                <a16:creationId xmlns:a16="http://schemas.microsoft.com/office/drawing/2014/main" id="{8C3029D6-38F1-43C5-B4EA-AEA0EFEC1BB3}"/>
              </a:ext>
            </a:extLst>
          </p:cNvPr>
          <p:cNvSpPr>
            <a:spLocks xmlns:a="http://schemas.openxmlformats.org/drawingml/2006/main" noGrp="1"/>
          </p:cNvSpPr>
          <p:nvPr/>
        </p:nvSpPr>
        <p:spPr>
          <a:xfrm xmlns:a="http://schemas.openxmlformats.org/drawingml/2006/main">
            <a:off x="3429000" y="48863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팀 모듈 통합 · 반복 seed · 공식 test · 시연</a:t>
            </a:r>
          </a:p>
        </p:txBody>
      </p:sp>
    </p:spTree>
    <p:extLst>
      <p:ext uri="{BB962C8B-B14F-4D97-AF65-F5344CB8AC3E}">
        <p14:creationId xmlns:p14="http://schemas.microsoft.com/office/powerpoint/2010/main" val="2840141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4E1B6-3B5A-4A33-9F00-EC1BE8297558}"/>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1</a:t>
            </a:r>
          </a:p>
        </p:txBody>
      </p:sp>
      <p:sp>
        <p:nvSpPr>
          <p:cNvPr id="2" name="">
            <a:extLst xmlns:a="http://schemas.openxmlformats.org/drawingml/2006/main">
              <a:ext uri="{FF2B5EF4-FFF2-40B4-BE49-F238E27FC236}">
                <a16:creationId xmlns:a16="http://schemas.microsoft.com/office/drawing/2014/main" id="{3339286A-9016-4A6F-87F3-941CAF61FB39}"/>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전체 실험 수치</a:t>
            </a:r>
          </a:p>
        </p:txBody>
      </p:sp>
      <p:sp>
        <p:nvSpPr>
          <p:cNvPr id="3" name="">
            <a:extLst xmlns:a="http://schemas.openxmlformats.org/drawingml/2006/main">
              <a:ext uri="{FF2B5EF4-FFF2-40B4-BE49-F238E27FC236}">
                <a16:creationId xmlns:a16="http://schemas.microsoft.com/office/drawing/2014/main" id="{E466CFCA-1782-477E-B770-34832B9A205B}"/>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검증 분할 고정 · seed 2026 · 최선 가중치 복원 후 계산</a:t>
            </a:r>
          </a:p>
        </p:txBody>
      </p:sp>
      <p:sp>
        <p:nvSpPr>
          <p:cNvPr id="4" name="">
            <a:extLst xmlns:a="http://schemas.openxmlformats.org/drawingml/2006/main">
              <a:ext uri="{FF2B5EF4-FFF2-40B4-BE49-F238E27FC236}">
                <a16:creationId xmlns:a16="http://schemas.microsoft.com/office/drawing/2014/main" id="{1E28AB6E-748B-4A37-9210-FB3259CB96A9}"/>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FF4BB0F5-DB2E-4940-A9BA-548EB6FE4AF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13</a:t>
            </a:r>
          </a:p>
        </p:txBody>
      </p:sp>
      <p:graphicFrame>
        <p:nvGraphicFramePr>
          <p:cNvPr id="13" name=""/>
          <p:cNvGraphicFramePr/>
          <p:nvPr/>
        </p:nvGraphicFramePr>
        <p:xfrm>
          <a:off xmlns:a="http://schemas.openxmlformats.org/drawingml/2006/main" x="619125" y="2200275"/>
          <a:ext xmlns:a="http://schemas.openxmlformats.org/drawingml/2006/main" cx="10953750" cy="3371850"/>
        </p:xfrm>
        <a:graphic xmlns:a="http://schemas.openxmlformats.org/drawingml/2006/main">
          <a:graphicData uri="http://schemas.openxmlformats.org/drawingml/2006/table">
            <a:tbl>
              <a:tblPr/>
              <a:tblGrid>
                <a:gridCol w="1000125"/>
                <a:gridCol w="2343150"/>
                <a:gridCol w="2343150"/>
                <a:gridCol w="2667000"/>
                <a:gridCol w="2600325"/>
              </a:tblGrid>
              <a:tr h="421481">
                <a:tc>
                  <a:txBody>
                    <a:bodyPr/>
                    <a:lstStyle/>
                    <a:p>
                      <a:r>
                        <a:rPr sz="1800" b="1">
                          <a:solidFill>
                            <a:srgbClr val="FFFFFF"/>
                          </a:solidFill>
                          <a:latin typeface="Malgun Gothic"/>
                          <a:ea typeface="Malgun Gothic"/>
                          <a:cs typeface="Malgun Gothic"/>
                        </a:rPr>
                        <a:t>ID</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Accuracy</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Macro F1</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파라미터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최선/실행</a:t>
                      </a:r>
                    </a:p>
                  </a:txBody>
                  <a:tcPr marL="91440" marR="91440" marT="45720" marB="45720">
                    <a:solidFill>
                      <a:srgbClr val="17364A"/>
                    </a:solidFill>
                  </a:tcPr>
                </a:tc>
              </a:tr>
              <a:tr h="421481">
                <a:tc>
                  <a:txBody>
                    <a:bodyPr/>
                    <a:lstStyle/>
                    <a:p>
                      <a:r>
                        <a:rPr sz="1800" b="0">
                          <a:solidFill>
                            <a:srgbClr val="17364A"/>
                          </a:solidFill>
                          <a:latin typeface="Malgun Gothic"/>
                          <a:ea typeface="Malgun Gothic"/>
                          <a:cs typeface="Malgun Gothic"/>
                        </a:rPr>
                        <a:t>E02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0.9161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0.9138</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80,582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2/8</a:t>
                      </a:r>
                    </a:p>
                  </a:txBody>
                  <a:tcPr marL="91440" marR="91440" marT="45720" marB="45720">
                    <a:solidFill>
                      <a:srgbClr val="FFFFFF"/>
                    </a:solidFill>
                  </a:tcPr>
                </a:tc>
              </a:tr>
              <a:tr h="421481">
                <a:tc>
                  <a:txBody>
                    <a:bodyPr/>
                    <a:lstStyle/>
                    <a:p>
                      <a:r>
                        <a:rPr sz="1800" b="0">
                          <a:solidFill>
                            <a:srgbClr val="17364A"/>
                          </a:solidFill>
                          <a:latin typeface="Malgun Gothic"/>
                          <a:ea typeface="Malgun Gothic"/>
                          <a:cs typeface="Malgun Gothic"/>
                        </a:rPr>
                        <a:t>E03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0.8783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0.8765</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156,230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4/10</a:t>
                      </a:r>
                    </a:p>
                  </a:txBody>
                  <a:tcPr marL="91440" marR="91440" marT="45720" marB="45720">
                    <a:solidFill>
                      <a:srgbClr val="F0F5F7"/>
                    </a:solidFill>
                  </a:tcPr>
                </a:tc>
              </a:tr>
              <a:tr h="421481">
                <a:tc>
                  <a:txBody>
                    <a:bodyPr/>
                    <a:lstStyle/>
                    <a:p>
                      <a:r>
                        <a:rPr sz="1800" b="0">
                          <a:solidFill>
                            <a:srgbClr val="17364A"/>
                          </a:solidFill>
                          <a:latin typeface="Malgun Gothic"/>
                          <a:ea typeface="Malgun Gothic"/>
                          <a:cs typeface="Malgun Gothic"/>
                        </a:rPr>
                        <a:t>E07</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0.8873</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0.8864</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80,582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2/8</a:t>
                      </a:r>
                    </a:p>
                  </a:txBody>
                  <a:tcPr marL="91440" marR="91440" marT="45720" marB="45720">
                    <a:solidFill>
                      <a:srgbClr val="FFFFFF"/>
                    </a:solidFill>
                  </a:tcPr>
                </a:tc>
              </a:tr>
              <a:tr h="421481">
                <a:tc>
                  <a:txBody>
                    <a:bodyPr/>
                    <a:lstStyle/>
                    <a:p>
                      <a:r>
                        <a:rPr sz="1800" b="0">
                          <a:solidFill>
                            <a:srgbClr val="17364A"/>
                          </a:solidFill>
                          <a:latin typeface="Malgun Gothic"/>
                          <a:ea typeface="Malgun Gothic"/>
                          <a:cs typeface="Malgun Gothic"/>
                        </a:rPr>
                        <a:t>E08</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0.8952</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0.8940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80,582</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2/8</a:t>
                      </a:r>
                    </a:p>
                  </a:txBody>
                  <a:tcPr marL="91440" marR="91440" marT="45720" marB="45720">
                    <a:solidFill>
                      <a:srgbClr val="F0F5F7"/>
                    </a:solidFill>
                  </a:tcPr>
                </a:tc>
              </a:tr>
              <a:tr h="421481">
                <a:tc>
                  <a:txBody>
                    <a:bodyPr/>
                    <a:lstStyle/>
                    <a:p>
                      <a:r>
                        <a:rPr sz="1800" b="0">
                          <a:solidFill>
                            <a:srgbClr val="17364A"/>
                          </a:solidFill>
                          <a:latin typeface="Malgun Gothic"/>
                          <a:ea typeface="Malgun Gothic"/>
                          <a:cs typeface="Malgun Gothic"/>
                        </a:rPr>
                        <a:t>E09</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0.8772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0.8749</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80,582</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2/8</a:t>
                      </a:r>
                    </a:p>
                  </a:txBody>
                  <a:tcPr marL="91440" marR="91440" marT="45720" marB="45720">
                    <a:solidFill>
                      <a:srgbClr val="FFFFFF"/>
                    </a:solidFill>
                  </a:tcPr>
                </a:tc>
              </a:tr>
              <a:tr h="421481">
                <a:tc>
                  <a:txBody>
                    <a:bodyPr/>
                    <a:lstStyle/>
                    <a:p>
                      <a:r>
                        <a:rPr sz="1800" b="0">
                          <a:solidFill>
                            <a:srgbClr val="17364A"/>
                          </a:solidFill>
                          <a:latin typeface="Malgun Gothic"/>
                          <a:ea typeface="Malgun Gothic"/>
                          <a:cs typeface="Malgun Gothic"/>
                        </a:rPr>
                        <a:t>E10</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0.8913</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0.8899</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80,582</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1/7</a:t>
                      </a:r>
                    </a:p>
                  </a:txBody>
                  <a:tcPr marL="91440" marR="91440" marT="45720" marB="45720">
                    <a:solidFill>
                      <a:srgbClr val="F0F5F7"/>
                    </a:solidFill>
                  </a:tcPr>
                </a:tc>
              </a:tr>
              <a:tr h="421481">
                <a:tc>
                  <a:txBody>
                    <a:bodyPr/>
                    <a:lstStyle/>
                    <a:p>
                      <a:r>
                        <a:rPr sz="1800" b="0">
                          <a:solidFill>
                            <a:srgbClr val="17364A"/>
                          </a:solidFill>
                          <a:latin typeface="Malgun Gothic"/>
                          <a:ea typeface="Malgun Gothic"/>
                          <a:cs typeface="Malgun Gothic"/>
                        </a:rPr>
                        <a:t>E11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0.8811</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0.8795</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21,574</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1/7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3F25497-D825-4213-922D-F0791CC0B86C}"/>
              </a:ext>
            </a:extLst>
          </p:cNvPr>
          <p:cNvSpPr>
            <a:spLocks xmlns:a="http://schemas.openxmlformats.org/drawingml/2006/main" noGrp="1"/>
          </p:cNvSpPr>
          <p:nvPr/>
        </p:nvSpPr>
        <p:spPr>
          <a:xfrm xmlns:a="http://schemas.openxmlformats.org/drawingml/2006/main">
            <a:off x="666750" y="58388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Malgun Gothic"/>
                <a:ea typeface="Malgun Gothic"/>
                <a:cs typeface="Malgun Gothic"/>
              </a:defRPr>
            </a:pPr>
            <a:r>
              <a:rPr sz="1800" b="0">
                <a:solidFill>
                  <a:srgbClr val="596B77"/>
                </a:solidFill>
                <a:latin typeface="Malgun Gothic"/>
                <a:ea typeface="Malgun Gothic"/>
                <a:cs typeface="Malgun Gothic"/>
              </a:rPr>
              <a:t>학습 시간은 4.48–5.87초: model.fit 범위이며 추론 시간이 아니다.</a:t>
            </a:r>
          </a:p>
        </p:txBody>
      </p:sp>
    </p:spTree>
    <p:extLst>
      <p:ext uri="{BB962C8B-B14F-4D97-AF65-F5344CB8AC3E}">
        <p14:creationId xmlns:p14="http://schemas.microsoft.com/office/powerpoint/2010/main" val="21079579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E2030B-9959-4DB7-A549-A09A8366F40B}"/>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2</a:t>
            </a:r>
          </a:p>
        </p:txBody>
      </p:sp>
      <p:sp>
        <p:nvSpPr>
          <p:cNvPr id="2" name="">
            <a:extLst xmlns:a="http://schemas.openxmlformats.org/drawingml/2006/main">
              <a:ext uri="{FF2B5EF4-FFF2-40B4-BE49-F238E27FC236}">
                <a16:creationId xmlns:a16="http://schemas.microsoft.com/office/drawing/2014/main" id="{19382C77-1B75-474C-9F28-FBEDA56B5DEB}"/>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기울기 검증의 세부 결과</a:t>
            </a:r>
          </a:p>
        </p:txBody>
      </p:sp>
      <p:sp>
        <p:nvSpPr>
          <p:cNvPr id="3" name="">
            <a:extLst xmlns:a="http://schemas.openxmlformats.org/drawingml/2006/main">
              <a:ext uri="{FF2B5EF4-FFF2-40B4-BE49-F238E27FC236}">
                <a16:creationId xmlns:a16="http://schemas.microsoft.com/office/drawing/2014/main" id="{3CEAF351-A942-4755-A6D9-659C21A35B0A}"/>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2 → 3 tanh → 2 logits / float64 / 파라미터 17개</a:t>
            </a:r>
          </a:p>
        </p:txBody>
      </p:sp>
      <p:sp>
        <p:nvSpPr>
          <p:cNvPr id="4" name="">
            <a:extLst xmlns:a="http://schemas.openxmlformats.org/drawingml/2006/main">
              <a:ext uri="{FF2B5EF4-FFF2-40B4-BE49-F238E27FC236}">
                <a16:creationId xmlns:a16="http://schemas.microsoft.com/office/drawing/2014/main" id="{0936835E-EE66-4D65-A0C8-95AE1F8D4D89}"/>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272DC63D-6F00-49FF-AD35-1D85DE64C696}"/>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14</a:t>
            </a:r>
          </a:p>
        </p:txBody>
      </p:sp>
      <p:graphicFrame>
        <p:nvGraphicFramePr>
          <p:cNvPr id="14" name=""/>
          <p:cNvGraphicFramePr/>
          <p:nvPr/>
        </p:nvGraphicFramePr>
        <p:xfrm>
          <a:off xmlns:a="http://schemas.openxmlformats.org/drawingml/2006/main" x="619125" y="2324100"/>
          <a:ext xmlns:a="http://schemas.openxmlformats.org/drawingml/2006/main" cx="10953750" cy="2276475"/>
        </p:xfrm>
        <a:graphic xmlns:a="http://schemas.openxmlformats.org/drawingml/2006/main">
          <a:graphicData uri="http://schemas.openxmlformats.org/drawingml/2006/table">
            <a:tbl>
              <a:tblPr/>
              <a:tblGrid>
                <a:gridCol w="3143250"/>
                <a:gridCol w="5048250"/>
                <a:gridCol w="2762250"/>
              </a:tblGrid>
              <a:tr h="569119">
                <a:tc>
                  <a:txBody>
                    <a:bodyPr/>
                    <a:lstStyle/>
                    <a:p>
                      <a:r>
                        <a:rPr sz="2025" b="1">
                          <a:solidFill>
                            <a:srgbClr val="FFFFFF"/>
                          </a:solidFill>
                          <a:latin typeface="Malgun Gothic"/>
                          <a:ea typeface="Malgun Gothic"/>
                          <a:cs typeface="Malgun Gothic"/>
                        </a:rPr>
                        <a:t>중심차분 h</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최대 상대 오차</a:t>
                      </a:r>
                    </a:p>
                  </a:txBody>
                  <a:tcPr marL="91440" marR="91440" marT="45720" marB="45720">
                    <a:solidFill>
                      <a:srgbClr val="17364A"/>
                    </a:solidFill>
                  </a:tcPr>
                </a:tc>
                <a:tc>
                  <a:txBody>
                    <a:bodyPr/>
                    <a:lstStyle/>
                    <a:p>
                      <a:r>
                        <a:rPr sz="2025" b="1">
                          <a:solidFill>
                            <a:srgbClr val="FFFFFF"/>
                          </a:solidFill>
                          <a:latin typeface="Malgun Gothic"/>
                          <a:ea typeface="Malgun Gothic"/>
                          <a:cs typeface="Malgun Gothic"/>
                        </a:rPr>
                        <a:t>비교 수</a:t>
                      </a:r>
                    </a:p>
                  </a:txBody>
                  <a:tcPr marL="91440" marR="91440" marT="45720" marB="45720">
                    <a:solidFill>
                      <a:srgbClr val="17364A"/>
                    </a:solidFill>
                  </a:tcPr>
                </a:tc>
              </a:tr>
              <a:tr h="569119">
                <a:tc>
                  <a:txBody>
                    <a:bodyPr/>
                    <a:lstStyle/>
                    <a:p>
                      <a:r>
                        <a:rPr sz="2025" b="0">
                          <a:solidFill>
                            <a:srgbClr val="17364A"/>
                          </a:solidFill>
                          <a:latin typeface="Malgun Gothic"/>
                          <a:ea typeface="Malgun Gothic"/>
                          <a:cs typeface="Malgun Gothic"/>
                        </a:rPr>
                        <a:t>0.001</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8.1377 × 10⁻⁷</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17</a:t>
                      </a:r>
                    </a:p>
                  </a:txBody>
                  <a:tcPr marL="91440" marR="91440" marT="45720" marB="45720">
                    <a:solidFill>
                      <a:srgbClr val="FFFFFF"/>
                    </a:solidFill>
                  </a:tcPr>
                </a:tc>
              </a:tr>
              <a:tr h="569119">
                <a:tc>
                  <a:txBody>
                    <a:bodyPr/>
                    <a:lstStyle/>
                    <a:p>
                      <a:r>
                        <a:rPr sz="2025" b="0">
                          <a:solidFill>
                            <a:srgbClr val="17364A"/>
                          </a:solidFill>
                          <a:latin typeface="Malgun Gothic"/>
                          <a:ea typeface="Malgun Gothic"/>
                          <a:cs typeface="Malgun Gothic"/>
                        </a:rPr>
                        <a:t>0.0001</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8.6550 × 10⁻⁹</a:t>
                      </a:r>
                    </a:p>
                  </a:txBody>
                  <a:tcPr marL="91440" marR="91440" marT="45720" marB="45720">
                    <a:solidFill>
                      <a:srgbClr val="F0F5F7"/>
                    </a:solidFill>
                  </a:tcPr>
                </a:tc>
                <a:tc>
                  <a:txBody>
                    <a:bodyPr/>
                    <a:lstStyle/>
                    <a:p>
                      <a:r>
                        <a:rPr sz="2025" b="0">
                          <a:solidFill>
                            <a:srgbClr val="17364A"/>
                          </a:solidFill>
                          <a:latin typeface="Malgun Gothic"/>
                          <a:ea typeface="Malgun Gothic"/>
                          <a:cs typeface="Malgun Gothic"/>
                        </a:rPr>
                        <a:t>17</a:t>
                      </a:r>
                    </a:p>
                  </a:txBody>
                  <a:tcPr marL="91440" marR="91440" marT="45720" marB="45720">
                    <a:solidFill>
                      <a:srgbClr val="F0F5F7"/>
                    </a:solidFill>
                  </a:tcPr>
                </a:tc>
              </a:tr>
              <a:tr h="569119">
                <a:tc>
                  <a:txBody>
                    <a:bodyPr/>
                    <a:lstStyle/>
                    <a:p>
                      <a:r>
                        <a:rPr sz="2025" b="0">
                          <a:solidFill>
                            <a:srgbClr val="17364A"/>
                          </a:solidFill>
                          <a:latin typeface="Malgun Gothic"/>
                          <a:ea typeface="Malgun Gothic"/>
                          <a:cs typeface="Malgun Gothic"/>
                        </a:rPr>
                        <a:t>0.00001</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6.2530 × 10⁻⁹</a:t>
                      </a:r>
                    </a:p>
                  </a:txBody>
                  <a:tcPr marL="91440" marR="91440" marT="45720" marB="45720">
                    <a:solidFill>
                      <a:srgbClr val="FFFFFF"/>
                    </a:solidFill>
                  </a:tcPr>
                </a:tc>
                <a:tc>
                  <a:txBody>
                    <a:bodyPr/>
                    <a:lstStyle/>
                    <a:p>
                      <a:r>
                        <a:rPr sz="2025" b="0">
                          <a:solidFill>
                            <a:srgbClr val="17364A"/>
                          </a:solidFill>
                          <a:latin typeface="Malgun Gothic"/>
                          <a:ea typeface="Malgun Gothic"/>
                          <a:cs typeface="Malgun Gothic"/>
                        </a:rPr>
                        <a:t>17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FC06FA1-2AFD-4B32-91C0-B0AAD0EBA648}"/>
              </a:ext>
            </a:extLst>
          </p:cNvPr>
          <p:cNvSpPr>
            <a:spLocks xmlns:a="http://schemas.openxmlformats.org/drawingml/2006/main" noGrp="1"/>
          </p:cNvSpPr>
          <p:nvPr/>
        </p:nvSpPr>
        <p:spPr>
          <a:xfrm xmlns:a="http://schemas.openxmlformats.org/drawingml/2006/main">
            <a:off x="666750" y="50101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77"/>
                </a:solidFill>
                <a:latin typeface="Malgun Gothic"/>
                <a:ea typeface="Malgun Gothic"/>
                <a:cs typeface="Malgun Gothic"/>
              </a:defRPr>
            </a:pPr>
            <a:r>
              <a:rPr sz="2175" b="1">
                <a:solidFill>
                  <a:srgbClr val="176C77"/>
                </a:solidFill>
                <a:latin typeface="Malgun Gothic"/>
                <a:ea typeface="Malgun Gothic"/>
                <a:cs typeface="Malgun Gothic"/>
              </a:rPr>
              <a:t>NumPy ↔ TensorFlow 최대 절대 오차: 5.5511 × 10⁻¹⁷</a:t>
            </a:r>
          </a:p>
        </p:txBody>
      </p:sp>
      <p:sp>
        <p:nvSpPr>
          <p:cNvPr id="8" name="">
            <a:extLst xmlns:a="http://schemas.openxmlformats.org/drawingml/2006/main">
              <a:ext uri="{FF2B5EF4-FFF2-40B4-BE49-F238E27FC236}">
                <a16:creationId xmlns:a16="http://schemas.microsoft.com/office/drawing/2014/main" id="{33084A83-6956-4199-8CFA-0A09A6CCD276}"/>
              </a:ext>
            </a:extLst>
          </p:cNvPr>
          <p:cNvSpPr>
            <a:spLocks xmlns:a="http://schemas.openxmlformats.org/drawingml/2006/main" noGrp="1"/>
          </p:cNvSpPr>
          <p:nvPr/>
        </p:nvSpPr>
        <p:spPr>
          <a:xfrm xmlns:a="http://schemas.openxmlformats.org/drawingml/2006/main">
            <a:off x="666750" y="57054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64A"/>
                </a:solidFill>
                <a:latin typeface="Malgun Gothic"/>
                <a:ea typeface="Malgun Gothic"/>
                <a:cs typeface="Malgun Gothic"/>
              </a:defRPr>
            </a:pPr>
            <a:r>
              <a:rPr sz="1950" b="0">
                <a:solidFill>
                  <a:srgbClr val="17364A"/>
                </a:solidFill>
                <a:latin typeface="Malgun Gothic"/>
                <a:ea typeface="Malgun Gothic"/>
                <a:cs typeface="Malgun Gothic"/>
              </a:rPr>
              <a:t>실제 HAR 학습도 첫 배치의 모든 기울기가 유한한지 별도 검사</a:t>
            </a:r>
          </a:p>
        </p:txBody>
      </p:sp>
    </p:spTree>
    <p:extLst>
      <p:ext uri="{BB962C8B-B14F-4D97-AF65-F5344CB8AC3E}">
        <p14:creationId xmlns:p14="http://schemas.microsoft.com/office/powerpoint/2010/main" val="3276948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8E3E87-E31E-42B9-A161-CC9D1BAFCE6D}"/>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3</a:t>
            </a:r>
          </a:p>
        </p:txBody>
      </p:sp>
      <p:sp>
        <p:nvSpPr>
          <p:cNvPr id="2" name="">
            <a:extLst xmlns:a="http://schemas.openxmlformats.org/drawingml/2006/main">
              <a:ext uri="{FF2B5EF4-FFF2-40B4-BE49-F238E27FC236}">
                <a16:creationId xmlns:a16="http://schemas.microsoft.com/office/drawing/2014/main" id="{EA3FBE38-D5E6-4706-ACDD-B825EDE5286C}"/>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텐서 형태와 출력 규약</a:t>
            </a:r>
          </a:p>
        </p:txBody>
      </p:sp>
      <p:sp>
        <p:nvSpPr>
          <p:cNvPr id="3" name="">
            <a:extLst xmlns:a="http://schemas.openxmlformats.org/drawingml/2006/main">
              <a:ext uri="{FF2B5EF4-FFF2-40B4-BE49-F238E27FC236}">
                <a16:creationId xmlns:a16="http://schemas.microsoft.com/office/drawing/2014/main" id="{BF2312EA-CD35-46B6-AD2B-F82E673B2A88}"/>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팀 모듈을 연결할 때 가장 먼저 대조할 항목</a:t>
            </a:r>
          </a:p>
        </p:txBody>
      </p:sp>
      <p:sp>
        <p:nvSpPr>
          <p:cNvPr id="4" name="">
            <a:extLst xmlns:a="http://schemas.openxmlformats.org/drawingml/2006/main">
              <a:ext uri="{FF2B5EF4-FFF2-40B4-BE49-F238E27FC236}">
                <a16:creationId xmlns:a16="http://schemas.microsoft.com/office/drawing/2014/main" id="{7E26CB93-AA77-499C-9FB5-CC98620BF9EC}"/>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D19DCDD8-04CE-47DE-BEFB-16B05048130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15</a:t>
            </a:r>
          </a:p>
        </p:txBody>
      </p:sp>
      <p:graphicFrame>
        <p:nvGraphicFramePr>
          <p:cNvPr id="13" name=""/>
          <p:cNvGraphicFramePr/>
          <p:nvPr/>
        </p:nvGraphicFramePr>
        <p:xfrm>
          <a:off xmlns:a="http://schemas.openxmlformats.org/drawingml/2006/main" x="619125" y="2266950"/>
          <a:ext xmlns:a="http://schemas.openxmlformats.org/drawingml/2006/main" cx="10953750" cy="3124200"/>
        </p:xfrm>
        <a:graphic xmlns:a="http://schemas.openxmlformats.org/drawingml/2006/main">
          <a:graphicData uri="http://schemas.openxmlformats.org/drawingml/2006/table">
            <a:tbl>
              <a:tblPr/>
              <a:tblGrid>
                <a:gridCol w="2047875"/>
                <a:gridCol w="3333750"/>
                <a:gridCol w="5572125"/>
              </a:tblGrid>
              <a:tr h="520700">
                <a:tc>
                  <a:txBody>
                    <a:bodyPr/>
                    <a:lstStyle/>
                    <a:p>
                      <a:r>
                        <a:rPr sz="1725" b="1">
                          <a:solidFill>
                            <a:srgbClr val="FFFFFF"/>
                          </a:solidFill>
                          <a:latin typeface="Malgun Gothic"/>
                          <a:ea typeface="Malgun Gothic"/>
                          <a:cs typeface="Malgun Gothic"/>
                        </a:rPr>
                        <a:t>구분</a:t>
                      </a:r>
                    </a:p>
                  </a:txBody>
                  <a:tcPr marL="91440" marR="91440" marT="45720" marB="45720">
                    <a:solidFill>
                      <a:srgbClr val="17364A"/>
                    </a:solidFill>
                  </a:tcPr>
                </a:tc>
                <a:tc>
                  <a:txBody>
                    <a:bodyPr/>
                    <a:lstStyle/>
                    <a:p>
                      <a:r>
                        <a:rPr sz="1725" b="1">
                          <a:solidFill>
                            <a:srgbClr val="FFFFFF"/>
                          </a:solidFill>
                          <a:latin typeface="Malgun Gothic"/>
                          <a:ea typeface="Malgun Gothic"/>
                          <a:cs typeface="Malgun Gothic"/>
                        </a:rPr>
                        <a:t>shape / 형식</a:t>
                      </a:r>
                    </a:p>
                  </a:txBody>
                  <a:tcPr marL="91440" marR="91440" marT="45720" marB="45720">
                    <a:solidFill>
                      <a:srgbClr val="17364A"/>
                    </a:solidFill>
                  </a:tcPr>
                </a:tc>
                <a:tc>
                  <a:txBody>
                    <a:bodyPr/>
                    <a:lstStyle/>
                    <a:p>
                      <a:r>
                        <a:rPr sz="1725" b="1">
                          <a:solidFill>
                            <a:srgbClr val="FFFFFF"/>
                          </a:solidFill>
                          <a:latin typeface="Malgun Gothic"/>
                          <a:ea typeface="Malgun Gothic"/>
                          <a:cs typeface="Malgun Gothic"/>
                        </a:rPr>
                        <a:t>연결 시 주의점</a:t>
                      </a:r>
                    </a:p>
                  </a:txBody>
                  <a:tcPr marL="91440" marR="91440" marT="45720" marB="45720">
                    <a:solidFill>
                      <a:srgbClr val="17364A"/>
                    </a:solidFill>
                  </a:tcPr>
                </a:tc>
              </a:tr>
              <a:tr h="520700">
                <a:tc>
                  <a:txBody>
                    <a:bodyPr/>
                    <a:lstStyle/>
                    <a:p>
                      <a:r>
                        <a:rPr sz="1725" b="0">
                          <a:solidFill>
                            <a:srgbClr val="17364A"/>
                          </a:solidFill>
                          <a:latin typeface="Malgun Gothic"/>
                          <a:ea typeface="Malgun Gothic"/>
                          <a:cs typeface="Malgun Gothic"/>
                        </a:rPr>
                        <a:t>특징 입력</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(B, 561)</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열 순서와 표준화 상태 일치</a:t>
                      </a:r>
                    </a:p>
                  </a:txBody>
                  <a:tcPr marL="91440" marR="91440" marT="45720" marB="45720">
                    <a:solidFill>
                      <a:srgbClr val="FFFFFF"/>
                    </a:solidFill>
                  </a:tcPr>
                </a:tc>
              </a:tr>
              <a:tr h="520700">
                <a:tc>
                  <a:txBody>
                    <a:bodyPr/>
                    <a:lstStyle/>
                    <a:p>
                      <a:r>
                        <a:rPr sz="1725" b="0">
                          <a:solidFill>
                            <a:srgbClr val="17364A"/>
                          </a:solidFill>
                          <a:latin typeface="Malgun Gothic"/>
                          <a:ea typeface="Malgun Gothic"/>
                          <a:cs typeface="Malgun Gothic"/>
                        </a:rPr>
                        <a:t>시계열 입력</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(B, 128, 9)</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body_acc · body_gyro · total_acc</a:t>
                      </a:r>
                    </a:p>
                  </a:txBody>
                  <a:tcPr marL="91440" marR="91440" marT="45720" marB="45720">
                    <a:solidFill>
                      <a:srgbClr val="F0F5F7"/>
                    </a:solidFill>
                  </a:tcPr>
                </a:tc>
              </a:tr>
              <a:tr h="520700">
                <a:tc>
                  <a:txBody>
                    <a:bodyPr/>
                    <a:lstStyle/>
                    <a:p>
                      <a:r>
                        <a:rPr sz="1725" b="0">
                          <a:solidFill>
                            <a:srgbClr val="17364A"/>
                          </a:solidFill>
                          <a:latin typeface="Malgun Gothic"/>
                          <a:ea typeface="Malgun Gothic"/>
                          <a:cs typeface="Malgun Gothic"/>
                        </a:rPr>
                        <a:t>정답</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(B,), 정수 0–5</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공식 라벨 1–6을 변환</a:t>
                      </a:r>
                    </a:p>
                  </a:txBody>
                  <a:tcPr marL="91440" marR="91440" marT="45720" marB="45720">
                    <a:solidFill>
                      <a:srgbClr val="FFFFFF"/>
                    </a:solidFill>
                  </a:tcPr>
                </a:tc>
              </a:tr>
              <a:tr h="520700">
                <a:tc>
                  <a:txBody>
                    <a:bodyPr/>
                    <a:lstStyle/>
                    <a:p>
                      <a:r>
                        <a:rPr sz="1725" b="0">
                          <a:solidFill>
                            <a:srgbClr val="17364A"/>
                          </a:solidFill>
                          <a:latin typeface="Malgun Gothic"/>
                          <a:ea typeface="Malgun Gothic"/>
                          <a:cs typeface="Malgun Gothic"/>
                        </a:rPr>
                        <a:t>분류 출력</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(B, 6) logits</a:t>
                      </a:r>
                    </a:p>
                  </a:txBody>
                  <a:tcPr marL="91440" marR="91440" marT="45720" marB="45720">
                    <a:solidFill>
                      <a:srgbClr val="F0F5F7"/>
                    </a:solidFill>
                  </a:tcPr>
                </a:tc>
                <a:tc>
                  <a:txBody>
                    <a:bodyPr/>
                    <a:lstStyle/>
                    <a:p>
                      <a:r>
                        <a:rPr sz="1725" b="0">
                          <a:solidFill>
                            <a:srgbClr val="17364A"/>
                          </a:solidFill>
                          <a:latin typeface="Malgun Gothic"/>
                          <a:ea typeface="Malgun Gothic"/>
                          <a:cs typeface="Malgun Gothic"/>
                        </a:rPr>
                        <a:t>마지막 softmax 사용하지 않음</a:t>
                      </a:r>
                    </a:p>
                  </a:txBody>
                  <a:tcPr marL="91440" marR="91440" marT="45720" marB="45720">
                    <a:solidFill>
                      <a:srgbClr val="F0F5F7"/>
                    </a:solidFill>
                  </a:tcPr>
                </a:tc>
              </a:tr>
              <a:tr h="520700">
                <a:tc>
                  <a:txBody>
                    <a:bodyPr/>
                    <a:lstStyle/>
                    <a:p>
                      <a:r>
                        <a:rPr sz="1725" b="0">
                          <a:solidFill>
                            <a:srgbClr val="17364A"/>
                          </a:solidFill>
                          <a:latin typeface="Malgun Gothic"/>
                          <a:ea typeface="Malgun Gothic"/>
                          <a:cs typeface="Malgun Gothic"/>
                        </a:rPr>
                        <a:t>표본 식별</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train:000001 등</a:t>
                      </a:r>
                    </a:p>
                  </a:txBody>
                  <a:tcPr marL="91440" marR="91440" marT="45720" marB="45720">
                    <a:solidFill>
                      <a:srgbClr val="FFFFFF"/>
                    </a:solidFill>
                  </a:tcPr>
                </a:tc>
                <a:tc>
                  <a:txBody>
                    <a:bodyPr/>
                    <a:lstStyle/>
                    <a:p>
                      <a:r>
                        <a:rPr sz="1725" b="0">
                          <a:solidFill>
                            <a:srgbClr val="17364A"/>
                          </a:solidFill>
                          <a:latin typeface="Malgun Gothic"/>
                          <a:ea typeface="Malgun Gothic"/>
                          <a:cs typeface="Malgun Gothic"/>
                        </a:rPr>
                        <a:t>원본 행과 사람 ID 유지</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5F1E41D-C2BF-463F-97E1-1F51AD143376}"/>
              </a:ext>
            </a:extLst>
          </p:cNvPr>
          <p:cNvSpPr>
            <a:spLocks xmlns:a="http://schemas.openxmlformats.org/drawingml/2006/main" noGrp="1"/>
          </p:cNvSpPr>
          <p:nvPr/>
        </p:nvSpPr>
        <p:spPr>
          <a:xfrm xmlns:a="http://schemas.openxmlformats.org/drawingml/2006/main">
            <a:off x="666750" y="5800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77"/>
                </a:solidFill>
                <a:latin typeface="Malgun Gothic"/>
                <a:ea typeface="Malgun Gothic"/>
                <a:cs typeface="Malgun Gothic"/>
              </a:defRPr>
            </a:pPr>
            <a:r>
              <a:rPr sz="2175" b="1">
                <a:solidFill>
                  <a:srgbClr val="176C77"/>
                </a:solidFill>
                <a:latin typeface="Malgun Gothic"/>
                <a:ea typeface="Malgun Gothic"/>
                <a:cs typeface="Malgun Gothic"/>
              </a:rPr>
              <a:t>E02 파라미터 = 71,936 + 8,256 + 390 = 80,582</a:t>
            </a:r>
          </a:p>
        </p:txBody>
      </p:sp>
    </p:spTree>
    <p:extLst>
      <p:ext uri="{BB962C8B-B14F-4D97-AF65-F5344CB8AC3E}">
        <p14:creationId xmlns:p14="http://schemas.microsoft.com/office/powerpoint/2010/main" val="5383417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BF8865-7BA2-44FE-9A94-09FC32F5C2C6}"/>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4</a:t>
            </a:r>
          </a:p>
        </p:txBody>
      </p:sp>
      <p:sp>
        <p:nvSpPr>
          <p:cNvPr id="2" name="">
            <a:extLst xmlns:a="http://schemas.openxmlformats.org/drawingml/2006/main">
              <a:ext uri="{FF2B5EF4-FFF2-40B4-BE49-F238E27FC236}">
                <a16:creationId xmlns:a16="http://schemas.microsoft.com/office/drawing/2014/main" id="{AB5E2180-429B-4E7B-8B16-B406309E1F42}"/>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실행 근거와 재현 범위</a:t>
            </a:r>
          </a:p>
        </p:txBody>
      </p:sp>
      <p:sp>
        <p:nvSpPr>
          <p:cNvPr id="3" name="">
            <a:extLst xmlns:a="http://schemas.openxmlformats.org/drawingml/2006/main">
              <a:ext uri="{FF2B5EF4-FFF2-40B4-BE49-F238E27FC236}">
                <a16:creationId xmlns:a16="http://schemas.microsoft.com/office/drawing/2014/main" id="{428E630C-9D22-490E-B56F-AA18FF71CC1A}"/>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소스는 GitHub / 학습 모델은 v1 릴리스 ZIP</a:t>
            </a:r>
          </a:p>
        </p:txBody>
      </p:sp>
      <p:sp>
        <p:nvSpPr>
          <p:cNvPr id="4" name="">
            <a:extLst xmlns:a="http://schemas.openxmlformats.org/drawingml/2006/main">
              <a:ext uri="{FF2B5EF4-FFF2-40B4-BE49-F238E27FC236}">
                <a16:creationId xmlns:a16="http://schemas.microsoft.com/office/drawing/2014/main" id="{4C44E152-9AF3-4CAB-9239-364E0D7D52E7}"/>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F005A5A0-E732-49C3-80A1-4BB4B1BFEF08}"/>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16</a:t>
            </a:r>
          </a:p>
        </p:txBody>
      </p:sp>
      <p:graphicFrame>
        <p:nvGraphicFramePr>
          <p:cNvPr id="13" name=""/>
          <p:cNvGraphicFramePr/>
          <p:nvPr/>
        </p:nvGraphicFramePr>
        <p:xfrm>
          <a:off xmlns:a="http://schemas.openxmlformats.org/drawingml/2006/main" x="619125" y="2209800"/>
          <a:ext xmlns:a="http://schemas.openxmlformats.org/drawingml/2006/main" cx="10953750" cy="3143250"/>
        </p:xfrm>
        <a:graphic xmlns:a="http://schemas.openxmlformats.org/drawingml/2006/main">
          <a:graphicData uri="http://schemas.openxmlformats.org/drawingml/2006/table">
            <a:tbl>
              <a:tblPr/>
              <a:tblGrid>
                <a:gridCol w="2905125"/>
                <a:gridCol w="8048625"/>
              </a:tblGrid>
              <a:tr h="523875">
                <a:tc>
                  <a:txBody>
                    <a:bodyPr/>
                    <a:lstStyle/>
                    <a:p>
                      <a:r>
                        <a:rPr sz="1800" b="1">
                          <a:solidFill>
                            <a:srgbClr val="FFFFFF"/>
                          </a:solidFill>
                          <a:latin typeface="Malgun Gothic"/>
                          <a:ea typeface="Malgun Gothic"/>
                          <a:cs typeface="Malgun Gothic"/>
                        </a:rPr>
                        <a:t>근거</a:t>
                      </a:r>
                    </a:p>
                  </a:txBody>
                  <a:tcPr marL="91440" marR="91440" marT="45720" marB="45720">
                    <a:solidFill>
                      <a:srgbClr val="17364A"/>
                    </a:solidFill>
                  </a:tcPr>
                </a:tc>
                <a:tc>
                  <a:txBody>
                    <a:bodyPr/>
                    <a:lstStyle/>
                    <a:p>
                      <a:r>
                        <a:rPr sz="1800" b="1">
                          <a:solidFill>
                            <a:srgbClr val="FFFFFF"/>
                          </a:solidFill>
                          <a:latin typeface="Malgun Gothic"/>
                          <a:ea typeface="Malgun Gothic"/>
                          <a:cs typeface="Malgun Gothic"/>
                        </a:rPr>
                        <a:t>확인할 파일</a:t>
                      </a:r>
                    </a:p>
                  </a:txBody>
                  <a:tcPr marL="91440" marR="91440" marT="45720" marB="45720">
                    <a:solidFill>
                      <a:srgbClr val="17364A"/>
                    </a:solidFill>
                  </a:tcPr>
                </a:tc>
              </a:tr>
              <a:tr h="523875">
                <a:tc>
                  <a:txBody>
                    <a:bodyPr/>
                    <a:lstStyle/>
                    <a:p>
                      <a:r>
                        <a:rPr sz="1800" b="0">
                          <a:solidFill>
                            <a:srgbClr val="17364A"/>
                          </a:solidFill>
                          <a:latin typeface="Malgun Gothic"/>
                          <a:ea typeface="Malgun Gothic"/>
                          <a:cs typeface="Malgun Gothic"/>
                        </a:rPr>
                        <a:t>실험 비교</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reports/experiment_summary.csv</a:t>
                      </a:r>
                    </a:p>
                  </a:txBody>
                  <a:tcPr marL="91440" marR="91440" marT="45720" marB="45720">
                    <a:solidFill>
                      <a:srgbClr val="FFFFFF"/>
                    </a:solidFill>
                  </a:tcPr>
                </a:tc>
              </a:tr>
              <a:tr h="523875">
                <a:tc>
                  <a:txBody>
                    <a:bodyPr/>
                    <a:lstStyle/>
                    <a:p>
                      <a:r>
                        <a:rPr sz="1800" b="0">
                          <a:solidFill>
                            <a:srgbClr val="17364A"/>
                          </a:solidFill>
                          <a:latin typeface="Malgun Gothic"/>
                          <a:ea typeface="Malgun Gothic"/>
                          <a:cs typeface="Malgun Gothic"/>
                        </a:rPr>
                        <a:t>미분 검증</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reports/math/gradient_checks.json</a:t>
                      </a:r>
                    </a:p>
                  </a:txBody>
                  <a:tcPr marL="91440" marR="91440" marT="45720" marB="45720">
                    <a:solidFill>
                      <a:srgbClr val="F0F5F7"/>
                    </a:solidFill>
                  </a:tcPr>
                </a:tc>
              </a:tr>
              <a:tr h="523875">
                <a:tc>
                  <a:txBody>
                    <a:bodyPr/>
                    <a:lstStyle/>
                    <a:p>
                      <a:r>
                        <a:rPr sz="1800" b="0">
                          <a:solidFill>
                            <a:srgbClr val="17364A"/>
                          </a:solidFill>
                          <a:latin typeface="Malgun Gothic"/>
                          <a:ea typeface="Malgun Gothic"/>
                          <a:cs typeface="Malgun Gothic"/>
                        </a:rPr>
                        <a:t>검사 기록</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reports/VERIFICATION_KO.md</a:t>
                      </a:r>
                    </a:p>
                  </a:txBody>
                  <a:tcPr marL="91440" marR="91440" marT="45720" marB="45720">
                    <a:solidFill>
                      <a:srgbClr val="FFFFFF"/>
                    </a:solidFill>
                  </a:tcPr>
                </a:tc>
              </a:tr>
              <a:tr h="523875">
                <a:tc>
                  <a:txBody>
                    <a:bodyPr/>
                    <a:lstStyle/>
                    <a:p>
                      <a:r>
                        <a:rPr sz="1800" b="0">
                          <a:solidFill>
                            <a:srgbClr val="17364A"/>
                          </a:solidFill>
                          <a:latin typeface="Malgun Gothic"/>
                          <a:ea typeface="Malgun Gothic"/>
                          <a:cs typeface="Malgun Gothic"/>
                        </a:rPr>
                        <a:t>저장물 재로딩</a:t>
                      </a:r>
                    </a:p>
                  </a:txBody>
                  <a:tcPr marL="91440" marR="91440" marT="45720" marB="45720">
                    <a:solidFill>
                      <a:srgbClr val="F0F5F7"/>
                    </a:solidFill>
                  </a:tcPr>
                </a:tc>
                <a:tc>
                  <a:txBody>
                    <a:bodyPr/>
                    <a:lstStyle/>
                    <a:p>
                      <a:r>
                        <a:rPr sz="1800" b="0">
                          <a:solidFill>
                            <a:srgbClr val="17364A"/>
                          </a:solidFill>
                          <a:latin typeface="Malgun Gothic"/>
                          <a:ea typeface="Malgun Gothic"/>
                          <a:cs typeface="Malgun Gothic"/>
                        </a:rPr>
                        <a:t>reports/fresh_process_verification.json</a:t>
                      </a:r>
                    </a:p>
                  </a:txBody>
                  <a:tcPr marL="91440" marR="91440" marT="45720" marB="45720">
                    <a:solidFill>
                      <a:srgbClr val="F0F5F7"/>
                    </a:solidFill>
                  </a:tcPr>
                </a:tc>
              </a:tr>
              <a:tr h="523875">
                <a:tc>
                  <a:txBody>
                    <a:bodyPr/>
                    <a:lstStyle/>
                    <a:p>
                      <a:r>
                        <a:rPr sz="1800" b="0">
                          <a:solidFill>
                            <a:srgbClr val="17364A"/>
                          </a:solidFill>
                          <a:latin typeface="Malgun Gothic"/>
                          <a:ea typeface="Malgun Gothic"/>
                          <a:cs typeface="Malgun Gothic"/>
                        </a:rPr>
                        <a:t>실행·인계</a:t>
                      </a:r>
                    </a:p>
                  </a:txBody>
                  <a:tcPr marL="91440" marR="91440" marT="45720" marB="45720">
                    <a:solidFill>
                      <a:srgbClr val="FFFFFF"/>
                    </a:solidFill>
                  </a:tcPr>
                </a:tc>
                <a:tc>
                  <a:txBody>
                    <a:bodyPr/>
                    <a:lstStyle/>
                    <a:p>
                      <a:r>
                        <a:rPr sz="1800" b="0">
                          <a:solidFill>
                            <a:srgbClr val="17364A"/>
                          </a:solidFill>
                          <a:latin typeface="Malgun Gothic"/>
                          <a:ea typeface="Malgun Gothic"/>
                          <a:cs typeface="Malgun Gothic"/>
                        </a:rPr>
                        <a:t>docs/RUN_GUIDE_KO.md · HANDOFF_KO.md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3A15F9D-B96B-4A39-B3FA-B85DDD38FB82}"/>
              </a:ext>
            </a:extLst>
          </p:cNvPr>
          <p:cNvSpPr>
            <a:spLocks xmlns:a="http://schemas.openxmlformats.org/drawingml/2006/main" noGrp="1"/>
          </p:cNvSpPr>
          <p:nvPr/>
        </p:nvSpPr>
        <p:spPr>
          <a:xfrm xmlns:a="http://schemas.openxmlformats.org/drawingml/2006/main">
            <a:off x="666750" y="57054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64A"/>
                </a:solidFill>
                <a:latin typeface="Malgun Gothic"/>
                <a:ea typeface="Malgun Gothic"/>
                <a:cs typeface="Malgun Gothic"/>
              </a:defRPr>
            </a:pPr>
            <a:r>
              <a:rPr sz="1950" b="0">
                <a:solidFill>
                  <a:srgbClr val="17364A"/>
                </a:solidFill>
                <a:latin typeface="Malgun Gothic"/>
                <a:ea typeface="Malgun Gothic"/>
                <a:cs typeface="Malgun Gothic"/>
              </a:rPr>
              <a:t>동일 환경 재로딩 검증 완료 / 다른 팀원 장치의 실행은 후속 확인</a:t>
            </a:r>
          </a:p>
        </p:txBody>
      </p:sp>
    </p:spTree>
    <p:extLst>
      <p:ext uri="{BB962C8B-B14F-4D97-AF65-F5344CB8AC3E}">
        <p14:creationId xmlns:p14="http://schemas.microsoft.com/office/powerpoint/2010/main" val="11952038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01D2C1-6242-4A6F-96A3-A790510B0F31}"/>
              </a:ext>
            </a:extLst>
          </p:cNvPr>
          <p:cNvSpPr>
            <a:spLocks xmlns:a="http://schemas.openxmlformats.org/drawingml/2006/main" noGrp="1"/>
          </p:cNvSpPr>
          <p:nvPr/>
        </p:nvSpPr>
        <p:spPr>
          <a:xfrm xmlns:a="http://schemas.openxmlformats.org/drawingml/2006/main">
            <a:off x="59055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보충 5</a:t>
            </a:r>
          </a:p>
        </p:txBody>
      </p:sp>
      <p:sp>
        <p:nvSpPr>
          <p:cNvPr id="2" name="">
            <a:extLst xmlns:a="http://schemas.openxmlformats.org/drawingml/2006/main">
              <a:ext uri="{FF2B5EF4-FFF2-40B4-BE49-F238E27FC236}">
                <a16:creationId xmlns:a16="http://schemas.microsoft.com/office/drawing/2014/main" id="{95729B29-E312-44C6-B193-2EDFC6063C7D}"/>
              </a:ext>
            </a:extLst>
          </p:cNvPr>
          <p:cNvSpPr>
            <a:spLocks xmlns:a="http://schemas.openxmlformats.org/drawingml/2006/main" noGrp="1"/>
          </p:cNvSpPr>
          <p:nvPr/>
        </p:nvSpPr>
        <p:spPr>
          <a:xfrm xmlns:a="http://schemas.openxmlformats.org/drawingml/2006/main">
            <a:off x="590550" y="752475"/>
            <a:ext cx="11010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64A"/>
                </a:solidFill>
                <a:latin typeface="Malgun Gothic"/>
                <a:ea typeface="Malgun Gothic"/>
                <a:cs typeface="Malgun Gothic"/>
              </a:defRPr>
            </a:pPr>
            <a:r>
              <a:rPr sz="3300" b="1">
                <a:solidFill>
                  <a:srgbClr val="17364A"/>
                </a:solidFill>
                <a:latin typeface="Malgun Gothic"/>
                <a:ea typeface="Malgun Gothic"/>
                <a:cs typeface="Malgun Gothic"/>
              </a:rPr>
              <a:t>예상 질문에 대한 답변</a:t>
            </a:r>
          </a:p>
        </p:txBody>
      </p:sp>
      <p:sp>
        <p:nvSpPr>
          <p:cNvPr id="3" name="">
            <a:extLst xmlns:a="http://schemas.openxmlformats.org/drawingml/2006/main">
              <a:ext uri="{FF2B5EF4-FFF2-40B4-BE49-F238E27FC236}">
                <a16:creationId xmlns:a16="http://schemas.microsoft.com/office/drawing/2014/main" id="{6F58C064-4500-42B2-BDF7-5B9044EE1B3B}"/>
              </a:ext>
            </a:extLst>
          </p:cNvPr>
          <p:cNvSpPr>
            <a:spLocks xmlns:a="http://schemas.openxmlformats.org/drawingml/2006/main" noGrp="1"/>
          </p:cNvSpPr>
          <p:nvPr/>
        </p:nvSpPr>
        <p:spPr>
          <a:xfrm xmlns:a="http://schemas.openxmlformats.org/drawingml/2006/main">
            <a:off x="619125" y="14954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Malgun Gothic"/>
                <a:ea typeface="Malgun Gothic"/>
                <a:cs typeface="Malgun Gothic"/>
              </a:defRPr>
            </a:pPr>
            <a:r>
              <a:rPr sz="1875" b="0">
                <a:solidFill>
                  <a:srgbClr val="596B77"/>
                </a:solidFill>
                <a:latin typeface="Malgun Gothic"/>
                <a:ea typeface="Malgun Gothic"/>
                <a:cs typeface="Malgun Gothic"/>
              </a:rPr>
              <a:t>발표에서 결론의 범위를 정확히 설명하기</a:t>
            </a:r>
          </a:p>
        </p:txBody>
      </p:sp>
      <p:sp>
        <p:nvSpPr>
          <p:cNvPr id="4" name="">
            <a:extLst xmlns:a="http://schemas.openxmlformats.org/drawingml/2006/main">
              <a:ext uri="{FF2B5EF4-FFF2-40B4-BE49-F238E27FC236}">
                <a16:creationId xmlns:a16="http://schemas.microsoft.com/office/drawing/2014/main" id="{71C1ABF6-6AFA-49C0-BD0A-982F3C301D62}"/>
              </a:ext>
            </a:extLst>
          </p:cNvPr>
          <p:cNvSpPr>
            <a:spLocks xmlns:a="http://schemas.openxmlformats.org/drawingml/2006/main" noGrp="1"/>
          </p:cNvSpPr>
          <p:nvPr/>
        </p:nvSpPr>
        <p:spPr>
          <a:xfrm xmlns:a="http://schemas.openxmlformats.org/drawingml/2006/main">
            <a:off x="609600" y="64103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B77"/>
                </a:solidFill>
                <a:latin typeface="Malgun Gothic"/>
                <a:ea typeface="Malgun Gothic"/>
                <a:cs typeface="Malgun Gothic"/>
              </a:defRPr>
            </a:pPr>
            <a:r>
              <a:rPr sz="1125" b="0">
                <a:solidFill>
                  <a:srgbClr val="596B77"/>
                </a:solidFill>
                <a:latin typeface="Malgun Gothic"/>
                <a:ea typeface="Malgun Gothic"/>
                <a:cs typeface="Malgun Gothic"/>
              </a:rPr>
              <a:t>스마트폰 행동 인식  |  개인 담당 결과  |  2026.09</a:t>
            </a:r>
          </a:p>
        </p:txBody>
      </p:sp>
      <p:sp>
        <p:nvSpPr>
          <p:cNvPr id="5" name="">
            <a:extLst xmlns:a="http://schemas.openxmlformats.org/drawingml/2006/main">
              <a:ext uri="{FF2B5EF4-FFF2-40B4-BE49-F238E27FC236}">
                <a16:creationId xmlns:a16="http://schemas.microsoft.com/office/drawing/2014/main" id="{39900689-FB0F-4956-875A-7CEBA8C6BBFE}"/>
              </a:ext>
            </a:extLst>
          </p:cNvPr>
          <p:cNvSpPr>
            <a:spLocks xmlns:a="http://schemas.openxmlformats.org/drawingml/2006/main" noGrp="1"/>
          </p:cNvSpPr>
          <p:nvPr/>
        </p:nvSpPr>
        <p:spPr>
          <a:xfrm xmlns:a="http://schemas.openxmlformats.org/drawingml/2006/main">
            <a:off x="11049000" y="63912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6C77"/>
                </a:solidFill>
                <a:latin typeface="Malgun Gothic"/>
                <a:ea typeface="Malgun Gothic"/>
                <a:cs typeface="Malgun Gothic"/>
              </a:defRPr>
            </a:pPr>
            <a:r>
              <a:rPr sz="1350" b="1">
                <a:solidFill>
                  <a:srgbClr val="176C77"/>
                </a:solidFill>
                <a:latin typeface="Malgun Gothic"/>
                <a:ea typeface="Malgun Gothic"/>
                <a:cs typeface="Malgun Gothic"/>
              </a:rPr>
              <a:t>17</a:t>
            </a:r>
          </a:p>
        </p:txBody>
      </p:sp>
      <p:sp>
        <p:nvSpPr>
          <p:cNvPr id="6" name="">
            <a:extLst xmlns:a="http://schemas.openxmlformats.org/drawingml/2006/main">
              <a:ext uri="{FF2B5EF4-FFF2-40B4-BE49-F238E27FC236}">
                <a16:creationId xmlns:a16="http://schemas.microsoft.com/office/drawing/2014/main" id="{F32D3D78-BCF0-46AC-8A93-85B03F0B68CA}"/>
              </a:ext>
            </a:extLst>
          </p:cNvPr>
          <p:cNvSpPr>
            <a:spLocks xmlns:a="http://schemas.openxmlformats.org/drawingml/2006/main" noGrp="1"/>
          </p:cNvSpPr>
          <p:nvPr/>
        </p:nvSpPr>
        <p:spPr>
          <a:xfrm xmlns:a="http://schemas.openxmlformats.org/drawingml/2006/main">
            <a:off x="638175" y="22193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91.61%가 최종 성능?</a:t>
            </a:r>
          </a:p>
        </p:txBody>
      </p:sp>
      <p:sp>
        <p:nvSpPr>
          <p:cNvPr id="7" name="">
            <a:extLst xmlns:a="http://schemas.openxmlformats.org/drawingml/2006/main">
              <a:ext uri="{FF2B5EF4-FFF2-40B4-BE49-F238E27FC236}">
                <a16:creationId xmlns:a16="http://schemas.microsoft.com/office/drawing/2014/main" id="{AB5172B0-F34E-4CCF-A953-CE09184116A7}"/>
              </a:ext>
            </a:extLst>
          </p:cNvPr>
          <p:cNvSpPr>
            <a:spLocks xmlns:a="http://schemas.openxmlformats.org/drawingml/2006/main" noGrp="1"/>
          </p:cNvSpPr>
          <p:nvPr/>
        </p:nvSpPr>
        <p:spPr>
          <a:xfrm xmlns:a="http://schemas.openxmlformats.org/drawingml/2006/main">
            <a:off x="3429000" y="22193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고정 검증 분할의 결과. 공식 test는 미평가.</a:t>
            </a:r>
          </a:p>
        </p:txBody>
      </p:sp>
      <p:sp>
        <p:nvSpPr>
          <p:cNvPr id="8" name="">
            <a:extLst xmlns:a="http://schemas.openxmlformats.org/drawingml/2006/main">
              <a:ext uri="{FF2B5EF4-FFF2-40B4-BE49-F238E27FC236}">
                <a16:creationId xmlns:a16="http://schemas.microsoft.com/office/drawing/2014/main" id="{781FCC0D-EA03-43CA-A5C0-3C6EC1A301CF}"/>
              </a:ext>
            </a:extLst>
          </p:cNvPr>
          <p:cNvSpPr>
            <a:spLocks xmlns:a="http://schemas.openxmlformats.org/drawingml/2006/main" noGrp="1"/>
          </p:cNvSpPr>
          <p:nvPr/>
        </p:nvSpPr>
        <p:spPr>
          <a:xfrm xmlns:a="http://schemas.openxmlformats.org/drawingml/2006/main">
            <a:off x="638175" y="31146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PCA 95%의 뜻?</a:t>
            </a:r>
          </a:p>
        </p:txBody>
      </p:sp>
      <p:sp>
        <p:nvSpPr>
          <p:cNvPr id="9" name="">
            <a:extLst xmlns:a="http://schemas.openxmlformats.org/drawingml/2006/main">
              <a:ext uri="{FF2B5EF4-FFF2-40B4-BE49-F238E27FC236}">
                <a16:creationId xmlns:a16="http://schemas.microsoft.com/office/drawing/2014/main" id="{682D712D-2C65-4816-B7FD-DBCEC7872C92}"/>
              </a:ext>
            </a:extLst>
          </p:cNvPr>
          <p:cNvSpPr>
            <a:spLocks xmlns:a="http://schemas.openxmlformats.org/drawingml/2006/main" noGrp="1"/>
          </p:cNvSpPr>
          <p:nvPr/>
        </p:nvSpPr>
        <p:spPr>
          <a:xfrm xmlns:a="http://schemas.openxmlformats.org/drawingml/2006/main">
            <a:off x="3429000" y="31146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정확도가 아니라 학습 입력의 설명분산.</a:t>
            </a:r>
          </a:p>
        </p:txBody>
      </p:sp>
      <p:sp>
        <p:nvSpPr>
          <p:cNvPr id="10" name="">
            <a:extLst xmlns:a="http://schemas.openxmlformats.org/drawingml/2006/main">
              <a:ext uri="{FF2B5EF4-FFF2-40B4-BE49-F238E27FC236}">
                <a16:creationId xmlns:a16="http://schemas.microsoft.com/office/drawing/2014/main" id="{D49852BA-E673-4923-8928-C99199EB53E7}"/>
              </a:ext>
            </a:extLst>
          </p:cNvPr>
          <p:cNvSpPr>
            <a:spLocks xmlns:a="http://schemas.openxmlformats.org/drawingml/2006/main" noGrp="1"/>
          </p:cNvSpPr>
          <p:nvPr/>
        </p:nvSpPr>
        <p:spPr>
          <a:xfrm xmlns:a="http://schemas.openxmlformats.org/drawingml/2006/main">
            <a:off x="638175" y="40100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Dropout이 나쁜가?</a:t>
            </a:r>
          </a:p>
        </p:txBody>
      </p:sp>
      <p:sp>
        <p:nvSpPr>
          <p:cNvPr id="11" name="">
            <a:extLst xmlns:a="http://schemas.openxmlformats.org/drawingml/2006/main">
              <a:ext uri="{FF2B5EF4-FFF2-40B4-BE49-F238E27FC236}">
                <a16:creationId xmlns:a16="http://schemas.microsoft.com/office/drawing/2014/main" id="{C43C7369-FF8B-4DD6-A439-225A0C90390C}"/>
              </a:ext>
            </a:extLst>
          </p:cNvPr>
          <p:cNvSpPr>
            <a:spLocks xmlns:a="http://schemas.openxmlformats.org/drawingml/2006/main" noGrp="1"/>
          </p:cNvSpPr>
          <p:nvPr/>
        </p:nvSpPr>
        <p:spPr>
          <a:xfrm xmlns:a="http://schemas.openxmlformats.org/drawingml/2006/main">
            <a:off x="3429000" y="401002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이번 0.3 설정에서 기준선보다 낮았음.</a:t>
            </a:r>
          </a:p>
        </p:txBody>
      </p:sp>
      <p:sp>
        <p:nvSpPr>
          <p:cNvPr id="12" name="">
            <a:extLst xmlns:a="http://schemas.openxmlformats.org/drawingml/2006/main">
              <a:ext uri="{FF2B5EF4-FFF2-40B4-BE49-F238E27FC236}">
                <a16:creationId xmlns:a16="http://schemas.microsoft.com/office/drawing/2014/main" id="{9670DA84-0E31-4345-9F19-CE01D6A01B68}"/>
              </a:ext>
            </a:extLst>
          </p:cNvPr>
          <p:cNvSpPr>
            <a:spLocks xmlns:a="http://schemas.openxmlformats.org/drawingml/2006/main" noGrp="1"/>
          </p:cNvSpPr>
          <p:nvPr/>
        </p:nvSpPr>
        <p:spPr>
          <a:xfrm xmlns:a="http://schemas.openxmlformats.org/drawingml/2006/main">
            <a:off x="638175" y="49053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77"/>
                </a:solidFill>
                <a:latin typeface="Malgun Gothic"/>
                <a:ea typeface="Malgun Gothic"/>
                <a:cs typeface="Malgun Gothic"/>
              </a:defRPr>
            </a:pPr>
            <a:r>
              <a:rPr sz="2025" b="1">
                <a:solidFill>
                  <a:srgbClr val="176C77"/>
                </a:solidFill>
                <a:latin typeface="Malgun Gothic"/>
                <a:ea typeface="Malgun Gothic"/>
                <a:cs typeface="Malgun Gothic"/>
              </a:rPr>
              <a:t>내 역할의 핵심은?</a:t>
            </a:r>
          </a:p>
        </p:txBody>
      </p:sp>
      <p:sp>
        <p:nvSpPr>
          <p:cNvPr id="13" name="">
            <a:extLst xmlns:a="http://schemas.openxmlformats.org/drawingml/2006/main">
              <a:ext uri="{FF2B5EF4-FFF2-40B4-BE49-F238E27FC236}">
                <a16:creationId xmlns:a16="http://schemas.microsoft.com/office/drawing/2014/main" id="{45AE6042-E589-4121-82E1-C61C59542F79}"/>
              </a:ext>
            </a:extLst>
          </p:cNvPr>
          <p:cNvSpPr>
            <a:spLocks xmlns:a="http://schemas.openxmlformats.org/drawingml/2006/main" noGrp="1"/>
          </p:cNvSpPr>
          <p:nvPr/>
        </p:nvSpPr>
        <p:spPr>
          <a:xfrm xmlns:a="http://schemas.openxmlformats.org/drawingml/2006/main">
            <a:off x="3429000" y="4905375"/>
            <a:ext cx="7981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64A"/>
                </a:solidFill>
                <a:latin typeface="Malgun Gothic"/>
                <a:ea typeface="Malgun Gothic"/>
                <a:cs typeface="Malgun Gothic"/>
              </a:defRPr>
            </a:pPr>
            <a:r>
              <a:rPr sz="2025" b="0">
                <a:solidFill>
                  <a:srgbClr val="17364A"/>
                </a:solidFill>
                <a:latin typeface="Malgun Gothic"/>
                <a:ea typeface="Malgun Gothic"/>
                <a:cs typeface="Malgun Gothic"/>
              </a:rPr>
              <a:t>기준모델과 공통 학습·재현 체계를 구현.</a:t>
            </a:r>
          </a:p>
        </p:txBody>
      </p:sp>
    </p:spTree>
    <p:extLst>
      <p:ext uri="{BB962C8B-B14F-4D97-AF65-F5344CB8AC3E}">
        <p14:creationId xmlns:p14="http://schemas.microsoft.com/office/powerpoint/2010/main" val="432650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2026-09-28T15:17:44.3980000Z</dcterms:created>
  <dcterms:modified xsi:type="dcterms:W3CDTF">2026-09-28T15:17:44.3980000Z</dcterms:modified>
</coreProperties>
</file>