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cec5816bdc406a" /><Relationship Type="http://schemas.openxmlformats.org/officeDocument/2006/relationships/extended-properties" Target="/docProps/app.xml" Id="R59f4c7314d1d4a86" /><Relationship Type="http://schemas.openxmlformats.org/officeDocument/2006/relationships/officeDocument" Target="/ppt/presentation.xml" Id="R34c7b1283d964475" /></Relationships>
</file>

<file path=ppt/presentation.xml><?xml version="1.0" encoding="utf-8"?>
<p:presentation xmlns:p="http://schemas.openxmlformats.org/presentationml/2006/main">
  <p:sldMasterIdLst>
    <p:sldMasterId xmlns:r="http://schemas.openxmlformats.org/officeDocument/2006/relationships" id="2147483648" r:id="R684ca6f05998412a"/>
  </p:sldMasterIdLst>
  <p:notesMasterIdLst>
    <p:notesMasterId xmlns:r="http://schemas.openxmlformats.org/officeDocument/2006/relationships" r:id="R8b6f21375f0e451d"/>
  </p:notesMasterIdLst>
  <p:sldIdLst>
    <p:sldId xmlns:r="http://schemas.openxmlformats.org/officeDocument/2006/relationships" id="256" r:id="R717cad4656ee4bd2"/>
    <p:sldId xmlns:r="http://schemas.openxmlformats.org/officeDocument/2006/relationships" id="257" r:id="Rd9cd721e299d4681"/>
    <p:sldId xmlns:r="http://schemas.openxmlformats.org/officeDocument/2006/relationships" id="258" r:id="Rb6d587fdb6744d30"/>
    <p:sldId xmlns:r="http://schemas.openxmlformats.org/officeDocument/2006/relationships" id="259" r:id="R69b60445ad2a49c6"/>
    <p:sldId xmlns:r="http://schemas.openxmlformats.org/officeDocument/2006/relationships" id="260" r:id="Rcdbdadc78f354e2f"/>
    <p:sldId xmlns:r="http://schemas.openxmlformats.org/officeDocument/2006/relationships" id="261" r:id="Rb0070e7589a447a6"/>
    <p:sldId xmlns:r="http://schemas.openxmlformats.org/officeDocument/2006/relationships" id="262" r:id="R3f2649c55af540e5"/>
    <p:sldId xmlns:r="http://schemas.openxmlformats.org/officeDocument/2006/relationships" id="263" r:id="Ra768748dae724d3b"/>
    <p:sldId xmlns:r="http://schemas.openxmlformats.org/officeDocument/2006/relationships" id="264" r:id="Rcf0f238ab6c84268"/>
    <p:sldId xmlns:r="http://schemas.openxmlformats.org/officeDocument/2006/relationships" id="265" r:id="R2894ea3320bb4c77"/>
    <p:sldId xmlns:r="http://schemas.openxmlformats.org/officeDocument/2006/relationships" id="266" r:id="R4411a904920a4cc6"/>
    <p:sldId xmlns:r="http://schemas.openxmlformats.org/officeDocument/2006/relationships" id="267" r:id="R004016096ab24b80"/>
    <p:sldId xmlns:r="http://schemas.openxmlformats.org/officeDocument/2006/relationships" id="268" r:id="Re22fab8df26b47e7"/>
    <p:sldId xmlns:r="http://schemas.openxmlformats.org/officeDocument/2006/relationships" id="269" r:id="Rb5dd69e3fc0c4c0b"/>
    <p:sldId xmlns:r="http://schemas.openxmlformats.org/officeDocument/2006/relationships" id="270" r:id="R56e6483d894f43c5"/>
    <p:sldId xmlns:r="http://schemas.openxmlformats.org/officeDocument/2006/relationships" id="271" r:id="R7a60573a563c403b"/>
    <p:sldId xmlns:r="http://schemas.openxmlformats.org/officeDocument/2006/relationships" id="272" r:id="Rf6f84c8933a74224"/>
    <p:sldId xmlns:r="http://schemas.openxmlformats.org/officeDocument/2006/relationships" id="273" r:id="Ra8a7a60983b3481c"/>
    <p:sldId xmlns:r="http://schemas.openxmlformats.org/officeDocument/2006/relationships" id="274" r:id="R51dae4abe9364160"/>
    <p:sldId xmlns:r="http://schemas.openxmlformats.org/officeDocument/2006/relationships" id="275" r:id="Rc771512431f644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6bf30365874d8b" /><Relationship Type="http://schemas.openxmlformats.org/officeDocument/2006/relationships/slideMaster" Target="/ppt/slideMasters/slideMaster1.xml" Id="R684ca6f05998412a" /><Relationship Type="http://schemas.openxmlformats.org/officeDocument/2006/relationships/notesMaster" Target="/ppt/notesMasters/notesMaster1.xml" Id="R8b6f21375f0e451d" /><Relationship Type="http://schemas.openxmlformats.org/officeDocument/2006/relationships/presProps" Target="/ppt/presProps.xml" Id="R4896860dd250408c" /><Relationship Type="http://schemas.openxmlformats.org/officeDocument/2006/relationships/tableStyles" Target="/ppt/tableStyles.xml" Id="Rc58bc48d64594ab4" /><Relationship Type="http://schemas.openxmlformats.org/officeDocument/2006/relationships/slide" Target="/ppt/slides/slide1.xml" Id="R717cad4656ee4bd2" /><Relationship Type="http://schemas.openxmlformats.org/officeDocument/2006/relationships/slide" Target="/ppt/slides/slide2.xml" Id="Rd9cd721e299d4681" /><Relationship Type="http://schemas.openxmlformats.org/officeDocument/2006/relationships/slide" Target="/ppt/slides/slide3.xml" Id="Rb6d587fdb6744d30" /><Relationship Type="http://schemas.openxmlformats.org/officeDocument/2006/relationships/slide" Target="/ppt/slides/slide4.xml" Id="R69b60445ad2a49c6" /><Relationship Type="http://schemas.openxmlformats.org/officeDocument/2006/relationships/slide" Target="/ppt/slides/slide5.xml" Id="Rcdbdadc78f354e2f" /><Relationship Type="http://schemas.openxmlformats.org/officeDocument/2006/relationships/slide" Target="/ppt/slides/slide6.xml" Id="Rb0070e7589a447a6" /><Relationship Type="http://schemas.openxmlformats.org/officeDocument/2006/relationships/slide" Target="/ppt/slides/slide7.xml" Id="R3f2649c55af540e5" /><Relationship Type="http://schemas.openxmlformats.org/officeDocument/2006/relationships/slide" Target="/ppt/slides/slide8.xml" Id="Ra768748dae724d3b" /><Relationship Type="http://schemas.openxmlformats.org/officeDocument/2006/relationships/slide" Target="/ppt/slides/slide9.xml" Id="Rcf0f238ab6c84268" /><Relationship Type="http://schemas.openxmlformats.org/officeDocument/2006/relationships/slide" Target="/ppt/slides/slide10.xml" Id="R2894ea3320bb4c77" /><Relationship Type="http://schemas.openxmlformats.org/officeDocument/2006/relationships/slide" Target="/ppt/slides/slide11.xml" Id="R4411a904920a4cc6" /><Relationship Type="http://schemas.openxmlformats.org/officeDocument/2006/relationships/slide" Target="/ppt/slides/slide12.xml" Id="R004016096ab24b80" /><Relationship Type="http://schemas.openxmlformats.org/officeDocument/2006/relationships/slide" Target="/ppt/slides/slide13.xml" Id="Re22fab8df26b47e7" /><Relationship Type="http://schemas.openxmlformats.org/officeDocument/2006/relationships/slide" Target="/ppt/slides/slide14.xml" Id="Rb5dd69e3fc0c4c0b" /><Relationship Type="http://schemas.openxmlformats.org/officeDocument/2006/relationships/slide" Target="/ppt/slides/slide15.xml" Id="R56e6483d894f43c5" /><Relationship Type="http://schemas.openxmlformats.org/officeDocument/2006/relationships/slide" Target="/ppt/slides/slide16.xml" Id="R7a60573a563c403b" /><Relationship Type="http://schemas.openxmlformats.org/officeDocument/2006/relationships/slide" Target="/ppt/slides/slide17.xml" Id="Rf6f84c8933a74224" /><Relationship Type="http://schemas.openxmlformats.org/officeDocument/2006/relationships/slide" Target="/ppt/slides/slide18.xml" Id="Ra8a7a60983b3481c" /><Relationship Type="http://schemas.openxmlformats.org/officeDocument/2006/relationships/slide" Target="/ppt/slides/slide19.xml" Id="R51dae4abe9364160" /><Relationship Type="http://schemas.openxmlformats.org/officeDocument/2006/relationships/slide" Target="/ppt/slides/slide20.xml" Id="Rc771512431f644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fbf7690e7542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b1de5f61f34e6a" /><Relationship Type="http://schemas.openxmlformats.org/officeDocument/2006/relationships/notesMaster" Target="/ppt/notesMasters/notesMaster1.xml" Id="R57dc7359b7df40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8b181dd78e48af" /><Relationship Type="http://schemas.openxmlformats.org/officeDocument/2006/relationships/notesMaster" Target="/ppt/notesMasters/notesMaster1.xml" Id="R4d724862d7e440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25b56b31154506" /><Relationship Type="http://schemas.openxmlformats.org/officeDocument/2006/relationships/notesMaster" Target="/ppt/notesMasters/notesMaster1.xml" Id="Re16e10d1a7854a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44e6c74d0740be" /><Relationship Type="http://schemas.openxmlformats.org/officeDocument/2006/relationships/notesMaster" Target="/ppt/notesMasters/notesMaster1.xml" Id="R287bcfe4813a4b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901b0bb9344395" /><Relationship Type="http://schemas.openxmlformats.org/officeDocument/2006/relationships/notesMaster" Target="/ppt/notesMasters/notesMaster1.xml" Id="Rb3d6aaf8526146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14a579d3594722" /><Relationship Type="http://schemas.openxmlformats.org/officeDocument/2006/relationships/notesMaster" Target="/ppt/notesMasters/notesMaster1.xml" Id="Re77f12605d4345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c5626428f84cf2" /><Relationship Type="http://schemas.openxmlformats.org/officeDocument/2006/relationships/notesMaster" Target="/ppt/notesMasters/notesMaster1.xml" Id="Rc59ce6a482ea4b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3100a1d5f24da8" /><Relationship Type="http://schemas.openxmlformats.org/officeDocument/2006/relationships/notesMaster" Target="/ppt/notesMasters/notesMaster1.xml" Id="Rd06c76912fec44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35b5146c45432b" /><Relationship Type="http://schemas.openxmlformats.org/officeDocument/2006/relationships/notesMaster" Target="/ppt/notesMasters/notesMaster1.xml" Id="Rc7e131dd303246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8337cac5534e94" /><Relationship Type="http://schemas.openxmlformats.org/officeDocument/2006/relationships/notesMaster" Target="/ppt/notesMasters/notesMaster1.xml" Id="R1b77ed5e2fba43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84ede9f6164222" /><Relationship Type="http://schemas.openxmlformats.org/officeDocument/2006/relationships/notesMaster" Target="/ppt/notesMasters/notesMaster1.xml" Id="Ra11a7f7f47784b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b3c7cdc96c4eb3" /><Relationship Type="http://schemas.openxmlformats.org/officeDocument/2006/relationships/notesMaster" Target="/ppt/notesMasters/notesMaster1.xml" Id="Rde666951bcd447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b892cfb7594b16" /><Relationship Type="http://schemas.openxmlformats.org/officeDocument/2006/relationships/notesMaster" Target="/ppt/notesMasters/notesMaster1.xml" Id="R669697aba6db41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6d8f3d83de4903" /><Relationship Type="http://schemas.openxmlformats.org/officeDocument/2006/relationships/notesMaster" Target="/ppt/notesMasters/notesMaster1.xml" Id="R97ef7c5fea074a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4ffdfeacfb4f64" /><Relationship Type="http://schemas.openxmlformats.org/officeDocument/2006/relationships/notesMaster" Target="/ppt/notesMasters/notesMaster1.xml" Id="R6187aafaea8a43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56f548e7664c13" /><Relationship Type="http://schemas.openxmlformats.org/officeDocument/2006/relationships/notesMaster" Target="/ppt/notesMasters/notesMaster1.xml" Id="Rdc17271df2854a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427930f5e143e2" /><Relationship Type="http://schemas.openxmlformats.org/officeDocument/2006/relationships/notesMaster" Target="/ppt/notesMasters/notesMaster1.xml" Id="R331ed6cb549045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53087f0da84bad" /><Relationship Type="http://schemas.openxmlformats.org/officeDocument/2006/relationships/notesMaster" Target="/ppt/notesMasters/notesMaster1.xml" Id="Rd66569567aa243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2d3523c1f44fca" /><Relationship Type="http://schemas.openxmlformats.org/officeDocument/2006/relationships/notesMaster" Target="/ppt/notesMasters/notesMaster1.xml" Id="R493530a571124a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ce2c43fbbd4964" /><Relationship Type="http://schemas.openxmlformats.org/officeDocument/2006/relationships/notesMaster" Target="/ppt/notesMasters/notesMaster1.xml" Id="R71cd60d3e0994b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 15장과 부록 5장입니다. 저는 LSTM 구현을 맡았습니다. 이번 발표는 데이터 연결과 LSTM 계산을 검증하고, 기본·소형·Dropout 조건을 반복 실행한 과정을 설명합니다. 공식 test는 평가하지 않았습니다. 약 10분 설명은 본문을 중심으로 하고 세부 질문은 부록과 보고서에서 답합니다.</a:t>
            </a:r>
          </a:p>
          <a:p xmlns:a="http://schemas.openxmlformats.org/drawingml/2006/main">
            <a:r>
              <a:t/>
            </a:r>
          </a:p>
          <a:p xmlns:a="http://schemas.openxmlformats.org/drawingml/2006/main">
            <a:r>
              <a:t>근거</a:t>
            </a:r>
          </a:p>
          <a:p xmlns:a="http://schemas.openxmlformats.org/drawingml/2006/main">
            <a:r>
              <a:t>https://github.com/kara320090/smartphone-har/blob/main/docs/LSTM_EXECUTION_PLAN_KO.md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역할은 데이터 정회서, MLP 한윤섭, CNN 최승빈, RNN 유재윤, LSTM 이봉헌입니다. 다른 팀원의 모델을 대신 구현하지 않았습니다. 세 조건은 결과 전에 정했고, 보조 조건이 좋아도 이를 자동으로 공동 비교 대표로 바꾸지 않습니다. 모든 모델에 같은 탐색 예산을 쓴 비교와 혼동하지 않기 위해서입니다.</a:t>
            </a:r>
          </a:p>
          <a:p xmlns:a="http://schemas.openxmlformats.org/drawingml/2006/main">
            <a:r>
              <a:t/>
            </a:r>
          </a:p>
          <a:p xmlns:a="http://schemas.openxmlformats.org/drawingml/2006/main">
            <a:r>
              <a:t>근거</a:t>
            </a:r>
          </a:p>
          <a:p xmlns:a="http://schemas.openxmlformats.org/drawingml/2006/main">
            <a:r>
              <a:t>https://github.com/kara320090/smartphone-har/blob/main/configs/L01.json</a:t>
            </a:r>
          </a:p>
          <a:p xmlns:a="http://schemas.openxmlformats.org/drawingml/2006/main">
            <a:r>
              <a:t>https://github.com/kara320090/smartphone-har/blob/main/configs/L02.json</a:t>
            </a:r>
          </a:p>
          <a:p xmlns:a="http://schemas.openxmlformats.org/drawingml/2006/main">
            <a:r>
              <a:t>https://github.com/kara320090/smartphone-har/blob/main/configs/L03.json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processed_data라는 이름만으로 이미 표준화되었다고 가정하지 않았습니다. 생성 코드와 통계를 확인하니 분할한 배열과 통계가 별도였습니다. 학습 배열에서 계산한 통계와 저장 파일이 원소별 일치했고, 공식 train의 모든 행과 9채널 값을 대조했습니다. UCI 구간은 이미 필터링과 윈도잉된 자료입니다.</a:t>
            </a:r>
          </a:p>
          <a:p xmlns:a="http://schemas.openxmlformats.org/drawingml/2006/main">
            <a:r>
              <a:t/>
            </a:r>
          </a:p>
          <a:p xmlns:a="http://schemas.openxmlformats.org/drawingml/2006/main">
            <a:r>
              <a:t>근거</a:t>
            </a:r>
          </a:p>
          <a:p xmlns:a="http://schemas.openxmlformats.org/drawingml/2006/main">
            <a:r>
              <a:t>https://github.com/kara320090/smartphone-har/blob/main/reports/lstm/dataset_audit.json</a:t>
            </a:r>
          </a:p>
          <a:p xmlns:a="http://schemas.openxmlformats.org/drawingml/2006/main">
            <a:r>
              <a:t>https://archive.ics.uci.edu/dataset/240/human+activity+recognition+using+smartphones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LSTM은 은닉 상태와 셀 상태를 갱신합니다. 입력 게이트와 후보 정보, 망각 게이트, 출력 게이트를 사용합니다. 이 식은 현대 Keras의 형태이며 1997년 논문의 기본 아이디어와 이후 망각 게이트 확장을 구분합니다. 셀 상태가 있다는 사실만으로 장기 의존성을 학습했다고 증명되지는 않습니다.</a:t>
            </a:r>
          </a:p>
          <a:p xmlns:a="http://schemas.openxmlformats.org/drawingml/2006/main">
            <a:r>
              <a:t/>
            </a:r>
          </a:p>
          <a:p xmlns:a="http://schemas.openxmlformats.org/drawingml/2006/main">
            <a:r>
              <a:t>근거</a:t>
            </a:r>
          </a:p>
          <a:p xmlns:a="http://schemas.openxmlformats.org/drawingml/2006/main">
            <a:r>
              <a:t>https://keras.io/api/layers/recurrent_layers/lstm/</a:t>
            </a:r>
          </a:p>
          <a:p xmlns:a="http://schemas.openxmlformats.org/drawingml/2006/main">
            <a:r>
              <a:t>https://www.bioinf.jku.at/publications/older/2604.pdf</a:t>
            </a:r>
          </a:p>
          <a:p xmlns:a="http://schemas.openxmlformats.org/drawingml/2006/main">
            <a:r>
              <a:t>https://sferics.idsia.ch/pub/juergen/FgGates-NC.pdf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차원은 9이고 은닉 크기는 64입니다. LSTM의 네 묶음 게이트마다 입력 kernel, recurrent kernel, bias가 있어 4H(D+H+1)로 계산합니다. 소형 조건은 LSTM뿐 아니라 다음 Dense 입력 크기도 달라집니다. 은닉 크기가 같은 RNN과도 총 파라미터는 다를 수 있으므로 규모 차이를 기록해야 합니다.</a:t>
            </a:r>
          </a:p>
          <a:p xmlns:a="http://schemas.openxmlformats.org/drawingml/2006/main">
            <a:r>
              <a:t/>
            </a:r>
          </a:p>
          <a:p xmlns:a="http://schemas.openxmlformats.org/drawingml/2006/main">
            <a:r>
              <a:t>근거</a:t>
            </a:r>
          </a:p>
          <a:p xmlns:a="http://schemas.openxmlformats.org/drawingml/2006/main">
            <a:r>
              <a:t>https://github.com/kara320090/smartphone-har/blob/main/src/models/lstm.py</a:t>
            </a:r>
          </a:p>
          <a:p xmlns:a="http://schemas.openxmlformats.org/drawingml/2006/main">
            <a:r>
              <a:t>https://github.com/kara320090/smartphone-har/blob/main/tests/test_lstm.py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사람 분할을 고정했습니다. seed 반복은 이 분할에서 학습 변동을 보는 것이지 사람 모집단의 신뢰구간이 아닙니다. checkpoint는 F1이 아니라 val_loss로 선택합니다. 설정이나 실패 결과를 뒤늦게 덮어쓰지 않고 실행별 폴더를 보존합니다.</a:t>
            </a:r>
          </a:p>
          <a:p xmlns:a="http://schemas.openxmlformats.org/drawingml/2006/main">
            <a:r>
              <a:t/>
            </a:r>
          </a:p>
          <a:p xmlns:a="http://schemas.openxmlformats.org/drawingml/2006/main">
            <a:r>
              <a:t>근거</a:t>
            </a:r>
          </a:p>
          <a:p xmlns:a="http://schemas.openxmlformats.org/drawingml/2006/main">
            <a:r>
              <a:t>https://github.com/kara320090/smartphone-har/blob/main/docs/LSTM_EXECUTION_PLAN_KO.md</a:t>
            </a:r>
          </a:p>
          <a:p xmlns:a="http://schemas.openxmlformats.org/drawingml/2006/main">
            <a:r>
              <a:t>https://github.com/kara320090/smartphone-har/blob/main/src/train.py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seed라는 조건을 실제 초기 가중치 일치와 구분했습니다. L01 초기 배열을 저장하고 L03에 복사해 원소별로 비교했습니다. L02는 크기가 달라 같은 초기값이라고 주장하지 않습니다. 이후 Dropout의 확률적 경로 때문에 학습 궤적은 달라질 수 있으며 이는 비교하려는 조건입니다.</a:t>
            </a:r>
          </a:p>
          <a:p xmlns:a="http://schemas.openxmlformats.org/drawingml/2006/main">
            <a:r>
              <a:t/>
            </a:r>
          </a:p>
          <a:p xmlns:a="http://schemas.openxmlformats.org/drawingml/2006/main">
            <a:r>
              <a:t>근거</a:t>
            </a:r>
          </a:p>
          <a:p xmlns:a="http://schemas.openxmlformats.org/drawingml/2006/main">
            <a:r>
              <a:t>https://github.com/kara320090/smartphone-har/blob/main/src/train.py</a:t>
            </a:r>
          </a:p>
          <a:p xmlns:a="http://schemas.openxmlformats.org/drawingml/2006/main">
            <a:r>
              <a:t>https://github.com/kara320090/smartphone-har/blob/main/reports/lstm/initialization_audit.json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NumPy의 순전파와 BPTT를 자동미분 및 중앙차분과 비교했습니다. 자동미분 최대 차이는 2.776e-17, 중앙차분 최대 차이는 2.481e-10입니다. 미분을 일부러 틀리게 만든 대조는 실제 Keras 버그가 아닙니다. 테스트 개수를 모든 오류가 없다는 증거로 확대하지 않습니다.</a:t>
            </a:r>
          </a:p>
          <a:p xmlns:a="http://schemas.openxmlformats.org/drawingml/2006/main">
            <a:r>
              <a:t/>
            </a:r>
          </a:p>
          <a:p xmlns:a="http://schemas.openxmlformats.org/drawingml/2006/main">
            <a:r>
              <a:t>근거</a:t>
            </a:r>
          </a:p>
          <a:p xmlns:a="http://schemas.openxmlformats.org/drawingml/2006/main">
            <a:r>
              <a:t>https://github.com/kara320090/smartphone-har/blob/main/reports/lstm/math_verification.json</a:t>
            </a:r>
          </a:p>
          <a:p xmlns:a="http://schemas.openxmlformats.org/drawingml/2006/main">
            <a:r>
              <a:t>https://github.com/kara320090/smartphone-har/blob/main/reports/lstm/tests.xml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seed를 모두 표시했습니다. L01은 0.8813, L02는 0.8911, L03은 0.8550의 평균입니다. 조건별 순위는 이 설정과 분할 아래 관찰한 결과이며 보편적인 우월성이 아닙니다. 보조 조건 점수가 높더라도 공동 기준 L01을 자동 교체하지 않았습니다.</a:t>
            </a:r>
          </a:p>
          <a:p xmlns:a="http://schemas.openxmlformats.org/drawingml/2006/main">
            <a:r>
              <a:t/>
            </a:r>
          </a:p>
          <a:p xmlns:a="http://schemas.openxmlformats.org/drawingml/2006/main">
            <a:r>
              <a:t>근거</a:t>
            </a:r>
          </a:p>
          <a:p xmlns:a="http://schemas.openxmlformats.org/drawingml/2006/main">
            <a:r>
              <a:t>https://github.com/kara320090/smartphone-har/blob/main/reports/lstm/runs.csv</a:t>
            </a:r>
          </a:p>
          <a:p xmlns:a="http://schemas.openxmlformats.org/drawingml/2006/main">
            <a:r>
              <a:t>https://github.com/kara320090/smartphone-har/blob/main/reports/lstm/summary.csv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 손실이 내려가도 검증 손실이 개선되지 않을 수 있습니다. 손실은 정답 확률을 보고 F1은 분류 결과를 평가하므로 가장 높은 F1 epoch와 가장 낮은 손실 epoch가 다를 수 있습니다. 나중에 유리한 규칙으로 바꾸지 않았습니다. 나머지 두 seed의 곡선도 보고서에 모두 있습니다.</a:t>
            </a:r>
          </a:p>
          <a:p xmlns:a="http://schemas.openxmlformats.org/drawingml/2006/main">
            <a:r>
              <a:t/>
            </a:r>
          </a:p>
          <a:p xmlns:a="http://schemas.openxmlformats.org/drawingml/2006/main">
            <a:r>
              <a:t>근거</a:t>
            </a:r>
          </a:p>
          <a:p xmlns:a="http://schemas.openxmlformats.org/drawingml/2006/main">
            <a:r>
              <a:t>https://github.com/kara320090/smartphone-har/blob/main/reports/lstm/figures/learning_curves.png</a:t>
            </a:r>
          </a:p>
          <a:p xmlns:a="http://schemas.openxmlformats.org/drawingml/2006/main">
            <a:r>
              <a:t>https://github.com/kara320090/smartphone-har/blob/main/reports/lstm/runs.csv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혼동행렬은 대표 seed를 사전에 정해서 보여줍니다. 활동별 precision·recall·F1과 사람별 결과도 따로 보관했습니다. 혼동 원인을 신체 습관이나 센서 위치로 확정하지 않습니다. 원 신호와 추가 조건 분석 없이는 가능한 설명에 그칩니다.</a:t>
            </a:r>
          </a:p>
          <a:p xmlns:a="http://schemas.openxmlformats.org/drawingml/2006/main">
            <a:r>
              <a:t/>
            </a:r>
          </a:p>
          <a:p xmlns:a="http://schemas.openxmlformats.org/drawingml/2006/main">
            <a:r>
              <a:t>근거</a:t>
            </a:r>
          </a:p>
          <a:p xmlns:a="http://schemas.openxmlformats.org/drawingml/2006/main">
            <a:r>
              <a:t>https://github.com/kara320090/smartphone-har/blob/main/reports/lstm/L01_seed2026_confusion.json</a:t>
            </a:r>
          </a:p>
          <a:p xmlns:a="http://schemas.openxmlformats.org/drawingml/2006/main">
            <a:r>
              <a:t>https://github.com/kara320090/smartphone-har/blob/main/reports/lstm/class_metrics.csv</a:t>
            </a:r>
          </a:p>
          <a:p xmlns:a="http://schemas.openxmlformats.org/drawingml/2006/main">
            <a:r>
              <a:t>https://github.com/kara320090/smartphone-har/blob/main/reports/lstm/errors.csv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분할에서도 사람별 성능이 다릅니다. 전체 구간에서 클래스별 F1을 계산해 평균한 값과, 사람별 Macro F1을 먼저 계산한 뒤 평균한 값은 같지 않습니다. 사람마다 구간 수와 클래스 분포가 달라 support를 함께 제공합니다. seed 변동을 사람 모집단 신뢰구간으로 표현하지 않습니다.</a:t>
            </a:r>
          </a:p>
          <a:p xmlns:a="http://schemas.openxmlformats.org/drawingml/2006/main">
            <a:r>
              <a:t/>
            </a:r>
          </a:p>
          <a:p xmlns:a="http://schemas.openxmlformats.org/drawingml/2006/main">
            <a:r>
              <a:t>근거</a:t>
            </a:r>
          </a:p>
          <a:p xmlns:a="http://schemas.openxmlformats.org/drawingml/2006/main">
            <a:r>
              <a:t>https://github.com/kara320090/smartphone-har/blob/main/reports/lstm/subject_metrics.csv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대표 seed 2026의 세 조건을 표시하고 다른 여섯 실행도 원자료에 남겼습니다. 최초 tracing과 파일 로딩 및 Tensor 생성은 모델 시간에서 제외했습니다. 전처리 시간과 모델 시간의 median을 더해 전체 시스템 median이라고 부르지 않습니다. 학습 시간과 추론 시간의 측정 범위도 다릅니다.</a:t>
            </a:r>
          </a:p>
          <a:p xmlns:a="http://schemas.openxmlformats.org/drawingml/2006/main">
            <a:r>
              <a:t/>
            </a:r>
          </a:p>
          <a:p xmlns:a="http://schemas.openxmlformats.org/drawingml/2006/main">
            <a:r>
              <a:t>근거</a:t>
            </a:r>
          </a:p>
          <a:p xmlns:a="http://schemas.openxmlformats.org/drawingml/2006/main">
            <a:r>
              <a:t>https://github.com/kara320090/smartphone-har/blob/main/reports/lstm/latency_summary.csv</a:t>
            </a:r>
          </a:p>
          <a:p xmlns:a="http://schemas.openxmlformats.org/drawingml/2006/main">
            <a:r>
              <a:t>https://github.com/kara320090/smartphone-har/blob/main/reports/lstm/latency_samples.csv</a:t>
            </a:r>
          </a:p>
          <a:p xmlns:a="http://schemas.openxmlformats.org/drawingml/2006/main">
            <a:r>
              <a:t>https://github.com/kara320090/smartphone-har/blob/main/src/lstm_analysis.py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사람 분할이며 검증 자료는 epoch 선택에도 사용했습니다. 따라서 독립된 최종 평가와 구분합니다. RNN보다 높은지, CNN보다 빠른지는 팀원이 같은 기준으로 수행한 결과가 있어야 말할 수 있습니다. LSTM이 특정 시간 패턴을 왜 학습했는지도 별도 실험 없이는 추정입니다.</a:t>
            </a:r>
          </a:p>
          <a:p xmlns:a="http://schemas.openxmlformats.org/drawingml/2006/main">
            <a:r>
              <a:t/>
            </a:r>
          </a:p>
          <a:p xmlns:a="http://schemas.openxmlformats.org/drawingml/2006/main">
            <a:r>
              <a:t>근거</a:t>
            </a:r>
          </a:p>
          <a:p xmlns:a="http://schemas.openxmlformats.org/drawingml/2006/main">
            <a:r>
              <a:t>https://github.com/kara320090/smartphone-har/blob/main/docs/lstm-report/REPORT_KO.md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핵심은 재현 가능한 결과와 설명 가능한 범위를 함께 넘기는 것입니다. L01 세 seed를 공동 기준으로 제공하고 L02·L03은 보조 분석으로 표시합니다. 코드와 저장물, 초기값 대조, 새 프로세스 재예측, 보고서와 발표 근거를 연결했습니다. 전체 논문은 다른 팀원의 실제 결과를 받은 뒤 취합합니다.</a:t>
            </a:r>
          </a:p>
          <a:p xmlns:a="http://schemas.openxmlformats.org/drawingml/2006/main">
            <a:r>
              <a:t/>
            </a:r>
          </a:p>
          <a:p xmlns:a="http://schemas.openxmlformats.org/drawingml/2006/main">
            <a:r>
              <a:t>근거</a:t>
            </a:r>
          </a:p>
          <a:p xmlns:a="http://schemas.openxmlformats.org/drawingml/2006/main">
            <a:r>
              <a:t>https://github.com/kara320090/smartphone-har/blob/main/docs/lstm-report/LSTM_CONTRIBUTION_KO.md</a:t>
            </a:r>
          </a:p>
          <a:p xmlns:a="http://schemas.openxmlformats.org/drawingml/2006/main">
            <a:r>
              <a:t>https://github.com/kara320090/smartphone-har/blob/main/reports/lstm/summary.csv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미래에서 오는 셀 상태 기울기와 현재 은닉 상태를 통해 들어오는 기울기를 합칩니다. 망각 게이트의 preactivation 미분에는 sigmoid 미분이 필요합니다. 이를 의도적으로 빼면 자동미분과 차이가 나서 검사가 실패합니다. 전체 파라미터는 58개이고 세 간격으로 174회 검사했습니다.</a:t>
            </a:r>
          </a:p>
          <a:p xmlns:a="http://schemas.openxmlformats.org/drawingml/2006/main">
            <a:r>
              <a:t/>
            </a:r>
          </a:p>
          <a:p xmlns:a="http://schemas.openxmlformats.org/drawingml/2006/main">
            <a:r>
              <a:t>근거</a:t>
            </a:r>
          </a:p>
          <a:p xmlns:a="http://schemas.openxmlformats.org/drawingml/2006/main">
            <a:r>
              <a:t>https://github.com/kara320090/smartphone-har/blob/main/src/lstm_math_checks.py</a:t>
            </a:r>
          </a:p>
          <a:p xmlns:a="http://schemas.openxmlformats.org/drawingml/2006/main">
            <a:r>
              <a:t>https://github.com/kara320090/smartphone-har/blob/main/reports/lstm/gradient_checks.csv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정식 실행을 공개합니다. 최고 한 번의 결과만 사용하지 않았고 실패한 실행을 성공 실행으로 바꾸지 않았습니다. 작은 연결 검사는 정식 결과와 분리했습니다. 표의 값은 저장된 예측에서 다시 계산했습니다.</a:t>
            </a:r>
          </a:p>
          <a:p xmlns:a="http://schemas.openxmlformats.org/drawingml/2006/main">
            <a:r>
              <a:t/>
            </a:r>
          </a:p>
          <a:p xmlns:a="http://schemas.openxmlformats.org/drawingml/2006/main">
            <a:r>
              <a:t>근거</a:t>
            </a:r>
          </a:p>
          <a:p xmlns:a="http://schemas.openxmlformats.org/drawingml/2006/main">
            <a:r>
              <a:t>https://github.com/kara320090/smartphone-har/blob/main/reports/lstm/runs.csv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seed와 같은 사람 분할의 차이를 대응시켜 제시합니다. 세 쌍의 값만으로 새로운 사용자 집단에 대한 확실한 우월성을 말하지 않습니다. L02는 파라미터 규모가 달라지고 L03은 같은 초기 가중치에서 외부 Dropout이 바뀌는 조건입니다.</a:t>
            </a:r>
          </a:p>
          <a:p xmlns:a="http://schemas.openxmlformats.org/drawingml/2006/main">
            <a:r>
              <a:t/>
            </a:r>
          </a:p>
          <a:p xmlns:a="http://schemas.openxmlformats.org/drawingml/2006/main">
            <a:r>
              <a:t>근거</a:t>
            </a:r>
          </a:p>
          <a:p xmlns:a="http://schemas.openxmlformats.org/drawingml/2006/main">
            <a:r>
              <a:t>https://github.com/kara320090/smartphone-har/blob/main/reports/lstm/paired_differences.csv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파일명과 함수 이름만으로 입력 상태를 추정하지 않은 이유입니다. float64와 float32의 차이는 실제 배열 비교로 확인했지만 어느 쪽이 더 높은 정확도인지는 실험하지 않았습니다. 중복 표준화도 의도적 입력 대조이며 정식 실행에서 발생한 사고로 설명하지 않습니다.</a:t>
            </a:r>
          </a:p>
          <a:p xmlns:a="http://schemas.openxmlformats.org/drawingml/2006/main">
            <a:r>
              <a:t/>
            </a:r>
          </a:p>
          <a:p xmlns:a="http://schemas.openxmlformats.org/drawingml/2006/main">
            <a:r>
              <a:t>근거</a:t>
            </a:r>
          </a:p>
          <a:p xmlns:a="http://schemas.openxmlformats.org/drawingml/2006/main">
            <a:r>
              <a:t>https://github.com/kara320090/smartphone-har/blob/main/reports/lstm/dataset_audit.json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질문에는 실제 근거와 적용 범위로 답합니다. 테스트 수나 모델 이름 자체를 성능 보증으로 삼지 않습니다. 관련 HAR 연구에는 CNN과 LSTM 결합 모델도 있지만 이번 모델이 해당 논문을 재현했다고 표현하지 않습니다. 자세한 수식, 전체 수치, 재현 명령은 보고서와 질의응답 문서에 있습니다.</a:t>
            </a:r>
          </a:p>
          <a:p xmlns:a="http://schemas.openxmlformats.org/drawingml/2006/main">
            <a:r>
              <a:t/>
            </a:r>
          </a:p>
          <a:p xmlns:a="http://schemas.openxmlformats.org/drawingml/2006/main">
            <a:r>
              <a:t>근거</a:t>
            </a:r>
          </a:p>
          <a:p xmlns:a="http://schemas.openxmlformats.org/drawingml/2006/main">
            <a:r>
              <a:t>https://github.com/kara320090/smartphone-har/blob/main/docs/lstm-report/DEFENSE_QA_KO.md</a:t>
            </a:r>
          </a:p>
          <a:p xmlns:a="http://schemas.openxmlformats.org/drawingml/2006/main">
            <a:r>
              <a:t>https://pmc.ncbi.nlm.nih.gov/articles/PMC4732148/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4cad0c97da42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6ca9ebbde146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1315c04a4641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b79cbbc3f44b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3ac5308e6847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6352b0ea7944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7D9AAF-2AD9-4759-AB0B-8B8CBEA891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778D4F-5D90-4721-8619-DC35A6F70A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DAB80B-9200-4950-9696-17DDD6F06C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D93864-662D-4CFA-A42A-515D10419A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CC503F-B096-4F2A-BFA6-A5DA2BC842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D90CAB-299C-44EE-93B7-274CB16E4C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C1FE90-8B6D-45A7-A494-026E225775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FAA345-4AC7-4B54-84D3-0ECADCDF3C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EEECEC-CC47-4D57-BFFF-CEDF6C58BF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66B6F3-08D9-41B7-9817-A8A48A10C0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88f8ce9afb417c" /><Relationship Type="http://schemas.openxmlformats.org/officeDocument/2006/relationships/slideLayout" Target="/ppt/slideLayouts/slideLayout1.xml" Id="R374dc8d851964d67" /><Relationship Type="http://schemas.openxmlformats.org/officeDocument/2006/relationships/slideLayout" Target="/ppt/slideLayouts/slideLayout2.xml" Id="Rdaf1e46e2aa4455f" /><Relationship Type="http://schemas.openxmlformats.org/officeDocument/2006/relationships/slideLayout" Target="/ppt/slideLayouts/slideLayout3.xml" Id="R319f04a703204e5b" /><Relationship Type="http://schemas.openxmlformats.org/officeDocument/2006/relationships/slideLayout" Target="/ppt/slideLayouts/slideLayout4.xml" Id="Rfe39d1263aa04d28" /><Relationship Type="http://schemas.openxmlformats.org/officeDocument/2006/relationships/slideLayout" Target="/ppt/slideLayouts/slideLayout5.xml" Id="Rbf5f221b817d4424" /><Relationship Type="http://schemas.openxmlformats.org/officeDocument/2006/relationships/slideLayout" Target="/ppt/slideLayouts/slideLayout6.xml" Id="Radb12447b0c54b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4dc8d851964d67"/>
    <p:sldLayoutId xmlns:r="http://schemas.openxmlformats.org/officeDocument/2006/relationships" id="2147483650" r:id="Rdaf1e46e2aa4455f"/>
    <p:sldLayoutId xmlns:r="http://schemas.openxmlformats.org/officeDocument/2006/relationships" id="2147483651" r:id="R319f04a703204e5b"/>
    <p:sldLayoutId xmlns:r="http://schemas.openxmlformats.org/officeDocument/2006/relationships" id="2147483652" r:id="Rfe39d1263aa04d28"/>
    <p:sldLayoutId xmlns:r="http://schemas.openxmlformats.org/officeDocument/2006/relationships" id="2147483653" r:id="Rbf5f221b817d4424"/>
    <p:sldLayoutId xmlns:r="http://schemas.openxmlformats.org/officeDocument/2006/relationships" id="2147483654" r:id="Radb12447b0c54b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9929a88cc941fb" /><Relationship Type="http://schemas.openxmlformats.org/officeDocument/2006/relationships/notesSlide" Target="/ppt/notesSlides/notesSlide1.xml" Id="Ree0cc9fa10db4a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8a282395c440c4" /><Relationship Type="http://schemas.openxmlformats.org/officeDocument/2006/relationships/notesSlide" Target="/ppt/notesSlides/notesSlide2.xml" Id="R0fe92cc5905a47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3d402f7c54481d" /><Relationship Type="http://schemas.openxmlformats.org/officeDocument/2006/relationships/notesSlide" Target="/ppt/notesSlides/notesSlide3.xml" Id="R8fc474a9f20446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1822f825ec4c81" /><Relationship Type="http://schemas.openxmlformats.org/officeDocument/2006/relationships/notesSlide" Target="/ppt/notesSlides/notesSlide4.xml" Id="R9e70ff664e6a48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07181d5a93416c" /><Relationship Type="http://schemas.openxmlformats.org/officeDocument/2006/relationships/notesSlide" Target="/ppt/notesSlides/notesSlide5.xml" Id="Rf7180b0ae65740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62a4ac42b5452b" /><Relationship Type="http://schemas.openxmlformats.org/officeDocument/2006/relationships/notesSlide" Target="/ppt/notesSlides/notesSlide6.xml" Id="R24b2e971a3384b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b6df1cc1594f7f" /><Relationship Type="http://schemas.openxmlformats.org/officeDocument/2006/relationships/notesSlide" Target="/ppt/notesSlides/notesSlide7.xml" Id="Rb6f7a7451e794b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24a701e52840c5" /><Relationship Type="http://schemas.openxmlformats.org/officeDocument/2006/relationships/notesSlide" Target="/ppt/notesSlides/notesSlide8.xml" Id="R17e8c5a0ba8a4b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997b2883764ca2" /><Relationship Type="http://schemas.openxmlformats.org/officeDocument/2006/relationships/chart" Target="/ppt/slides/charts/chart1.xml" Id="Re3db053c44f4435b" /><Relationship Type="http://schemas.openxmlformats.org/officeDocument/2006/relationships/notesSlide" Target="/ppt/notesSlides/notesSlide9.xml" Id="R86033e1323f445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7d612aff674853" /><Relationship Type="http://schemas.openxmlformats.org/officeDocument/2006/relationships/chart" Target="/ppt/slides/charts/chart2.xml" Id="Ra1db4612d5884c16" /><Relationship Type="http://schemas.openxmlformats.org/officeDocument/2006/relationships/notesSlide" Target="/ppt/notesSlides/notesSlide10.xml" Id="R084391f3fd3448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21972447384ebf" /><Relationship Type="http://schemas.openxmlformats.org/officeDocument/2006/relationships/notesSlide" Target="/ppt/notesSlides/notesSlide11.xml" Id="R6bcb767820b440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09f9f2d0bd4a7b" /><Relationship Type="http://schemas.openxmlformats.org/officeDocument/2006/relationships/chart" Target="/ppt/slides/charts/chart3.xml" Id="R0c7eef43bbba4591" /><Relationship Type="http://schemas.openxmlformats.org/officeDocument/2006/relationships/notesSlide" Target="/ppt/notesSlides/notesSlide12.xml" Id="R92c38d5e6e524a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30a456265240b1" /><Relationship Type="http://schemas.openxmlformats.org/officeDocument/2006/relationships/notesSlide" Target="/ppt/notesSlides/notesSlide13.xml" Id="R0791b2e3b7e44c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c947ac343a242de" /><Relationship Type="http://schemas.openxmlformats.org/officeDocument/2006/relationships/notesSlide" Target="/ppt/notesSlides/notesSlide14.xml" Id="R07f2e340c9bc41b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8149e065a70432f" /><Relationship Type="http://schemas.openxmlformats.org/officeDocument/2006/relationships/notesSlide" Target="/ppt/notesSlides/notesSlide15.xml" Id="R0e4c30e9ad8e40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3e22c266ce146db" /><Relationship Type="http://schemas.openxmlformats.org/officeDocument/2006/relationships/notesSlide" Target="/ppt/notesSlides/notesSlide16.xml" Id="Rcd386b8ab54e4d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29c9977ea9549fe" /><Relationship Type="http://schemas.openxmlformats.org/officeDocument/2006/relationships/notesSlide" Target="/ppt/notesSlides/notesSlide17.xml" Id="Rc13cdb1bab1f47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0ba63b7be22407b" /><Relationship Type="http://schemas.openxmlformats.org/officeDocument/2006/relationships/notesSlide" Target="/ppt/notesSlides/notesSlide18.xml" Id="R2abf95845f3a40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014fc40c1d040c1" /><Relationship Type="http://schemas.openxmlformats.org/officeDocument/2006/relationships/notesSlide" Target="/ppt/notesSlides/notesSlide19.xml" Id="Rd7f6c1f2439f4c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52ecbbd6633445c" /><Relationship Type="http://schemas.openxmlformats.org/officeDocument/2006/relationships/notesSlide" Target="/ppt/notesSlides/notesSlide20.xml" Id="Rde3673d37f134bb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17364A"/>
            </a:solidFill>
          </c:spPr>
          <c:cat>
            <c:strRef>
              <c:f>'Chart Data'!$A$2:$A$4</c:f>
              <c:strCache>
                <c:ptCount val="3"/>
                <c:pt idx="0">
                  <c:v>L01 기본</c:v>
                </c:pt>
                <c:pt idx="1">
                  <c:v>L02 소형</c:v>
                </c:pt>
                <c:pt idx="2">
                  <c:v>L03 Dropout</c:v>
                </c:pt>
              </c:strCache>
            </c:strRef>
          </c:cat>
          <c:val>
            <c:numRef>
              <c:f>'Chart Data'!$B$2:$B$4</c:f>
              <c:numCache>
                <c:formatCode>General</c:formatCode>
                <c:ptCount val="3"/>
                <c:pt idx="0">
                  <c:v>0.85899</c:v>
                </c:pt>
                <c:pt idx="1">
                  <c:v>0.884372</c:v>
                </c:pt>
                <c:pt idx="2">
                  <c:v>0.864267</c:v>
                </c:pt>
              </c:numCache>
            </c:numRef>
          </c:val>
        </c:ser>
        <c:ser>
          <c:idx val="1"/>
          <c:order val="1"/>
          <c:tx>
            <c:v>seed 2027</c:v>
          </c:tx>
          <c:spPr>
            <a:solidFill xmlns:a="http://schemas.openxmlformats.org/drawingml/2006/main">
              <a:srgbClr val="147D85"/>
            </a:solidFill>
          </c:spPr>
          <c:cat>
            <c:strRef>
              <c:f>'Chart Data'!$C$2:$C$4</c:f>
              <c:strCache>
                <c:ptCount val="3"/>
                <c:pt idx="0">
                  <c:v>L01 기본</c:v>
                </c:pt>
                <c:pt idx="1">
                  <c:v>L02 소형</c:v>
                </c:pt>
                <c:pt idx="2">
                  <c:v>L03 Dropout</c:v>
                </c:pt>
              </c:strCache>
            </c:strRef>
          </c:cat>
          <c:val>
            <c:numRef>
              <c:f>'Chart Data'!$D$2:$D$4</c:f>
              <c:numCache>
                <c:formatCode>General</c:formatCode>
                <c:ptCount val="3"/>
                <c:pt idx="0">
                  <c:v>0.895222</c:v>
                </c:pt>
                <c:pt idx="1">
                  <c:v>0.908261</c:v>
                </c:pt>
                <c:pt idx="2">
                  <c:v>0.888338</c:v>
                </c:pt>
              </c:numCache>
            </c:numRef>
          </c:val>
        </c:ser>
        <c:ser>
          <c:idx val="2"/>
          <c:order val="2"/>
          <c:tx>
            <c:v>seed 2028</c:v>
          </c:tx>
          <c:spPr>
            <a:solidFill xmlns:a="http://schemas.openxmlformats.org/drawingml/2006/main">
              <a:srgbClr val="BD7042"/>
            </a:solidFill>
          </c:spPr>
          <c:cat>
            <c:strRef>
              <c:f>'Chart Data'!$E$2:$E$4</c:f>
              <c:strCache>
                <c:ptCount val="3"/>
                <c:pt idx="0">
                  <c:v>L01 기본</c:v>
                </c:pt>
                <c:pt idx="1">
                  <c:v>L02 소형</c:v>
                </c:pt>
                <c:pt idx="2">
                  <c:v>L03 Dropout</c:v>
                </c:pt>
              </c:strCache>
            </c:strRef>
          </c:cat>
          <c:val>
            <c:numRef>
              <c:f>'Chart Data'!$F$2:$F$4</c:f>
              <c:numCache>
                <c:formatCode>General</c:formatCode>
                <c:ptCount val="3"/>
                <c:pt idx="0">
                  <c:v>0.889602</c:v>
                </c:pt>
                <c:pt idx="1">
                  <c:v>0.880689</c:v>
                </c:pt>
                <c:pt idx="2">
                  <c:v>0.812527</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E0E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학습 loss</c:v>
          </c:tx>
          <c:spPr>
            <a:ln xmlns:a="http://schemas.openxmlformats.org/drawingml/2006/main" w="28575">
              <a:solidFill>
                <a:srgbClr val="17364A"/>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General</c:formatCode>
                <c:ptCount val="10"/>
                <c:pt idx="0">
                  <c:v>1.036854</c:v>
                </c:pt>
                <c:pt idx="1">
                  <c:v>0.436004</c:v>
                </c:pt>
                <c:pt idx="2">
                  <c:v>0.255018</c:v>
                </c:pt>
                <c:pt idx="3">
                  <c:v>0.174274</c:v>
                </c:pt>
                <c:pt idx="4">
                  <c:v>0.184126</c:v>
                </c:pt>
                <c:pt idx="5">
                  <c:v>0.140586</c:v>
                </c:pt>
                <c:pt idx="6">
                  <c:v>0.157027</c:v>
                </c:pt>
                <c:pt idx="7">
                  <c:v>0.129872</c:v>
                </c:pt>
                <c:pt idx="8">
                  <c:v>0.1478</c:v>
                </c:pt>
                <c:pt idx="9">
                  <c:v>0.122836</c:v>
                </c:pt>
              </c:numCache>
            </c:numRef>
          </c:val>
          <c:smooth val="0"/>
        </c:ser>
        <c:ser>
          <c:idx val="1"/>
          <c:order val="1"/>
          <c:tx>
            <c:v>검증 loss</c:v>
          </c:tx>
          <c:spPr>
            <a:ln xmlns:a="http://schemas.openxmlformats.org/drawingml/2006/main" w="28575">
              <a:solidFill>
                <a:srgbClr val="BD7042"/>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General</c:formatCode>
                <c:ptCount val="10"/>
                <c:pt idx="0">
                  <c:v>0.759972</c:v>
                </c:pt>
                <c:pt idx="1">
                  <c:v>0.67508</c:v>
                </c:pt>
                <c:pt idx="2">
                  <c:v>0.293767</c:v>
                </c:pt>
                <c:pt idx="3">
                  <c:v>0.278118</c:v>
                </c:pt>
                <c:pt idx="4">
                  <c:v>0.354769</c:v>
                </c:pt>
                <c:pt idx="5">
                  <c:v>0.387934</c:v>
                </c:pt>
                <c:pt idx="6">
                  <c:v>0.417708</c:v>
                </c:pt>
                <c:pt idx="7">
                  <c:v>0.426356</c:v>
                </c:pt>
                <c:pt idx="8">
                  <c:v>0.415577</c:v>
                </c:pt>
                <c:pt idx="9">
                  <c:v>0.469808</c:v>
                </c:pt>
              </c:numCache>
            </c:numRef>
          </c: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epoch</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in val="0"/>
        </c:scaling>
        <c:delete val="0"/>
        <c:axPos val="l"/>
        <c:majorGridlines>
          <c:spPr>
            <a:ln xmlns:a="http://schemas.openxmlformats.org/drawingml/2006/main" w="9525">
              <a:solidFill>
                <a:srgbClr val="D5E0E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17364A"/>
            </a:solidFill>
          </c:spPr>
          <c:cat>
            <c:numRef>
              <c:f>'Chart Data'!$A$2:$A$6</c:f>
              <c:numCache>
                <c:formatCode>General</c:formatCode>
                <c:ptCount val="5"/>
                <c:pt idx="0">
                  <c:v>1</c:v>
                </c:pt>
                <c:pt idx="1">
                  <c:v>6</c:v>
                </c:pt>
                <c:pt idx="2">
                  <c:v>14</c:v>
                </c:pt>
                <c:pt idx="3">
                  <c:v>21</c:v>
                </c:pt>
                <c:pt idx="4">
                  <c:v>23</c:v>
                </c:pt>
              </c:numCache>
            </c:numRef>
          </c:cat>
          <c:val>
            <c:numRef>
              <c:f>'Chart Data'!$B$2:$B$6</c:f>
              <c:numCache>
                <c:formatCode>General</c:formatCode>
                <c:ptCount val="5"/>
                <c:pt idx="0">
                  <c:v>0.978917</c:v>
                </c:pt>
                <c:pt idx="1">
                  <c:v>0.905753</c:v>
                </c:pt>
                <c:pt idx="2">
                  <c:v>0.613334</c:v>
                </c:pt>
                <c:pt idx="3">
                  <c:v>0.83584</c:v>
                </c:pt>
                <c:pt idx="4">
                  <c:v>0.930426</c:v>
                </c:pt>
              </c:numCache>
            </c:numRef>
          </c:val>
        </c:ser>
        <c:ser>
          <c:idx val="1"/>
          <c:order val="1"/>
          <c:tx>
            <c:v>seed 2027</c:v>
          </c:tx>
          <c:spPr>
            <a:solidFill xmlns:a="http://schemas.openxmlformats.org/drawingml/2006/main">
              <a:srgbClr val="147D85"/>
            </a:solidFill>
          </c:spPr>
          <c:cat>
            <c:numRef>
              <c:f>'Chart Data'!$C$2:$C$6</c:f>
              <c:numCache>
                <c:formatCode>General</c:formatCode>
                <c:ptCount val="5"/>
                <c:pt idx="0">
                  <c:v>1</c:v>
                </c:pt>
                <c:pt idx="1">
                  <c:v>6</c:v>
                </c:pt>
                <c:pt idx="2">
                  <c:v>14</c:v>
                </c:pt>
                <c:pt idx="3">
                  <c:v>21</c:v>
                </c:pt>
                <c:pt idx="4">
                  <c:v>23</c:v>
                </c:pt>
              </c:numCache>
            </c:numRef>
          </c:cat>
          <c:val>
            <c:numRef>
              <c:f>'Chart Data'!$D$2:$D$6</c:f>
              <c:numCache>
                <c:formatCode>General</c:formatCode>
                <c:ptCount val="5"/>
                <c:pt idx="0">
                  <c:v>0.981778</c:v>
                </c:pt>
                <c:pt idx="1">
                  <c:v>0.957027</c:v>
                </c:pt>
                <c:pt idx="2">
                  <c:v>0.564846</c:v>
                </c:pt>
                <c:pt idx="3">
                  <c:v>0.991126</c:v>
                </c:pt>
                <c:pt idx="4">
                  <c:v>0.892727</c:v>
                </c:pt>
              </c:numCache>
            </c:numRef>
          </c:val>
        </c:ser>
        <c:ser>
          <c:idx val="2"/>
          <c:order val="2"/>
          <c:tx>
            <c:v>seed 2028</c:v>
          </c:tx>
          <c:spPr>
            <a:solidFill xmlns:a="http://schemas.openxmlformats.org/drawingml/2006/main">
              <a:srgbClr val="BD7042"/>
            </a:solidFill>
          </c:spPr>
          <c:cat>
            <c:numRef>
              <c:f>'Chart Data'!$E$2:$E$6</c:f>
              <c:numCache>
                <c:formatCode>General</c:formatCode>
                <c:ptCount val="5"/>
                <c:pt idx="0">
                  <c:v>1</c:v>
                </c:pt>
                <c:pt idx="1">
                  <c:v>6</c:v>
                </c:pt>
                <c:pt idx="2">
                  <c:v>14</c:v>
                </c:pt>
                <c:pt idx="3">
                  <c:v>21</c:v>
                </c:pt>
                <c:pt idx="4">
                  <c:v>23</c:v>
                </c:pt>
              </c:numCache>
            </c:numRef>
          </c:cat>
          <c:val>
            <c:numRef>
              <c:f>'Chart Data'!$F$2:$F$6</c:f>
              <c:numCache>
                <c:formatCode>General</c:formatCode>
                <c:ptCount val="5"/>
                <c:pt idx="0">
                  <c:v>0.997409</c:v>
                </c:pt>
                <c:pt idx="1">
                  <c:v>0.948076</c:v>
                </c:pt>
                <c:pt idx="2">
                  <c:v>0.648439</c:v>
                </c:pt>
                <c:pt idx="3">
                  <c:v>0.846008</c:v>
                </c:pt>
                <c:pt idx="4">
                  <c:v>0.972245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검증 사람 ID</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E0E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8EC0C1-8E4C-4527-B9AA-37838F8B4DA6}"/>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스마트폰 행동 인식</a:t>
            </a:r>
          </a:p>
        </p:txBody>
      </p:sp>
      <p:sp>
        <p:nvSpPr>
          <p:cNvPr id="2" name="">
            <a:extLst xmlns:a="http://schemas.openxmlformats.org/drawingml/2006/main">
              <a:ext uri="{FF2B5EF4-FFF2-40B4-BE49-F238E27FC236}">
                <a16:creationId xmlns:a16="http://schemas.microsoft.com/office/drawing/2014/main" id="{5A3AAF2A-982D-4623-B60B-9FB0E920A14F}"/>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a:t>
            </a:r>
          </a:p>
        </p:txBody>
      </p:sp>
      <p:sp>
        <p:nvSpPr>
          <p:cNvPr id="3" name="">
            <a:extLst xmlns:a="http://schemas.openxmlformats.org/drawingml/2006/main">
              <a:ext uri="{FF2B5EF4-FFF2-40B4-BE49-F238E27FC236}">
                <a16:creationId xmlns:a16="http://schemas.microsoft.com/office/drawing/2014/main" id="{2FABE8BD-B96F-490E-BEB6-26ED445C951B}"/>
              </a:ext>
            </a:extLst>
          </p:cNvPr>
          <p:cNvSpPr>
            <a:spLocks xmlns:a="http://schemas.openxmlformats.org/drawingml/2006/main" noGrp="1"/>
          </p:cNvSpPr>
          <p:nvPr/>
        </p:nvSpPr>
        <p:spPr>
          <a:xfrm xmlns:a="http://schemas.openxmlformats.org/drawingml/2006/main">
            <a:off x="647700" y="22288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17364A"/>
                </a:solidFill>
                <a:latin typeface="Malgun Gothic"/>
                <a:ea typeface="Malgun Gothic"/>
                <a:cs typeface="Malgun Gothic"/>
              </a:defRPr>
            </a:defPPr>
          </a:lstStyle>
          <a:p xmlns:a="http://schemas.openxmlformats.org/drawingml/2006/main">
            <a:pPr>
              <a:defRPr sz="4425" b="1">
                <a:solidFill>
                  <a:srgbClr val="17364A"/>
                </a:solidFill>
                <a:latin typeface="Malgun Gothic"/>
                <a:ea typeface="Malgun Gothic"/>
                <a:cs typeface="Malgun Gothic"/>
              </a:defRPr>
            </a:pPr>
            <a:r>
              <a:rPr sz="4425" b="1">
                <a:solidFill>
                  <a:srgbClr val="17364A"/>
                </a:solidFill>
                <a:latin typeface="Malgun Gothic"/>
                <a:ea typeface="Malgun Gothic"/>
                <a:cs typeface="Malgun Gothic"/>
              </a:rPr>
              <a:t>LSTM 구현과 검증</a:t>
            </a:r>
          </a:p>
        </p:txBody>
      </p:sp>
      <p:sp>
        <p:nvSpPr>
          <p:cNvPr id="4" name="">
            <a:extLst xmlns:a="http://schemas.openxmlformats.org/drawingml/2006/main">
              <a:ext uri="{FF2B5EF4-FFF2-40B4-BE49-F238E27FC236}">
                <a16:creationId xmlns:a16="http://schemas.microsoft.com/office/drawing/2014/main" id="{9611B1A9-8031-42BD-B993-045F965B9A3D}"/>
              </a:ext>
            </a:extLst>
          </p:cNvPr>
          <p:cNvSpPr>
            <a:spLocks xmlns:a="http://schemas.openxmlformats.org/drawingml/2006/main" noGrp="1"/>
          </p:cNvSpPr>
          <p:nvPr/>
        </p:nvSpPr>
        <p:spPr>
          <a:xfrm xmlns:a="http://schemas.openxmlformats.org/drawingml/2006/main">
            <a:off x="685800" y="35433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47D85"/>
                </a:solidFill>
                <a:latin typeface="Malgun Gothic"/>
                <a:ea typeface="Malgun Gothic"/>
                <a:cs typeface="Malgun Gothic"/>
              </a:defRPr>
            </a:defPPr>
          </a:lstStyle>
          <a:p xmlns:a="http://schemas.openxmlformats.org/drawingml/2006/main">
            <a:pPr>
              <a:defRPr sz="2475" b="0">
                <a:solidFill>
                  <a:srgbClr val="147D85"/>
                </a:solidFill>
                <a:latin typeface="Malgun Gothic"/>
                <a:ea typeface="Malgun Gothic"/>
                <a:cs typeface="Malgun Gothic"/>
              </a:defRPr>
            </a:pPr>
            <a:r>
              <a:rPr sz="2475" b="0">
                <a:solidFill>
                  <a:srgbClr val="147D85"/>
                </a:solidFill>
                <a:latin typeface="Malgun Gothic"/>
                <a:ea typeface="Malgun Gothic"/>
                <a:cs typeface="Malgun Gothic"/>
              </a:rPr>
              <a:t>같은 입력과 초기 가중치로 비교한 9회 실험</a:t>
            </a:r>
          </a:p>
        </p:txBody>
      </p:sp>
      <p:sp>
        <p:nvSpPr>
          <p:cNvPr id="5" name="">
            <a:extLst xmlns:a="http://schemas.openxmlformats.org/drawingml/2006/main">
              <a:ext uri="{FF2B5EF4-FFF2-40B4-BE49-F238E27FC236}">
                <a16:creationId xmlns:a16="http://schemas.microsoft.com/office/drawing/2014/main" id="{55C70761-43D5-4533-B616-99CC0A882139}"/>
              </a:ext>
            </a:extLst>
          </p:cNvPr>
          <p:cNvSpPr>
            <a:spLocks xmlns:a="http://schemas.openxmlformats.org/drawingml/2006/main" noGrp="1"/>
          </p:cNvSpPr>
          <p:nvPr/>
        </p:nvSpPr>
        <p:spPr>
          <a:xfrm xmlns:a="http://schemas.openxmlformats.org/drawingml/2006/main">
            <a:off x="704850" y="4953000"/>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96B77"/>
                </a:solidFill>
                <a:latin typeface="Malgun Gothic"/>
                <a:ea typeface="Malgun Gothic"/>
                <a:cs typeface="Malgun Gothic"/>
              </a:defRPr>
            </a:defPPr>
          </a:lstStyle>
          <a:p xmlns:a="http://schemas.openxmlformats.org/drawingml/2006/main">
            <a:pPr>
              <a:defRPr sz="2025" b="0">
                <a:solidFill>
                  <a:srgbClr val="596B77"/>
                </a:solidFill>
                <a:latin typeface="Malgun Gothic"/>
                <a:ea typeface="Malgun Gothic"/>
                <a:cs typeface="Malgun Gothic"/>
              </a:defRPr>
            </a:pPr>
            <a:r>
              <a:rPr sz="2025" b="0">
                <a:solidFill>
                  <a:srgbClr val="596B77"/>
                </a:solidFill>
                <a:latin typeface="Malgun Gothic"/>
                <a:ea typeface="Malgun Gothic"/>
                <a:cs typeface="Malgun Gothic"/>
              </a:rPr>
              <a:t>이봉헌</a:t>
            </a:r>
          </a:p>
          <a:p xmlns:a="http://schemas.openxmlformats.org/drawingml/2006/main">
            <a:pPr>
              <a:defRPr sz="2025" b="0">
                <a:solidFill>
                  <a:srgbClr val="596B77"/>
                </a:solidFill>
                <a:latin typeface="Malgun Gothic"/>
                <a:ea typeface="Malgun Gothic"/>
                <a:cs typeface="Malgun Gothic"/>
              </a:defRPr>
            </a:pPr>
            <a:r>
              <a:rPr sz="2025" b="0">
                <a:solidFill>
                  <a:srgbClr val="596B77"/>
                </a:solidFill>
                <a:latin typeface="Malgun Gothic"/>
                <a:ea typeface="Malgun Gothic"/>
                <a:cs typeface="Malgun Gothic"/>
              </a:rPr>
              <a:t>사용자 독립 validation 평가  2026년 10월</a:t>
            </a:r>
          </a:p>
        </p:txBody>
      </p:sp>
    </p:spTree>
    <p:extLst>
      <p:ext uri="{BB962C8B-B14F-4D97-AF65-F5344CB8AC3E}">
        <p14:creationId xmlns:p14="http://schemas.microsoft.com/office/powerpoint/2010/main" val="69436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67600F-F163-43F6-92E3-D34AD221B6D3}"/>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확인하려는 세 가지 차이</a:t>
            </a:r>
          </a:p>
        </p:txBody>
      </p:sp>
      <p:sp>
        <p:nvSpPr>
          <p:cNvPr id="2" name="">
            <a:extLst xmlns:a="http://schemas.openxmlformats.org/drawingml/2006/main">
              <a:ext uri="{FF2B5EF4-FFF2-40B4-BE49-F238E27FC236}">
                <a16:creationId xmlns:a16="http://schemas.microsoft.com/office/drawing/2014/main" id="{C31213C0-F7B3-4AD6-A1D9-2DB85EC18505}"/>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공동 비교용 L01과 개인 심화 조건을 구분</a:t>
            </a:r>
          </a:p>
        </p:txBody>
      </p:sp>
      <p:sp>
        <p:nvSpPr>
          <p:cNvPr id="3" name="">
            <a:extLst xmlns:a="http://schemas.openxmlformats.org/drawingml/2006/main">
              <a:ext uri="{FF2B5EF4-FFF2-40B4-BE49-F238E27FC236}">
                <a16:creationId xmlns:a16="http://schemas.microsoft.com/office/drawing/2014/main" id="{C62DA740-2FDF-4842-8892-46A48F02883B}"/>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2</a:t>
            </a:r>
          </a:p>
        </p:txBody>
      </p:sp>
      <p:sp>
        <p:nvSpPr>
          <p:cNvPr id="4" name="">
            <a:extLst xmlns:a="http://schemas.openxmlformats.org/drawingml/2006/main">
              <a:ext uri="{FF2B5EF4-FFF2-40B4-BE49-F238E27FC236}">
                <a16:creationId xmlns:a16="http://schemas.microsoft.com/office/drawing/2014/main" id="{6BC1A2C9-BB91-4244-9990-A05B9EC81CD1}"/>
              </a:ext>
            </a:extLst>
          </p:cNvPr>
          <p:cNvSpPr>
            <a:spLocks xmlns:a="http://schemas.openxmlformats.org/drawingml/2006/main" noGrp="1"/>
          </p:cNvSpPr>
          <p:nvPr/>
        </p:nvSpPr>
        <p:spPr>
          <a:xfrm xmlns:a="http://schemas.openxmlformats.org/drawingml/2006/main">
            <a:off x="647700" y="23241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기본 구조</a:t>
            </a:r>
          </a:p>
        </p:txBody>
      </p:sp>
      <p:sp>
        <p:nvSpPr>
          <p:cNvPr id="5" name="">
            <a:extLst xmlns:a="http://schemas.openxmlformats.org/drawingml/2006/main">
              <a:ext uri="{FF2B5EF4-FFF2-40B4-BE49-F238E27FC236}">
                <a16:creationId xmlns:a16="http://schemas.microsoft.com/office/drawing/2014/main" id="{FC3D7600-D6F8-4A20-B4C6-B9D9AC5EE7D3}"/>
              </a:ext>
            </a:extLst>
          </p:cNvPr>
          <p:cNvSpPr>
            <a:spLocks xmlns:a="http://schemas.openxmlformats.org/drawingml/2006/main" noGrp="1"/>
          </p:cNvSpPr>
          <p:nvPr/>
        </p:nvSpPr>
        <p:spPr>
          <a:xfrm xmlns:a="http://schemas.openxmlformats.org/drawingml/2006/main">
            <a:off x="3390900" y="2324100"/>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64은닉 LSTM의 성능과 seed 변동</a:t>
            </a:r>
          </a:p>
        </p:txBody>
      </p:sp>
      <p:sp>
        <p:nvSpPr>
          <p:cNvPr id="6" name="">
            <a:extLst xmlns:a="http://schemas.openxmlformats.org/drawingml/2006/main">
              <a:ext uri="{FF2B5EF4-FFF2-40B4-BE49-F238E27FC236}">
                <a16:creationId xmlns:a16="http://schemas.microsoft.com/office/drawing/2014/main" id="{89ECE0FA-E5A3-413B-B100-D0C04415BF6F}"/>
              </a:ext>
            </a:extLst>
          </p:cNvPr>
          <p:cNvSpPr>
            <a:spLocks xmlns:a="http://schemas.openxmlformats.org/drawingml/2006/main" noGrp="1"/>
          </p:cNvSpPr>
          <p:nvPr/>
        </p:nvSpPr>
        <p:spPr>
          <a:xfrm xmlns:a="http://schemas.openxmlformats.org/drawingml/2006/main">
            <a:off x="647700" y="33813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모델 크기</a:t>
            </a:r>
          </a:p>
        </p:txBody>
      </p:sp>
      <p:sp>
        <p:nvSpPr>
          <p:cNvPr id="7" name="">
            <a:extLst xmlns:a="http://schemas.openxmlformats.org/drawingml/2006/main">
              <a:ext uri="{FF2B5EF4-FFF2-40B4-BE49-F238E27FC236}">
                <a16:creationId xmlns:a16="http://schemas.microsoft.com/office/drawing/2014/main" id="{7556F64A-C683-4F9D-B577-F153E31D5DCA}"/>
              </a:ext>
            </a:extLst>
          </p:cNvPr>
          <p:cNvSpPr>
            <a:spLocks xmlns:a="http://schemas.openxmlformats.org/drawingml/2006/main" noGrp="1"/>
          </p:cNvSpPr>
          <p:nvPr/>
        </p:nvSpPr>
        <p:spPr>
          <a:xfrm xmlns:a="http://schemas.openxmlformats.org/drawingml/2006/main">
            <a:off x="3390900" y="338137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32은닉으로 줄였을 때의 성능과 규모</a:t>
            </a:r>
          </a:p>
        </p:txBody>
      </p:sp>
      <p:sp>
        <p:nvSpPr>
          <p:cNvPr id="8" name="">
            <a:extLst xmlns:a="http://schemas.openxmlformats.org/drawingml/2006/main">
              <a:ext uri="{FF2B5EF4-FFF2-40B4-BE49-F238E27FC236}">
                <a16:creationId xmlns:a16="http://schemas.microsoft.com/office/drawing/2014/main" id="{5F828C72-5FAE-44E5-8FF8-170DE63BF4AC}"/>
              </a:ext>
            </a:extLst>
          </p:cNvPr>
          <p:cNvSpPr>
            <a:spLocks xmlns:a="http://schemas.openxmlformats.org/drawingml/2006/main" noGrp="1"/>
          </p:cNvSpPr>
          <p:nvPr/>
        </p:nvSpPr>
        <p:spPr>
          <a:xfrm xmlns:a="http://schemas.openxmlformats.org/drawingml/2006/main">
            <a:off x="647700" y="44386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Dropout</a:t>
            </a:r>
          </a:p>
        </p:txBody>
      </p:sp>
      <p:sp>
        <p:nvSpPr>
          <p:cNvPr id="9" name="">
            <a:extLst xmlns:a="http://schemas.openxmlformats.org/drawingml/2006/main">
              <a:ext uri="{FF2B5EF4-FFF2-40B4-BE49-F238E27FC236}">
                <a16:creationId xmlns:a16="http://schemas.microsoft.com/office/drawing/2014/main" id="{A7DE2B87-C974-4981-B63F-B77F30D75EF9}"/>
              </a:ext>
            </a:extLst>
          </p:cNvPr>
          <p:cNvSpPr>
            <a:spLocks xmlns:a="http://schemas.openxmlformats.org/drawingml/2006/main" noGrp="1"/>
          </p:cNvSpPr>
          <p:nvPr/>
        </p:nvSpPr>
        <p:spPr>
          <a:xfrm xmlns:a="http://schemas.openxmlformats.org/drawingml/2006/main">
            <a:off x="3390900" y="4438650"/>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초기 가중치가 같은 두 조건의 차이</a:t>
            </a:r>
          </a:p>
        </p:txBody>
      </p:sp>
      <p:sp>
        <p:nvSpPr>
          <p:cNvPr id="10" name="">
            <a:extLst xmlns:a="http://schemas.openxmlformats.org/drawingml/2006/main">
              <a:ext uri="{FF2B5EF4-FFF2-40B4-BE49-F238E27FC236}">
                <a16:creationId xmlns:a16="http://schemas.microsoft.com/office/drawing/2014/main" id="{8A2A522A-CD24-4F63-B819-326AE07D587F}"/>
              </a:ext>
            </a:extLst>
          </p:cNvPr>
          <p:cNvSpPr>
            <a:spLocks xmlns:a="http://schemas.openxmlformats.org/drawingml/2006/main" noGrp="1"/>
          </p:cNvSpPr>
          <p:nvPr/>
        </p:nvSpPr>
        <p:spPr>
          <a:xfrm xmlns:a="http://schemas.openxmlformats.org/drawingml/2006/main">
            <a:off x="685800" y="57816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L01을 공동 비교 기준으로 사전에 고정</a:t>
            </a:r>
          </a:p>
        </p:txBody>
      </p:sp>
    </p:spTree>
    <p:extLst>
      <p:ext uri="{BB962C8B-B14F-4D97-AF65-F5344CB8AC3E}">
        <p14:creationId xmlns:p14="http://schemas.microsoft.com/office/powerpoint/2010/main" val="2359121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045646-15FE-4B46-B494-93CA4AB4B14C}"/>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같은 사람 분할과 전처리 입력</a:t>
            </a:r>
          </a:p>
        </p:txBody>
      </p:sp>
      <p:sp>
        <p:nvSpPr>
          <p:cNvPr id="2" name="">
            <a:extLst xmlns:a="http://schemas.openxmlformats.org/drawingml/2006/main">
              <a:ext uri="{FF2B5EF4-FFF2-40B4-BE49-F238E27FC236}">
                <a16:creationId xmlns:a16="http://schemas.microsoft.com/office/drawing/2014/main" id="{829A02F1-6845-4835-860A-D9A50E0E64F7}"/>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학습 16명 5,577구간  검증 5명 1,775구간</a:t>
            </a:r>
          </a:p>
        </p:txBody>
      </p:sp>
      <p:sp>
        <p:nvSpPr>
          <p:cNvPr id="3" name="">
            <a:extLst xmlns:a="http://schemas.openxmlformats.org/drawingml/2006/main">
              <a:ext uri="{FF2B5EF4-FFF2-40B4-BE49-F238E27FC236}">
                <a16:creationId xmlns:a16="http://schemas.microsoft.com/office/drawing/2014/main" id="{D517D0CE-39CA-4290-A7D1-4570EACB86C7}"/>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3</a:t>
            </a:r>
          </a:p>
        </p:txBody>
      </p:sp>
      <p:graphicFrame>
        <p:nvGraphicFramePr>
          <p:cNvPr id="4" name="">
            <a:extLst xmlns:a="http://schemas.openxmlformats.org/drawingml/2006/main">
              <a:ext uri="{FF2B5EF4-FFF2-40B4-BE49-F238E27FC236}">
                <a16:creationId xmlns:a16="http://schemas.microsoft.com/office/drawing/2014/main" id="{56D671AE-47CE-4281-8E26-92A8100DFA04}"/>
              </a:ext>
            </a:extLst>
          </p:cNvPr>
          <p:cNvGraphicFramePr/>
          <p:nvPr/>
        </p:nvGraphicFramePr>
        <p:xfrm>
          <a:off xmlns:a="http://schemas.openxmlformats.org/drawingml/2006/main" x="638175" y="2266950"/>
          <a:ext xmlns:a="http://schemas.openxmlformats.org/drawingml/2006/main" cx="10906125" cy="3114675"/>
        </p:xfrm>
        <a:graphic xmlns:a="http://schemas.openxmlformats.org/drawingml/2006/main">
          <a:graphicData uri="http://schemas.openxmlformats.org/drawingml/2006/table">
            <a:tbl>
              <a:tblPr/>
              <a:tblGrid>
                <a:gridCol w="2667000"/>
                <a:gridCol w="8239125"/>
              </a:tblGrid>
              <a:tr h="519113">
                <a:tc>
                  <a:txBody>
                    <a:bodyPr/>
                    <a:lstStyle/>
                    <a:p>
                      <a:r>
                        <a:rPr sz="2025" b="1">
                          <a:solidFill>
                            <a:srgbClr val="FFFFFF"/>
                          </a:solidFill>
                          <a:latin typeface="Malgun Gothic"/>
                          <a:ea typeface="Malgun Gothic"/>
                          <a:cs typeface="Malgun Gothic"/>
                        </a:rPr>
                        <a:t>항목</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확인한 상태</a:t>
                      </a:r>
                    </a:p>
                  </a:txBody>
                  <a:tcPr marL="91440" marR="91440" marT="45720" marB="45720">
                    <a:solidFill>
                      <a:srgbClr val="17364A"/>
                    </a:solidFill>
                  </a:tcPr>
                </a:tc>
              </a:tr>
              <a:tr h="519113">
                <a:tc>
                  <a:txBody>
                    <a:bodyPr/>
                    <a:lstStyle/>
                    <a:p>
                      <a:r>
                        <a:rPr sz="2025" b="0">
                          <a:solidFill>
                            <a:srgbClr val="17364A"/>
                          </a:solidFill>
                          <a:latin typeface="Malgun Gothic"/>
                          <a:ea typeface="Malgun Gothic"/>
                          <a:cs typeface="Malgun Gothic"/>
                        </a:rPr>
                        <a:t>시계열</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128시점 × 9채널, float32</a:t>
                      </a:r>
                    </a:p>
                  </a:txBody>
                  <a:tcPr marL="91440" marR="91440" marT="45720" marB="45720">
                    <a:solidFill>
                      <a:srgbClr val="FFFFFF"/>
                    </a:solidFill>
                  </a:tcPr>
                </a:tc>
              </a:tr>
              <a:tr h="519113">
                <a:tc>
                  <a:txBody>
                    <a:bodyPr/>
                    <a:lstStyle/>
                    <a:p>
                      <a:r>
                        <a:rPr sz="2025" b="0">
                          <a:solidFill>
                            <a:srgbClr val="17364A"/>
                          </a:solidFill>
                          <a:latin typeface="Malgun Gothic"/>
                          <a:ea typeface="Malgun Gothic"/>
                          <a:cs typeface="Malgun Gothic"/>
                        </a:rPr>
                        <a:t>검증 사람</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1, 6, 14, 21, 23</a:t>
                      </a:r>
                    </a:p>
                  </a:txBody>
                  <a:tcPr marL="91440" marR="91440" marT="45720" marB="45720">
                    <a:solidFill>
                      <a:srgbClr val="F1F5F7"/>
                    </a:solidFill>
                  </a:tcPr>
                </a:tc>
              </a:tr>
              <a:tr h="519113">
                <a:tc>
                  <a:txBody>
                    <a:bodyPr/>
                    <a:lstStyle/>
                    <a:p>
                      <a:r>
                        <a:rPr sz="2025" b="0">
                          <a:solidFill>
                            <a:srgbClr val="17364A"/>
                          </a:solidFill>
                          <a:latin typeface="Malgun Gothic"/>
                          <a:ea typeface="Malgun Gothic"/>
                          <a:cs typeface="Malgun Gothic"/>
                        </a:rPr>
                        <a:t>전처리</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저장된 fit 통계로 한 번 표준화</a:t>
                      </a:r>
                    </a:p>
                  </a:txBody>
                  <a:tcPr marL="91440" marR="91440" marT="45720" marB="45720">
                    <a:solidFill>
                      <a:srgbClr val="FFFFFF"/>
                    </a:solidFill>
                  </a:tcPr>
                </a:tc>
              </a:tr>
              <a:tr h="519113">
                <a:tc>
                  <a:txBody>
                    <a:bodyPr/>
                    <a:lstStyle/>
                    <a:p>
                      <a:r>
                        <a:rPr sz="2025" b="0">
                          <a:solidFill>
                            <a:srgbClr val="17364A"/>
                          </a:solidFill>
                          <a:latin typeface="Malgun Gothic"/>
                          <a:ea typeface="Malgun Gothic"/>
                          <a:cs typeface="Malgun Gothic"/>
                        </a:rPr>
                        <a:t>원본 대조</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7,352개 구간의 값·정답·사람 ID 일치</a:t>
                      </a:r>
                    </a:p>
                  </a:txBody>
                  <a:tcPr marL="91440" marR="91440" marT="45720" marB="45720">
                    <a:solidFill>
                      <a:srgbClr val="F1F5F7"/>
                    </a:solidFill>
                  </a:tcPr>
                </a:tc>
              </a:tr>
              <a:tr h="519113">
                <a:tc>
                  <a:txBody>
                    <a:bodyPr/>
                    <a:lstStyle/>
                    <a:p>
                      <a:r>
                        <a:rPr sz="2025" b="0">
                          <a:solidFill>
                            <a:srgbClr val="17364A"/>
                          </a:solidFill>
                          <a:latin typeface="Malgun Gothic"/>
                          <a:ea typeface="Malgun Gothic"/>
                          <a:cs typeface="Malgun Gothic"/>
                        </a:rPr>
                        <a:t>공식 test</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개발 로더에서 배열에 접근하지 않음</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F4E775C-BFC0-4020-BC36-86BC05F8039D}"/>
              </a:ext>
            </a:extLst>
          </p:cNvPr>
          <p:cNvSpPr>
            <a:spLocks xmlns:a="http://schemas.openxmlformats.org/drawingml/2006/main" noGrp="1"/>
          </p:cNvSpPr>
          <p:nvPr/>
        </p:nvSpPr>
        <p:spPr>
          <a:xfrm xmlns:a="http://schemas.openxmlformats.org/drawingml/2006/main">
            <a:off x="695325" y="58197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sample_id는 팀 캐시의 0 기반 번호를 보존</a:t>
            </a:r>
          </a:p>
        </p:txBody>
      </p:sp>
    </p:spTree>
    <p:extLst>
      <p:ext uri="{BB962C8B-B14F-4D97-AF65-F5344CB8AC3E}">
        <p14:creationId xmlns:p14="http://schemas.microsoft.com/office/powerpoint/2010/main" val="7303906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647141-624E-4F42-B7B6-4B7C64246350}"/>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셀 상태와 세 게이트</a:t>
            </a:r>
          </a:p>
        </p:txBody>
      </p:sp>
      <p:sp>
        <p:nvSpPr>
          <p:cNvPr id="2" name="">
            <a:extLst xmlns:a="http://schemas.openxmlformats.org/drawingml/2006/main">
              <a:ext uri="{FF2B5EF4-FFF2-40B4-BE49-F238E27FC236}">
                <a16:creationId xmlns:a16="http://schemas.microsoft.com/office/drawing/2014/main" id="{64EBFBAC-C369-4705-82A4-DA9DE11AB02A}"/>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구간마다 상태를 초기화하고 마지막 은닉 상태로 분류</a:t>
            </a:r>
          </a:p>
        </p:txBody>
      </p:sp>
      <p:sp>
        <p:nvSpPr>
          <p:cNvPr id="3" name="">
            <a:extLst xmlns:a="http://schemas.openxmlformats.org/drawingml/2006/main">
              <a:ext uri="{FF2B5EF4-FFF2-40B4-BE49-F238E27FC236}">
                <a16:creationId xmlns:a16="http://schemas.microsoft.com/office/drawing/2014/main" id="{14C92510-14E6-4D40-AFCC-0A3E48D0CABC}"/>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4</a:t>
            </a:r>
          </a:p>
        </p:txBody>
      </p:sp>
      <p:sp>
        <p:nvSpPr>
          <p:cNvPr id="4" name="">
            <a:extLst xmlns:a="http://schemas.openxmlformats.org/drawingml/2006/main">
              <a:ext uri="{FF2B5EF4-FFF2-40B4-BE49-F238E27FC236}">
                <a16:creationId xmlns:a16="http://schemas.microsoft.com/office/drawing/2014/main" id="{F25DF008-3DFC-454F-9573-5E90D4A9C0D0}"/>
              </a:ext>
            </a:extLst>
          </p:cNvPr>
          <p:cNvSpPr>
            <a:spLocks xmlns:a="http://schemas.openxmlformats.org/drawingml/2006/main" noGrp="1"/>
          </p:cNvSpPr>
          <p:nvPr/>
        </p:nvSpPr>
        <p:spPr>
          <a:xfrm xmlns:a="http://schemas.openxmlformats.org/drawingml/2006/main">
            <a:off x="781050" y="22479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47D85"/>
                </a:solidFill>
                <a:latin typeface="Malgun Gothic"/>
                <a:ea typeface="Malgun Gothic"/>
                <a:cs typeface="Malgun Gothic"/>
              </a:defRPr>
            </a:defPPr>
          </a:lstStyle>
          <a:p xmlns:a="http://schemas.openxmlformats.org/drawingml/2006/main">
            <a:pPr>
              <a:defRPr sz="3375" b="1">
                <a:solidFill>
                  <a:srgbClr val="147D85"/>
                </a:solidFill>
                <a:latin typeface="Malgun Gothic"/>
                <a:ea typeface="Malgun Gothic"/>
                <a:cs typeface="Malgun Gothic"/>
              </a:defRPr>
            </a:pPr>
            <a:r>
              <a:rPr sz="3375" b="1">
                <a:solidFill>
                  <a:srgbClr val="147D85"/>
                </a:solidFill>
                <a:latin typeface="Malgun Gothic"/>
                <a:ea typeface="Malgun Gothic"/>
                <a:cs typeface="Malgun Gothic"/>
              </a:rPr>
              <a:t>cₜ = fₜ ⊙ cₜ₋₁ + iₜ ⊙ gₜ</a:t>
            </a:r>
          </a:p>
        </p:txBody>
      </p:sp>
      <p:sp>
        <p:nvSpPr>
          <p:cNvPr id="5" name="">
            <a:extLst xmlns:a="http://schemas.openxmlformats.org/drawingml/2006/main">
              <a:ext uri="{FF2B5EF4-FFF2-40B4-BE49-F238E27FC236}">
                <a16:creationId xmlns:a16="http://schemas.microsoft.com/office/drawing/2014/main" id="{ADFFB6D7-7272-47E0-B862-8110677F3D31}"/>
              </a:ext>
            </a:extLst>
          </p:cNvPr>
          <p:cNvSpPr>
            <a:spLocks xmlns:a="http://schemas.openxmlformats.org/drawingml/2006/main" noGrp="1"/>
          </p:cNvSpPr>
          <p:nvPr/>
        </p:nvSpPr>
        <p:spPr>
          <a:xfrm xmlns:a="http://schemas.openxmlformats.org/drawingml/2006/main">
            <a:off x="781050" y="3190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0">
                <a:solidFill>
                  <a:srgbClr val="17364A"/>
                </a:solidFill>
                <a:latin typeface="Malgun Gothic"/>
                <a:ea typeface="Malgun Gothic"/>
                <a:cs typeface="Malgun Gothic"/>
              </a:defRPr>
            </a:defPPr>
          </a:lstStyle>
          <a:p xmlns:a="http://schemas.openxmlformats.org/drawingml/2006/main">
            <a:pPr>
              <a:defRPr sz="3225" b="0">
                <a:solidFill>
                  <a:srgbClr val="17364A"/>
                </a:solidFill>
                <a:latin typeface="Malgun Gothic"/>
                <a:ea typeface="Malgun Gothic"/>
                <a:cs typeface="Malgun Gothic"/>
              </a:defRPr>
            </a:pPr>
            <a:r>
              <a:rPr sz="3225" b="0">
                <a:solidFill>
                  <a:srgbClr val="17364A"/>
                </a:solidFill>
                <a:latin typeface="Malgun Gothic"/>
                <a:ea typeface="Malgun Gothic"/>
                <a:cs typeface="Malgun Gothic"/>
              </a:rPr>
              <a:t>hₜ = oₜ ⊙ tanh(cₜ)</a:t>
            </a:r>
          </a:p>
        </p:txBody>
      </p:sp>
      <p:sp>
        <p:nvSpPr>
          <p:cNvPr id="6" name="">
            <a:extLst xmlns:a="http://schemas.openxmlformats.org/drawingml/2006/main">
              <a:ext uri="{FF2B5EF4-FFF2-40B4-BE49-F238E27FC236}">
                <a16:creationId xmlns:a16="http://schemas.microsoft.com/office/drawing/2014/main" id="{9D921EC3-AC95-4186-A711-FB16F49B7951}"/>
              </a:ext>
            </a:extLst>
          </p:cNvPr>
          <p:cNvSpPr>
            <a:spLocks xmlns:a="http://schemas.openxmlformats.org/drawingml/2006/main" noGrp="1"/>
          </p:cNvSpPr>
          <p:nvPr/>
        </p:nvSpPr>
        <p:spPr>
          <a:xfrm xmlns:a="http://schemas.openxmlformats.org/drawingml/2006/main">
            <a:off x="647700" y="42862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iₜ와 gₜ</a:t>
            </a:r>
          </a:p>
        </p:txBody>
      </p:sp>
      <p:sp>
        <p:nvSpPr>
          <p:cNvPr id="7" name="">
            <a:extLst xmlns:a="http://schemas.openxmlformats.org/drawingml/2006/main">
              <a:ext uri="{FF2B5EF4-FFF2-40B4-BE49-F238E27FC236}">
                <a16:creationId xmlns:a16="http://schemas.microsoft.com/office/drawing/2014/main" id="{F67B1937-9732-42D4-85AD-725F38FED2A7}"/>
              </a:ext>
            </a:extLst>
          </p:cNvPr>
          <p:cNvSpPr>
            <a:spLocks xmlns:a="http://schemas.openxmlformats.org/drawingml/2006/main" noGrp="1"/>
          </p:cNvSpPr>
          <p:nvPr/>
        </p:nvSpPr>
        <p:spPr>
          <a:xfrm xmlns:a="http://schemas.openxmlformats.org/drawingml/2006/main">
            <a:off x="3390900" y="4286250"/>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새 후보 정보의 반영</a:t>
            </a:r>
          </a:p>
        </p:txBody>
      </p:sp>
      <p:sp>
        <p:nvSpPr>
          <p:cNvPr id="8" name="">
            <a:extLst xmlns:a="http://schemas.openxmlformats.org/drawingml/2006/main">
              <a:ext uri="{FF2B5EF4-FFF2-40B4-BE49-F238E27FC236}">
                <a16:creationId xmlns:a16="http://schemas.microsoft.com/office/drawing/2014/main" id="{1F9D7005-9597-40E8-8757-643E5165EFD9}"/>
              </a:ext>
            </a:extLst>
          </p:cNvPr>
          <p:cNvSpPr>
            <a:spLocks xmlns:a="http://schemas.openxmlformats.org/drawingml/2006/main" noGrp="1"/>
          </p:cNvSpPr>
          <p:nvPr/>
        </p:nvSpPr>
        <p:spPr>
          <a:xfrm xmlns:a="http://schemas.openxmlformats.org/drawingml/2006/main">
            <a:off x="647700" y="51816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fₜ와 oₜ</a:t>
            </a:r>
          </a:p>
        </p:txBody>
      </p:sp>
      <p:sp>
        <p:nvSpPr>
          <p:cNvPr id="9" name="">
            <a:extLst xmlns:a="http://schemas.openxmlformats.org/drawingml/2006/main">
              <a:ext uri="{FF2B5EF4-FFF2-40B4-BE49-F238E27FC236}">
                <a16:creationId xmlns:a16="http://schemas.microsoft.com/office/drawing/2014/main" id="{2ECAA5F2-28E9-45E7-ACE7-9B22C06CA878}"/>
              </a:ext>
            </a:extLst>
          </p:cNvPr>
          <p:cNvSpPr>
            <a:spLocks xmlns:a="http://schemas.openxmlformats.org/drawingml/2006/main" noGrp="1"/>
          </p:cNvSpPr>
          <p:nvPr/>
        </p:nvSpPr>
        <p:spPr>
          <a:xfrm xmlns:a="http://schemas.openxmlformats.org/drawingml/2006/main">
            <a:off x="3390900" y="5181600"/>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이전 셀 정보의 유지와 출력 조절</a:t>
            </a:r>
          </a:p>
        </p:txBody>
      </p:sp>
    </p:spTree>
    <p:extLst>
      <p:ext uri="{BB962C8B-B14F-4D97-AF65-F5344CB8AC3E}">
        <p14:creationId xmlns:p14="http://schemas.microsoft.com/office/powerpoint/2010/main" val="384338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0517E7-42FB-44F9-AD1C-D5C7C4A89A63}"/>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실제 구현 구조</a:t>
            </a:r>
          </a:p>
        </p:txBody>
      </p:sp>
      <p:sp>
        <p:nvSpPr>
          <p:cNvPr id="2" name="">
            <a:extLst xmlns:a="http://schemas.openxmlformats.org/drawingml/2006/main">
              <a:ext uri="{FF2B5EF4-FFF2-40B4-BE49-F238E27FC236}">
                <a16:creationId xmlns:a16="http://schemas.microsoft.com/office/drawing/2014/main" id="{633BBB07-8223-4959-8BB9-4202CD82FD42}"/>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기본 21,222개  소형 6,630개 파라미터</a:t>
            </a:r>
          </a:p>
        </p:txBody>
      </p:sp>
      <p:sp>
        <p:nvSpPr>
          <p:cNvPr id="3" name="">
            <a:extLst xmlns:a="http://schemas.openxmlformats.org/drawingml/2006/main">
              <a:ext uri="{FF2B5EF4-FFF2-40B4-BE49-F238E27FC236}">
                <a16:creationId xmlns:a16="http://schemas.microsoft.com/office/drawing/2014/main" id="{6CE85817-5832-4B00-A270-CD06011BE520}"/>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5</a:t>
            </a:r>
          </a:p>
        </p:txBody>
      </p:sp>
      <p:graphicFrame>
        <p:nvGraphicFramePr>
          <p:cNvPr id="4" name="">
            <a:extLst xmlns:a="http://schemas.openxmlformats.org/drawingml/2006/main">
              <a:ext uri="{FF2B5EF4-FFF2-40B4-BE49-F238E27FC236}">
                <a16:creationId xmlns:a16="http://schemas.microsoft.com/office/drawing/2014/main" id="{418185CC-34CA-4C68-8DBF-D1F2CB075102}"/>
              </a:ext>
            </a:extLst>
          </p:cNvPr>
          <p:cNvGraphicFramePr/>
          <p:nvPr/>
        </p:nvGraphicFramePr>
        <p:xfrm>
          <a:off xmlns:a="http://schemas.openxmlformats.org/drawingml/2006/main" x="638175" y="2352675"/>
          <a:ext xmlns:a="http://schemas.openxmlformats.org/drawingml/2006/main" cx="10906125" cy="2790825"/>
        </p:xfrm>
        <a:graphic xmlns:a="http://schemas.openxmlformats.org/drawingml/2006/main">
          <a:graphicData uri="http://schemas.openxmlformats.org/drawingml/2006/table">
            <a:tbl>
              <a:tblPr/>
              <a:tblGrid>
                <a:gridCol w="3476625"/>
                <a:gridCol w="3905250"/>
                <a:gridCol w="3524250"/>
              </a:tblGrid>
              <a:tr h="558165">
                <a:tc>
                  <a:txBody>
                    <a:bodyPr/>
                    <a:lstStyle/>
                    <a:p>
                      <a:r>
                        <a:rPr sz="2100" b="1">
                          <a:solidFill>
                            <a:srgbClr val="FFFFFF"/>
                          </a:solidFill>
                          <a:latin typeface="Malgun Gothic"/>
                          <a:ea typeface="Malgun Gothic"/>
                          <a:cs typeface="Malgun Gothic"/>
                        </a:rPr>
                        <a:t>층</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출력</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기본 파라미터</a:t>
                      </a:r>
                    </a:p>
                  </a:txBody>
                  <a:tcPr marL="91440" marR="91440" marT="45720" marB="45720">
                    <a:solidFill>
                      <a:srgbClr val="17364A"/>
                    </a:solidFill>
                  </a:tcPr>
                </a:tc>
              </a:tr>
              <a:tr h="558165">
                <a:tc>
                  <a:txBody>
                    <a:bodyPr/>
                    <a:lstStyle/>
                    <a:p>
                      <a:r>
                        <a:rPr sz="2100" b="0">
                          <a:solidFill>
                            <a:srgbClr val="17364A"/>
                          </a:solidFill>
                          <a:latin typeface="Malgun Gothic"/>
                          <a:ea typeface="Malgun Gothic"/>
                          <a:cs typeface="Malgun Gothic"/>
                        </a:rPr>
                        <a:t>LSTM 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B × 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18,944</a:t>
                      </a:r>
                    </a:p>
                  </a:txBody>
                  <a:tcPr marL="91440" marR="91440" marT="45720" marB="45720">
                    <a:solidFill>
                      <a:srgbClr val="FFFFFF"/>
                    </a:solidFill>
                  </a:tcPr>
                </a:tc>
              </a:tr>
              <a:tr h="558165">
                <a:tc>
                  <a:txBody>
                    <a:bodyPr/>
                    <a:lstStyle/>
                    <a:p>
                      <a:r>
                        <a:rPr sz="2100" b="0">
                          <a:solidFill>
                            <a:srgbClr val="17364A"/>
                          </a:solidFill>
                          <a:latin typeface="Malgun Gothic"/>
                          <a:ea typeface="Malgun Gothic"/>
                          <a:cs typeface="Malgun Gothic"/>
                        </a:rPr>
                        <a:t>Dense ReLU</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B × 32</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2,080</a:t>
                      </a:r>
                    </a:p>
                  </a:txBody>
                  <a:tcPr marL="91440" marR="91440" marT="45720" marB="45720">
                    <a:solidFill>
                      <a:srgbClr val="F1F5F7"/>
                    </a:solidFill>
                  </a:tcPr>
                </a:tc>
              </a:tr>
              <a:tr h="558165">
                <a:tc>
                  <a:txBody>
                    <a:bodyPr/>
                    <a:lstStyle/>
                    <a:p>
                      <a:r>
                        <a:rPr sz="2100" b="0">
                          <a:solidFill>
                            <a:srgbClr val="17364A"/>
                          </a:solidFill>
                          <a:latin typeface="Malgun Gothic"/>
                          <a:ea typeface="Malgun Gothic"/>
                          <a:cs typeface="Malgun Gothic"/>
                        </a:rPr>
                        <a:t>외부 Dropout</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B × 32</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0</a:t>
                      </a:r>
                    </a:p>
                  </a:txBody>
                  <a:tcPr marL="91440" marR="91440" marT="45720" marB="45720">
                    <a:solidFill>
                      <a:srgbClr val="FFFFFF"/>
                    </a:solidFill>
                  </a:tcPr>
                </a:tc>
              </a:tr>
              <a:tr h="558165">
                <a:tc>
                  <a:txBody>
                    <a:bodyPr/>
                    <a:lstStyle/>
                    <a:p>
                      <a:r>
                        <a:rPr sz="2100" b="0">
                          <a:solidFill>
                            <a:srgbClr val="17364A"/>
                          </a:solidFill>
                          <a:latin typeface="Malgun Gothic"/>
                          <a:ea typeface="Malgun Gothic"/>
                          <a:cs typeface="Malgun Gothic"/>
                        </a:rPr>
                        <a:t>Dense logits</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B × 6</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198</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5E1367C4-E5C7-4AC0-8745-771670230838}"/>
              </a:ext>
            </a:extLst>
          </p:cNvPr>
          <p:cNvSpPr>
            <a:spLocks xmlns:a="http://schemas.openxmlformats.org/drawingml/2006/main" noGrp="1"/>
          </p:cNvSpPr>
          <p:nvPr/>
        </p:nvSpPr>
        <p:spPr>
          <a:xfrm xmlns:a="http://schemas.openxmlformats.org/drawingml/2006/main">
            <a:off x="733425" y="54292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47D85"/>
                </a:solidFill>
                <a:latin typeface="Malgun Gothic"/>
                <a:ea typeface="Malgun Gothic"/>
                <a:cs typeface="Malgun Gothic"/>
              </a:defRPr>
            </a:defPPr>
          </a:lstStyle>
          <a:p xmlns:a="http://schemas.openxmlformats.org/drawingml/2006/main">
            <a:pPr>
              <a:defRPr sz="2625" b="1">
                <a:solidFill>
                  <a:srgbClr val="147D85"/>
                </a:solidFill>
                <a:latin typeface="Malgun Gothic"/>
                <a:ea typeface="Malgun Gothic"/>
                <a:cs typeface="Malgun Gothic"/>
              </a:defRPr>
            </a:pPr>
            <a:r>
              <a:rPr sz="2625" b="1">
                <a:solidFill>
                  <a:srgbClr val="147D85"/>
                </a:solidFill>
                <a:latin typeface="Malgun Gothic"/>
                <a:ea typeface="Malgun Gothic"/>
                <a:cs typeface="Malgun Gothic"/>
              </a:rPr>
              <a:t>LSTM 파라미터 = 4H(D + H + 1)</a:t>
            </a:r>
          </a:p>
        </p:txBody>
      </p:sp>
    </p:spTree>
    <p:extLst>
      <p:ext uri="{BB962C8B-B14F-4D97-AF65-F5344CB8AC3E}">
        <p14:creationId xmlns:p14="http://schemas.microsoft.com/office/powerpoint/2010/main" val="9438917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6908FE-CCC5-414F-BE8B-DB7697431FB5}"/>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결과 전에 고정한 9회 실험</a:t>
            </a:r>
          </a:p>
        </p:txBody>
      </p:sp>
      <p:sp>
        <p:nvSpPr>
          <p:cNvPr id="2" name="">
            <a:extLst xmlns:a="http://schemas.openxmlformats.org/drawingml/2006/main">
              <a:ext uri="{FF2B5EF4-FFF2-40B4-BE49-F238E27FC236}">
                <a16:creationId xmlns:a16="http://schemas.microsoft.com/office/drawing/2014/main" id="{23FB6AD6-7075-4CE9-9BA0-0666106085D8}"/>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세 조건 각각 seed 2026, 2027, 2028</a:t>
            </a:r>
          </a:p>
        </p:txBody>
      </p:sp>
      <p:sp>
        <p:nvSpPr>
          <p:cNvPr id="3" name="">
            <a:extLst xmlns:a="http://schemas.openxmlformats.org/drawingml/2006/main">
              <a:ext uri="{FF2B5EF4-FFF2-40B4-BE49-F238E27FC236}">
                <a16:creationId xmlns:a16="http://schemas.microsoft.com/office/drawing/2014/main" id="{270F5795-9EAF-40B4-9353-9EC03FD0FBA7}"/>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6</a:t>
            </a:r>
          </a:p>
        </p:txBody>
      </p:sp>
      <p:graphicFrame>
        <p:nvGraphicFramePr>
          <p:cNvPr id="4" name="">
            <a:extLst xmlns:a="http://schemas.openxmlformats.org/drawingml/2006/main">
              <a:ext uri="{FF2B5EF4-FFF2-40B4-BE49-F238E27FC236}">
                <a16:creationId xmlns:a16="http://schemas.microsoft.com/office/drawing/2014/main" id="{470B0B26-1D90-4843-87AF-D1064FA4CEC1}"/>
              </a:ext>
            </a:extLst>
          </p:cNvPr>
          <p:cNvGraphicFramePr/>
          <p:nvPr/>
        </p:nvGraphicFramePr>
        <p:xfrm>
          <a:off xmlns:a="http://schemas.openxmlformats.org/drawingml/2006/main" x="638175" y="2324100"/>
          <a:ext xmlns:a="http://schemas.openxmlformats.org/drawingml/2006/main" cx="10906125" cy="2286000"/>
        </p:xfrm>
        <a:graphic xmlns:a="http://schemas.openxmlformats.org/drawingml/2006/main">
          <a:graphicData uri="http://schemas.openxmlformats.org/drawingml/2006/table">
            <a:tbl>
              <a:tblPr/>
              <a:tblGrid>
                <a:gridCol w="1905000"/>
                <a:gridCol w="2619375"/>
                <a:gridCol w="2857500"/>
                <a:gridCol w="3524250"/>
              </a:tblGrid>
              <a:tr h="571500">
                <a:tc>
                  <a:txBody>
                    <a:bodyPr/>
                    <a:lstStyle/>
                    <a:p>
                      <a:r>
                        <a:rPr sz="2100" b="1">
                          <a:solidFill>
                            <a:srgbClr val="FFFFFF"/>
                          </a:solidFill>
                          <a:latin typeface="Malgun Gothic"/>
                          <a:ea typeface="Malgun Gothic"/>
                          <a:cs typeface="Malgun Gothic"/>
                        </a:rPr>
                        <a:t>조건</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은닉 크기</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외부 Dropout</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역할</a:t>
                      </a:r>
                    </a:p>
                  </a:txBody>
                  <a:tcPr marL="91440" marR="91440" marT="45720" marB="45720">
                    <a:solidFill>
                      <a:srgbClr val="17364A"/>
                    </a:solidFill>
                  </a:tcPr>
                </a:tc>
              </a:tr>
              <a:tr h="571500">
                <a:tc>
                  <a:txBody>
                    <a:bodyPr/>
                    <a:lstStyle/>
                    <a:p>
                      <a:r>
                        <a:rPr sz="2100" b="0">
                          <a:solidFill>
                            <a:srgbClr val="17364A"/>
                          </a:solidFill>
                          <a:latin typeface="Malgun Gothic"/>
                          <a:ea typeface="Malgun Gothic"/>
                          <a:cs typeface="Malgun Gothic"/>
                        </a:rPr>
                        <a:t>L01</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0.0</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공동 기준</a:t>
                      </a:r>
                    </a:p>
                  </a:txBody>
                  <a:tcPr marL="91440" marR="91440" marT="45720" marB="45720">
                    <a:solidFill>
                      <a:srgbClr val="FFFFFF"/>
                    </a:solidFill>
                  </a:tcPr>
                </a:tc>
              </a:tr>
              <a:tr h="571500">
                <a:tc>
                  <a:txBody>
                    <a:bodyPr/>
                    <a:lstStyle/>
                    <a:p>
                      <a:r>
                        <a:rPr sz="2100" b="0">
                          <a:solidFill>
                            <a:srgbClr val="17364A"/>
                          </a:solidFill>
                          <a:latin typeface="Malgun Gothic"/>
                          <a:ea typeface="Malgun Gothic"/>
                          <a:cs typeface="Malgun Gothic"/>
                        </a:rPr>
                        <a:t>L02</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32</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0.0</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규모 비교</a:t>
                      </a:r>
                    </a:p>
                  </a:txBody>
                  <a:tcPr marL="91440" marR="91440" marT="45720" marB="45720">
                    <a:solidFill>
                      <a:srgbClr val="F1F5F7"/>
                    </a:solidFill>
                  </a:tcPr>
                </a:tc>
              </a:tr>
              <a:tr h="571500">
                <a:tc>
                  <a:txBody>
                    <a:bodyPr/>
                    <a:lstStyle/>
                    <a:p>
                      <a:r>
                        <a:rPr sz="2100" b="0">
                          <a:solidFill>
                            <a:srgbClr val="17364A"/>
                          </a:solidFill>
                          <a:latin typeface="Malgun Gothic"/>
                          <a:ea typeface="Malgun Gothic"/>
                          <a:cs typeface="Malgun Gothic"/>
                        </a:rPr>
                        <a:t>L03</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0.3</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규제 비교</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8E78A49-9422-4A48-8910-F36B70E85CEB}"/>
              </a:ext>
            </a:extLst>
          </p:cNvPr>
          <p:cNvSpPr>
            <a:spLocks xmlns:a="http://schemas.openxmlformats.org/drawingml/2006/main" noGrp="1"/>
          </p:cNvSpPr>
          <p:nvPr/>
        </p:nvSpPr>
        <p:spPr>
          <a:xfrm xmlns:a="http://schemas.openxmlformats.org/drawingml/2006/main">
            <a:off x="723900" y="5095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64A"/>
                </a:solidFill>
                <a:latin typeface="Malgun Gothic"/>
                <a:ea typeface="Malgun Gothic"/>
                <a:cs typeface="Malgun Gothic"/>
              </a:defRPr>
            </a:defPPr>
          </a:lstStyle>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Adam 0.001  batch 64  최대 40 epoch</a:t>
            </a:r>
          </a:p>
        </p:txBody>
      </p:sp>
      <p:sp>
        <p:nvSpPr>
          <p:cNvPr id="6" name="">
            <a:extLst xmlns:a="http://schemas.openxmlformats.org/drawingml/2006/main">
              <a:ext uri="{FF2B5EF4-FFF2-40B4-BE49-F238E27FC236}">
                <a16:creationId xmlns:a16="http://schemas.microsoft.com/office/drawing/2014/main" id="{E2230B8A-AA1F-4B98-AF23-47A1FB849F07}"/>
              </a:ext>
            </a:extLst>
          </p:cNvPr>
          <p:cNvSpPr>
            <a:spLocks xmlns:a="http://schemas.openxmlformats.org/drawingml/2006/main" noGrp="1"/>
          </p:cNvSpPr>
          <p:nvPr/>
        </p:nvSpPr>
        <p:spPr>
          <a:xfrm xmlns:a="http://schemas.openxmlformats.org/drawingml/2006/main">
            <a:off x="723900" y="5715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val_loss patience 6  최선 가중치 복원</a:t>
            </a:r>
          </a:p>
        </p:txBody>
      </p:sp>
    </p:spTree>
    <p:extLst>
      <p:ext uri="{BB962C8B-B14F-4D97-AF65-F5344CB8AC3E}">
        <p14:creationId xmlns:p14="http://schemas.microsoft.com/office/powerpoint/2010/main" val="13733134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23755C-802C-4851-BFB5-69A7F016A054}"/>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Dropout 비교의 초기 가중치 통제</a:t>
            </a:r>
          </a:p>
        </p:txBody>
      </p:sp>
      <p:sp>
        <p:nvSpPr>
          <p:cNvPr id="2" name="">
            <a:extLst xmlns:a="http://schemas.openxmlformats.org/drawingml/2006/main">
              <a:ext uri="{FF2B5EF4-FFF2-40B4-BE49-F238E27FC236}">
                <a16:creationId xmlns:a16="http://schemas.microsoft.com/office/drawing/2014/main" id="{10B2C8F6-E39E-422F-BBCB-458E4E85006C}"/>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7</a:t>
            </a:r>
          </a:p>
        </p:txBody>
      </p:sp>
      <p:sp>
        <p:nvSpPr>
          <p:cNvPr id="3" name="">
            <a:extLst xmlns:a="http://schemas.openxmlformats.org/drawingml/2006/main">
              <a:ext uri="{FF2B5EF4-FFF2-40B4-BE49-F238E27FC236}">
                <a16:creationId xmlns:a16="http://schemas.microsoft.com/office/drawing/2014/main" id="{192BD402-3533-467F-AB4A-A556EC7BF2CE}"/>
              </a:ext>
            </a:extLst>
          </p:cNvPr>
          <p:cNvSpPr>
            <a:spLocks xmlns:a="http://schemas.openxmlformats.org/drawingml/2006/main" noGrp="1"/>
          </p:cNvSpPr>
          <p:nvPr/>
        </p:nvSpPr>
        <p:spPr>
          <a:xfrm xmlns:a="http://schemas.openxmlformats.org/drawingml/2006/main">
            <a:off x="647700" y="22193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학습 전 저장</a:t>
            </a:r>
          </a:p>
        </p:txBody>
      </p:sp>
      <p:sp>
        <p:nvSpPr>
          <p:cNvPr id="4" name="">
            <a:extLst xmlns:a="http://schemas.openxmlformats.org/drawingml/2006/main">
              <a:ext uri="{FF2B5EF4-FFF2-40B4-BE49-F238E27FC236}">
                <a16:creationId xmlns:a16="http://schemas.microsoft.com/office/drawing/2014/main" id="{71D8EED2-C7EC-429C-8B7C-16FA232F91F9}"/>
              </a:ext>
            </a:extLst>
          </p:cNvPr>
          <p:cNvSpPr>
            <a:spLocks xmlns:a="http://schemas.openxmlformats.org/drawingml/2006/main" noGrp="1"/>
          </p:cNvSpPr>
          <p:nvPr/>
        </p:nvSpPr>
        <p:spPr>
          <a:xfrm xmlns:a="http://schemas.openxmlformats.org/drawingml/2006/main">
            <a:off x="3390900" y="221932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L01 초기 가중치를 별도 NPZ로 보관</a:t>
            </a:r>
          </a:p>
        </p:txBody>
      </p:sp>
      <p:sp>
        <p:nvSpPr>
          <p:cNvPr id="5" name="">
            <a:extLst xmlns:a="http://schemas.openxmlformats.org/drawingml/2006/main">
              <a:ext uri="{FF2B5EF4-FFF2-40B4-BE49-F238E27FC236}">
                <a16:creationId xmlns:a16="http://schemas.microsoft.com/office/drawing/2014/main" id="{F162D21B-F5DD-492B-AE47-B7D568E82C7E}"/>
              </a:ext>
            </a:extLst>
          </p:cNvPr>
          <p:cNvSpPr>
            <a:spLocks xmlns:a="http://schemas.openxmlformats.org/drawingml/2006/main" noGrp="1"/>
          </p:cNvSpPr>
          <p:nvPr/>
        </p:nvSpPr>
        <p:spPr>
          <a:xfrm xmlns:a="http://schemas.openxmlformats.org/drawingml/2006/main">
            <a:off x="647700" y="32480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같은 seed에 복사</a:t>
            </a:r>
          </a:p>
        </p:txBody>
      </p:sp>
      <p:sp>
        <p:nvSpPr>
          <p:cNvPr id="6" name="">
            <a:extLst xmlns:a="http://schemas.openxmlformats.org/drawingml/2006/main">
              <a:ext uri="{FF2B5EF4-FFF2-40B4-BE49-F238E27FC236}">
                <a16:creationId xmlns:a16="http://schemas.microsoft.com/office/drawing/2014/main" id="{254217B6-916F-4AE8-93E1-326C6AD0083B}"/>
              </a:ext>
            </a:extLst>
          </p:cNvPr>
          <p:cNvSpPr>
            <a:spLocks xmlns:a="http://schemas.openxmlformats.org/drawingml/2006/main" noGrp="1"/>
          </p:cNvSpPr>
          <p:nvPr/>
        </p:nvSpPr>
        <p:spPr>
          <a:xfrm xmlns:a="http://schemas.openxmlformats.org/drawingml/2006/main">
            <a:off x="3390900" y="324802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L03 모델의 모든 가중치 배열에 적용</a:t>
            </a:r>
          </a:p>
        </p:txBody>
      </p:sp>
      <p:sp>
        <p:nvSpPr>
          <p:cNvPr id="7" name="">
            <a:extLst xmlns:a="http://schemas.openxmlformats.org/drawingml/2006/main">
              <a:ext uri="{FF2B5EF4-FFF2-40B4-BE49-F238E27FC236}">
                <a16:creationId xmlns:a16="http://schemas.microsoft.com/office/drawing/2014/main" id="{F9346664-5016-4C00-B7D0-28CB7E27B5E2}"/>
              </a:ext>
            </a:extLst>
          </p:cNvPr>
          <p:cNvSpPr>
            <a:spLocks xmlns:a="http://schemas.openxmlformats.org/drawingml/2006/main" noGrp="1"/>
          </p:cNvSpPr>
          <p:nvPr/>
        </p:nvSpPr>
        <p:spPr>
          <a:xfrm xmlns:a="http://schemas.openxmlformats.org/drawingml/2006/main">
            <a:off x="647700" y="42767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원소별 일치 검사</a:t>
            </a:r>
          </a:p>
        </p:txBody>
      </p:sp>
      <p:sp>
        <p:nvSpPr>
          <p:cNvPr id="8" name="">
            <a:extLst xmlns:a="http://schemas.openxmlformats.org/drawingml/2006/main">
              <a:ext uri="{FF2B5EF4-FFF2-40B4-BE49-F238E27FC236}">
                <a16:creationId xmlns:a16="http://schemas.microsoft.com/office/drawing/2014/main" id="{BFBF80E3-474F-4B05-8F75-E2DA96A74E75}"/>
              </a:ext>
            </a:extLst>
          </p:cNvPr>
          <p:cNvSpPr>
            <a:spLocks xmlns:a="http://schemas.openxmlformats.org/drawingml/2006/main" noGrp="1"/>
          </p:cNvSpPr>
          <p:nvPr/>
        </p:nvSpPr>
        <p:spPr>
          <a:xfrm xmlns:a="http://schemas.openxmlformats.org/drawingml/2006/main">
            <a:off x="3390900" y="427672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학습된 checkpoint를 시작점으로 쓰지 않음</a:t>
            </a:r>
          </a:p>
        </p:txBody>
      </p:sp>
      <p:sp>
        <p:nvSpPr>
          <p:cNvPr id="9" name="">
            <a:extLst xmlns:a="http://schemas.openxmlformats.org/drawingml/2006/main">
              <a:ext uri="{FF2B5EF4-FFF2-40B4-BE49-F238E27FC236}">
                <a16:creationId xmlns:a16="http://schemas.microsoft.com/office/drawing/2014/main" id="{806D10B2-1D8D-416A-B20E-85896BA0A62F}"/>
              </a:ext>
            </a:extLst>
          </p:cNvPr>
          <p:cNvSpPr>
            <a:spLocks xmlns:a="http://schemas.openxmlformats.org/drawingml/2006/main" noGrp="1"/>
          </p:cNvSpPr>
          <p:nvPr/>
        </p:nvSpPr>
        <p:spPr>
          <a:xfrm xmlns:a="http://schemas.openxmlformats.org/drawingml/2006/main">
            <a:off x="695325" y="5619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47D85"/>
                </a:solidFill>
                <a:latin typeface="Malgun Gothic"/>
                <a:ea typeface="Malgun Gothic"/>
                <a:cs typeface="Malgun Gothic"/>
              </a:defRPr>
            </a:defPPr>
          </a:lstStyle>
          <a:p xmlns:a="http://schemas.openxmlformats.org/drawingml/2006/main">
            <a:pPr>
              <a:defRPr sz="2400" b="1">
                <a:solidFill>
                  <a:srgbClr val="147D85"/>
                </a:solidFill>
                <a:latin typeface="Malgun Gothic"/>
                <a:ea typeface="Malgun Gothic"/>
                <a:cs typeface="Malgun Gothic"/>
              </a:defRPr>
            </a:pPr>
            <a:r>
              <a:rPr sz="2400" b="1">
                <a:solidFill>
                  <a:srgbClr val="147D85"/>
                </a:solidFill>
                <a:latin typeface="Malgun Gothic"/>
                <a:ea typeface="Malgun Gothic"/>
                <a:cs typeface="Malgun Gothic"/>
              </a:rPr>
              <a:t>같은 seed라는 설명을 실제 배열 비교로 확인</a:t>
            </a:r>
          </a:p>
        </p:txBody>
      </p:sp>
    </p:spTree>
    <p:extLst>
      <p:ext uri="{BB962C8B-B14F-4D97-AF65-F5344CB8AC3E}">
        <p14:creationId xmlns:p14="http://schemas.microsoft.com/office/powerpoint/2010/main" val="15372248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8E00EA-5914-43CF-8775-D748B1284855}"/>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검증 방법과 확인 범위</a:t>
            </a:r>
          </a:p>
        </p:txBody>
      </p:sp>
      <p:sp>
        <p:nvSpPr>
          <p:cNvPr id="2" name="">
            <a:extLst xmlns:a="http://schemas.openxmlformats.org/drawingml/2006/main">
              <a:ext uri="{FF2B5EF4-FFF2-40B4-BE49-F238E27FC236}">
                <a16:creationId xmlns:a16="http://schemas.microsoft.com/office/drawing/2014/main" id="{46735331-461E-4BB0-9700-1FFF1CDA7086}"/>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8</a:t>
            </a:r>
          </a:p>
        </p:txBody>
      </p:sp>
      <p:graphicFrame>
        <p:nvGraphicFramePr>
          <p:cNvPr id="3" name="">
            <a:extLst xmlns:a="http://schemas.openxmlformats.org/drawingml/2006/main">
              <a:ext uri="{FF2B5EF4-FFF2-40B4-BE49-F238E27FC236}">
                <a16:creationId xmlns:a16="http://schemas.microsoft.com/office/drawing/2014/main" id="{767467FE-60F3-428E-AEA7-EA90082E4287}"/>
              </a:ext>
            </a:extLst>
          </p:cNvPr>
          <p:cNvGraphicFramePr/>
          <p:nvPr/>
        </p:nvGraphicFramePr>
        <p:xfrm>
          <a:off xmlns:a="http://schemas.openxmlformats.org/drawingml/2006/main" x="638175" y="2190750"/>
          <a:ext xmlns:a="http://schemas.openxmlformats.org/drawingml/2006/main" cx="10906125" cy="3190875"/>
        </p:xfrm>
        <a:graphic xmlns:a="http://schemas.openxmlformats.org/drawingml/2006/main">
          <a:graphicData uri="http://schemas.openxmlformats.org/drawingml/2006/table">
            <a:tbl>
              <a:tblPr/>
              <a:tblGrid>
                <a:gridCol w="2762250"/>
                <a:gridCol w="3857625"/>
                <a:gridCol w="4286250"/>
              </a:tblGrid>
              <a:tr h="638175">
                <a:tc>
                  <a:txBody>
                    <a:bodyPr/>
                    <a:lstStyle/>
                    <a:p>
                      <a:r>
                        <a:rPr sz="1800" b="1">
                          <a:solidFill>
                            <a:srgbClr val="FFFFFF"/>
                          </a:solidFill>
                          <a:latin typeface="Malgun Gothic"/>
                          <a:ea typeface="Malgun Gothic"/>
                          <a:cs typeface="Malgun Gothic"/>
                        </a:rPr>
                        <a:t>검사</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실제 결과</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범위</a:t>
                      </a:r>
                    </a:p>
                  </a:txBody>
                  <a:tcPr marL="91440" marR="91440" marT="45720" marB="45720">
                    <a:solidFill>
                      <a:srgbClr val="17364A"/>
                    </a:solidFill>
                  </a:tcPr>
                </a:tc>
              </a:tr>
              <a:tr h="638175">
                <a:tc>
                  <a:txBody>
                    <a:bodyPr/>
                    <a:lstStyle/>
                    <a:p>
                      <a:r>
                        <a:rPr sz="1800" b="0">
                          <a:solidFill>
                            <a:srgbClr val="17364A"/>
                          </a:solidFill>
                          <a:latin typeface="Malgun Gothic"/>
                          <a:ea typeface="Malgun Gothic"/>
                          <a:cs typeface="Malgun Gothic"/>
                        </a:rPr>
                        <a:t>회귀·입력 검사</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39개 통과</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현재 코드의 계약과 실패 입력</a:t>
                      </a:r>
                    </a:p>
                  </a:txBody>
                  <a:tcPr marL="91440" marR="91440" marT="45720" marB="45720">
                    <a:solidFill>
                      <a:srgbClr val="FFFFFF"/>
                    </a:solidFill>
                  </a:tcPr>
                </a:tc>
              </a:tr>
              <a:tr h="638175">
                <a:tc>
                  <a:txBody>
                    <a:bodyPr/>
                    <a:lstStyle/>
                    <a:p>
                      <a:r>
                        <a:rPr sz="1800" b="0">
                          <a:solidFill>
                            <a:srgbClr val="17364A"/>
                          </a:solidFill>
                          <a:latin typeface="Malgun Gothic"/>
                          <a:ea typeface="Malgun Gothic"/>
                          <a:cs typeface="Malgun Gothic"/>
                        </a:rPr>
                        <a:t>중앙차분</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58개 파라미터, 174회</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작은 float64 LSTM</a:t>
                      </a:r>
                    </a:p>
                  </a:txBody>
                  <a:tcPr marL="91440" marR="91440" marT="45720" marB="45720">
                    <a:solidFill>
                      <a:srgbClr val="F1F5F7"/>
                    </a:solidFill>
                  </a:tcPr>
                </a:tc>
              </a:tr>
              <a:tr h="638175">
                <a:tc>
                  <a:txBody>
                    <a:bodyPr/>
                    <a:lstStyle/>
                    <a:p>
                      <a:r>
                        <a:rPr sz="1800" b="0">
                          <a:solidFill>
                            <a:srgbClr val="17364A"/>
                          </a:solidFill>
                          <a:latin typeface="Malgun Gothic"/>
                          <a:ea typeface="Malgun Gothic"/>
                          <a:cs typeface="Malgun Gothic"/>
                        </a:rPr>
                        <a:t>미분 오류 대조</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0.01395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의도적 sigmoid 미분 누락 탐지</a:t>
                      </a:r>
                    </a:p>
                  </a:txBody>
                  <a:tcPr marL="91440" marR="91440" marT="45720" marB="45720">
                    <a:solidFill>
                      <a:srgbClr val="FFFFFF"/>
                    </a:solidFill>
                  </a:tcPr>
                </a:tc>
              </a:tr>
              <a:tr h="638175">
                <a:tc>
                  <a:txBody>
                    <a:bodyPr/>
                    <a:lstStyle/>
                    <a:p>
                      <a:r>
                        <a:rPr sz="1800" b="0">
                          <a:solidFill>
                            <a:srgbClr val="17364A"/>
                          </a:solidFill>
                          <a:latin typeface="Malgun Gothic"/>
                          <a:ea typeface="Malgun Gothic"/>
                          <a:cs typeface="Malgun Gothic"/>
                        </a:rPr>
                        <a:t>저장 모델 재검증</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9개 × 1,775개</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새 프로세스의 validation 예측</a:t>
                      </a:r>
                    </a:p>
                  </a:txBody>
                  <a:tcPr marL="91440" marR="91440" marT="45720" marB="45720">
                    <a:solidFill>
                      <a:srgbClr val="F1F5F7"/>
                    </a:solidFill>
                  </a:tcPr>
                </a:tc>
              </a:tr>
            </a:tbl>
          </a:graphicData>
        </a:graphic>
      </p:graphicFrame>
      <p:sp>
        <p:nvSpPr>
          <p:cNvPr id="4" name="">
            <a:extLst xmlns:a="http://schemas.openxmlformats.org/drawingml/2006/main">
              <a:ext uri="{FF2B5EF4-FFF2-40B4-BE49-F238E27FC236}">
                <a16:creationId xmlns:a16="http://schemas.microsoft.com/office/drawing/2014/main" id="{18571EDA-B1FE-4651-97B6-D10CDF55320C}"/>
              </a:ext>
            </a:extLst>
          </p:cNvPr>
          <p:cNvSpPr>
            <a:spLocks xmlns:a="http://schemas.openxmlformats.org/drawingml/2006/main" noGrp="1"/>
          </p:cNvSpPr>
          <p:nvPr/>
        </p:nvSpPr>
        <p:spPr>
          <a:xfrm xmlns:a="http://schemas.openxmlformats.org/drawingml/2006/main">
            <a:off x="685800" y="57912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7D85"/>
                </a:solidFill>
                <a:latin typeface="Malgun Gothic"/>
                <a:ea typeface="Malgun Gothic"/>
                <a:cs typeface="Malgun Gothic"/>
              </a:defRPr>
            </a:defPPr>
          </a:lstStyle>
          <a:p xmlns:a="http://schemas.openxmlformats.org/drawingml/2006/main">
            <a:pPr>
              <a:defRPr sz="2250" b="1">
                <a:solidFill>
                  <a:srgbClr val="147D85"/>
                </a:solidFill>
                <a:latin typeface="Malgun Gothic"/>
                <a:ea typeface="Malgun Gothic"/>
                <a:cs typeface="Malgun Gothic"/>
              </a:defRPr>
            </a:pPr>
            <a:r>
              <a:rPr sz="2250" b="1">
                <a:solidFill>
                  <a:srgbClr val="147D85"/>
                </a:solidFill>
                <a:latin typeface="Malgun Gothic"/>
                <a:ea typeface="Malgun Gothic"/>
                <a:cs typeface="Malgun Gothic"/>
              </a:rPr>
              <a:t>수동 BPTT와 실제 Keras 학습을 구분</a:t>
            </a:r>
          </a:p>
        </p:txBody>
      </p:sp>
    </p:spTree>
    <p:extLst>
      <p:ext uri="{BB962C8B-B14F-4D97-AF65-F5344CB8AC3E}">
        <p14:creationId xmlns:p14="http://schemas.microsoft.com/office/powerpoint/2010/main" val="6991711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90A659-1EE2-400C-A423-3AF4E168E5E2}"/>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조건별 검증 Macro F1</a:t>
            </a:r>
          </a:p>
        </p:txBody>
      </p:sp>
      <p:sp>
        <p:nvSpPr>
          <p:cNvPr id="2" name="">
            <a:extLst xmlns:a="http://schemas.openxmlformats.org/drawingml/2006/main">
              <a:ext uri="{FF2B5EF4-FFF2-40B4-BE49-F238E27FC236}">
                <a16:creationId xmlns:a16="http://schemas.microsoft.com/office/drawing/2014/main" id="{352F1BFC-A4C1-4CA3-82B4-84DD414ABC4F}"/>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각 seed의 실제 값  validation 1,775구간</a:t>
            </a:r>
          </a:p>
        </p:txBody>
      </p:sp>
      <p:sp>
        <p:nvSpPr>
          <p:cNvPr id="3" name="">
            <a:extLst xmlns:a="http://schemas.openxmlformats.org/drawingml/2006/main">
              <a:ext uri="{FF2B5EF4-FFF2-40B4-BE49-F238E27FC236}">
                <a16:creationId xmlns:a16="http://schemas.microsoft.com/office/drawing/2014/main" id="{869348D1-8985-4119-9900-067B8B696765}"/>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9</a:t>
            </a:r>
          </a:p>
        </p:txBody>
      </p:sp>
      <p:graphicFrame>
        <p:nvGraphicFramePr>
          <p:cNvPr id="4" name="Chart">
            <a:extLst xmlns:a="http://schemas.openxmlformats.org/drawingml/2006/main">
              <a:ext uri="{FF2B5EF4-FFF2-40B4-BE49-F238E27FC236}">
                <a16:creationId xmlns:a16="http://schemas.microsoft.com/office/drawing/2014/main" id="{7498542A-5A5A-419F-A8A6-B5896E28D6C3}"/>
              </a:ext>
            </a:extLst>
          </p:cNvPr>
          <p:cNvGraphicFramePr/>
          <p:nvPr/>
        </p:nvGraphicFramePr>
        <p:xfrm>
          <a:off xmlns:a="http://schemas.openxmlformats.org/drawingml/2006/main" x="723900" y="2124075"/>
          <a:ext xmlns:a="http://schemas.openxmlformats.org/drawingml/2006/main" cx="10668000" cy="3448050"/>
        </p:xfrm>
        <a:graphic xmlns:a="http://schemas.openxmlformats.org/drawingml/2006/main">
          <a:graphicData uri="http://schemas.openxmlformats.org/drawingml/2006/chart">
            <c:chart xmlns:r="http://schemas.openxmlformats.org/officeDocument/2006/relationships" xmlns:c="http://schemas.openxmlformats.org/drawingml/2006/chart" r:id="Re3db053c44f4435b"/>
          </a:graphicData>
        </a:graphic>
      </p:graphicFrame>
      <p:sp>
        <p:nvSpPr>
          <p:cNvPr id="5" name="">
            <a:extLst xmlns:a="http://schemas.openxmlformats.org/drawingml/2006/main">
              <a:ext uri="{FF2B5EF4-FFF2-40B4-BE49-F238E27FC236}">
                <a16:creationId xmlns:a16="http://schemas.microsoft.com/office/drawing/2014/main" id="{6422CC09-5D12-430A-80E8-DB2BCA794B3D}"/>
              </a:ext>
            </a:extLst>
          </p:cNvPr>
          <p:cNvSpPr>
            <a:spLocks xmlns:a="http://schemas.openxmlformats.org/drawingml/2006/main" noGrp="1"/>
          </p:cNvSpPr>
          <p:nvPr/>
        </p:nvSpPr>
        <p:spPr>
          <a:xfrm xmlns:a="http://schemas.openxmlformats.org/drawingml/2006/main">
            <a:off x="762000" y="58674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7D85"/>
                </a:solidFill>
                <a:latin typeface="Malgun Gothic"/>
                <a:ea typeface="Malgun Gothic"/>
                <a:cs typeface="Malgun Gothic"/>
              </a:defRPr>
            </a:defPPr>
          </a:lstStyle>
          <a:p xmlns:a="http://schemas.openxmlformats.org/drawingml/2006/main">
            <a:pPr>
              <a:defRPr sz="2325" b="1">
                <a:solidFill>
                  <a:srgbClr val="147D85"/>
                </a:solidFill>
                <a:latin typeface="Malgun Gothic"/>
                <a:ea typeface="Malgun Gothic"/>
                <a:cs typeface="Malgun Gothic"/>
              </a:defRPr>
            </a:pPr>
            <a:r>
              <a:rPr sz="2325" b="1">
                <a:solidFill>
                  <a:srgbClr val="147D85"/>
                </a:solidFill>
                <a:latin typeface="Malgun Gothic"/>
                <a:ea typeface="Malgun Gothic"/>
                <a:cs typeface="Malgun Gothic"/>
              </a:rPr>
              <a:t>L01 평균 0.8813  표본 SD 0.0195</a:t>
            </a:r>
          </a:p>
        </p:txBody>
      </p:sp>
    </p:spTree>
    <p:extLst>
      <p:ext uri="{BB962C8B-B14F-4D97-AF65-F5344CB8AC3E}">
        <p14:creationId xmlns:p14="http://schemas.microsoft.com/office/powerpoint/2010/main" val="11469881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0C2507-FD79-4871-A555-BF1267B949AA}"/>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학습 손실과 검증 손실</a:t>
            </a:r>
          </a:p>
        </p:txBody>
      </p:sp>
      <p:sp>
        <p:nvSpPr>
          <p:cNvPr id="2" name="">
            <a:extLst xmlns:a="http://schemas.openxmlformats.org/drawingml/2006/main">
              <a:ext uri="{FF2B5EF4-FFF2-40B4-BE49-F238E27FC236}">
                <a16:creationId xmlns:a16="http://schemas.microsoft.com/office/drawing/2014/main" id="{54651740-421B-4140-A42D-AB096816A13F}"/>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L01 seed 2026  사전에 정한 대표 실행</a:t>
            </a:r>
          </a:p>
        </p:txBody>
      </p:sp>
      <p:sp>
        <p:nvSpPr>
          <p:cNvPr id="3" name="">
            <a:extLst xmlns:a="http://schemas.openxmlformats.org/drawingml/2006/main">
              <a:ext uri="{FF2B5EF4-FFF2-40B4-BE49-F238E27FC236}">
                <a16:creationId xmlns:a16="http://schemas.microsoft.com/office/drawing/2014/main" id="{80B7110D-BB1C-4FD6-B9BE-D42192C6DEB8}"/>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10</a:t>
            </a:r>
          </a:p>
        </p:txBody>
      </p:sp>
      <p:graphicFrame>
        <p:nvGraphicFramePr>
          <p:cNvPr id="4" name="Chart">
            <a:extLst xmlns:a="http://schemas.openxmlformats.org/drawingml/2006/main">
              <a:ext uri="{FF2B5EF4-FFF2-40B4-BE49-F238E27FC236}">
                <a16:creationId xmlns:a16="http://schemas.microsoft.com/office/drawing/2014/main" id="{D7F05418-FF81-4E95-8015-9F1EF80424EF}"/>
              </a:ext>
            </a:extLst>
          </p:cNvPr>
          <p:cNvGraphicFramePr/>
          <p:nvPr/>
        </p:nvGraphicFramePr>
        <p:xfrm>
          <a:off xmlns:a="http://schemas.openxmlformats.org/drawingml/2006/main" x="714375" y="2143125"/>
          <a:ext xmlns:a="http://schemas.openxmlformats.org/drawingml/2006/main" cx="10715625" cy="3467100"/>
        </p:xfrm>
        <a:graphic xmlns:a="http://schemas.openxmlformats.org/drawingml/2006/main">
          <a:graphicData uri="http://schemas.openxmlformats.org/drawingml/2006/chart">
            <c:chart xmlns:r="http://schemas.openxmlformats.org/officeDocument/2006/relationships" xmlns:c="http://schemas.openxmlformats.org/drawingml/2006/chart" r:id="Ra1db4612d5884c16"/>
          </a:graphicData>
        </a:graphic>
      </p:graphicFrame>
      <p:sp>
        <p:nvSpPr>
          <p:cNvPr id="5" name="">
            <a:extLst xmlns:a="http://schemas.openxmlformats.org/drawingml/2006/main">
              <a:ext uri="{FF2B5EF4-FFF2-40B4-BE49-F238E27FC236}">
                <a16:creationId xmlns:a16="http://schemas.microsoft.com/office/drawing/2014/main" id="{811C2579-F683-49FE-BF1C-A311F350484A}"/>
              </a:ext>
            </a:extLst>
          </p:cNvPr>
          <p:cNvSpPr>
            <a:spLocks xmlns:a="http://schemas.openxmlformats.org/drawingml/2006/main" noGrp="1"/>
          </p:cNvSpPr>
          <p:nvPr/>
        </p:nvSpPr>
        <p:spPr>
          <a:xfrm xmlns:a="http://schemas.openxmlformats.org/drawingml/2006/main">
            <a:off x="752475" y="58388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선택 epoch 4  실행 epoch 10  선택 기준 val_loss</a:t>
            </a:r>
          </a:p>
        </p:txBody>
      </p:sp>
    </p:spTree>
    <p:extLst>
      <p:ext uri="{BB962C8B-B14F-4D97-AF65-F5344CB8AC3E}">
        <p14:creationId xmlns:p14="http://schemas.microsoft.com/office/powerpoint/2010/main" val="19803561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3D1690-5618-4C29-BEE8-7DADCCA4A113}"/>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행동별 혼동을 구간 수로 확인</a:t>
            </a:r>
          </a:p>
        </p:txBody>
      </p:sp>
      <p:sp>
        <p:nvSpPr>
          <p:cNvPr id="2" name="">
            <a:extLst xmlns:a="http://schemas.openxmlformats.org/drawingml/2006/main">
              <a:ext uri="{FF2B5EF4-FFF2-40B4-BE49-F238E27FC236}">
                <a16:creationId xmlns:a16="http://schemas.microsoft.com/office/drawing/2014/main" id="{28F62692-70C4-4CA2-939B-81139C44D5B6}"/>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L01 seed 2026  행은 정답, 열은 예측</a:t>
            </a:r>
          </a:p>
        </p:txBody>
      </p:sp>
      <p:sp>
        <p:nvSpPr>
          <p:cNvPr id="3" name="">
            <a:extLst xmlns:a="http://schemas.openxmlformats.org/drawingml/2006/main">
              <a:ext uri="{FF2B5EF4-FFF2-40B4-BE49-F238E27FC236}">
                <a16:creationId xmlns:a16="http://schemas.microsoft.com/office/drawing/2014/main" id="{7E8A3A3F-59EB-478B-82F2-965E1F43C9F5}"/>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11</a:t>
            </a:r>
          </a:p>
        </p:txBody>
      </p:sp>
      <p:graphicFrame>
        <p:nvGraphicFramePr>
          <p:cNvPr id="4" name="">
            <a:extLst xmlns:a="http://schemas.openxmlformats.org/drawingml/2006/main">
              <a:ext uri="{FF2B5EF4-FFF2-40B4-BE49-F238E27FC236}">
                <a16:creationId xmlns:a16="http://schemas.microsoft.com/office/drawing/2014/main" id="{497450DC-B223-4CCE-A5CE-9E92D35EB0EA}"/>
              </a:ext>
            </a:extLst>
          </p:cNvPr>
          <p:cNvGraphicFramePr/>
          <p:nvPr/>
        </p:nvGraphicFramePr>
        <p:xfrm>
          <a:off xmlns:a="http://schemas.openxmlformats.org/drawingml/2006/main" x="638175" y="2143125"/>
          <a:ext xmlns:a="http://schemas.openxmlformats.org/drawingml/2006/main" cx="10906125" cy="3371850"/>
        </p:xfrm>
        <a:graphic xmlns:a="http://schemas.openxmlformats.org/drawingml/2006/main">
          <a:graphicData uri="http://schemas.openxmlformats.org/drawingml/2006/table">
            <a:tbl>
              <a:tblPr/>
              <a:tblGrid>
                <a:gridCol w="2047875"/>
                <a:gridCol w="1476375"/>
                <a:gridCol w="1476375"/>
                <a:gridCol w="1476375"/>
                <a:gridCol w="1476375"/>
                <a:gridCol w="1476375"/>
                <a:gridCol w="1476375"/>
              </a:tblGrid>
              <a:tr h="481693">
                <a:tc>
                  <a:txBody>
                    <a:bodyPr/>
                    <a:lstStyle/>
                    <a:p>
                      <a:r>
                        <a:rPr sz="1800" b="1">
                          <a:solidFill>
                            <a:srgbClr val="FFFFFF"/>
                          </a:solidFill>
                          <a:latin typeface="Malgun Gothic"/>
                          <a:ea typeface="Malgun Gothic"/>
                          <a:cs typeface="Malgun Gothic"/>
                        </a:rPr>
                        <a:t>정답/예측</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걷기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계단 위</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계단 아래</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앉기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서기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눕기</a:t>
                      </a:r>
                    </a:p>
                  </a:txBody>
                  <a:tcPr marL="91440" marR="91440" marT="45720" marB="45720">
                    <a:solidFill>
                      <a:srgbClr val="17364A"/>
                    </a:solidFill>
                  </a:tcPr>
                </a:tc>
              </a:tr>
              <a:tr h="481693">
                <a:tc>
                  <a:txBody>
                    <a:bodyPr/>
                    <a:lstStyle/>
                    <a:p>
                      <a:r>
                        <a:rPr sz="1800" b="0">
                          <a:solidFill>
                            <a:srgbClr val="17364A"/>
                          </a:solidFill>
                          <a:latin typeface="Malgun Gothic"/>
                          <a:ea typeface="Malgun Gothic"/>
                          <a:cs typeface="Malgun Gothic"/>
                        </a:rPr>
                        <a:t>걷기</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268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53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r>
              <a:tr h="481693">
                <a:tc>
                  <a:txBody>
                    <a:bodyPr/>
                    <a:lstStyle/>
                    <a:p>
                      <a:r>
                        <a:rPr sz="1800" b="0">
                          <a:solidFill>
                            <a:srgbClr val="17364A"/>
                          </a:solidFill>
                          <a:latin typeface="Malgun Gothic"/>
                          <a:ea typeface="Malgun Gothic"/>
                          <a:cs typeface="Malgun Gothic"/>
                        </a:rPr>
                        <a:t>계단 위</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236</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r>
              <a:tr h="481693">
                <a:tc>
                  <a:txBody>
                    <a:bodyPr/>
                    <a:lstStyle/>
                    <a:p>
                      <a:r>
                        <a:rPr sz="1800" b="0">
                          <a:solidFill>
                            <a:srgbClr val="17364A"/>
                          </a:solidFill>
                          <a:latin typeface="Malgun Gothic"/>
                          <a:ea typeface="Malgun Gothic"/>
                          <a:cs typeface="Malgun Gothic"/>
                        </a:rPr>
                        <a:t>계단 아래</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218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r>
              <a:tr h="481693">
                <a:tc>
                  <a:txBody>
                    <a:bodyPr/>
                    <a:lstStyle/>
                    <a:p>
                      <a:r>
                        <a:rPr sz="1800" b="0">
                          <a:solidFill>
                            <a:srgbClr val="17364A"/>
                          </a:solidFill>
                          <a:latin typeface="Malgun Gothic"/>
                          <a:ea typeface="Malgun Gothic"/>
                          <a:cs typeface="Malgun Gothic"/>
                        </a:rPr>
                        <a:t>앉기</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160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148</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1</a:t>
                      </a:r>
                    </a:p>
                  </a:txBody>
                  <a:tcPr marL="91440" marR="91440" marT="45720" marB="45720">
                    <a:solidFill>
                      <a:srgbClr val="F1F5F7"/>
                    </a:solidFill>
                  </a:tcPr>
                </a:tc>
              </a:tr>
              <a:tr h="481693">
                <a:tc>
                  <a:txBody>
                    <a:bodyPr/>
                    <a:lstStyle/>
                    <a:p>
                      <a:r>
                        <a:rPr sz="1800" b="0">
                          <a:solidFill>
                            <a:srgbClr val="17364A"/>
                          </a:solidFill>
                          <a:latin typeface="Malgun Gothic"/>
                          <a:ea typeface="Malgun Gothic"/>
                          <a:cs typeface="Malgun Gothic"/>
                        </a:rPr>
                        <a:t>서기</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327</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r>
              <a:tr h="481693">
                <a:tc>
                  <a:txBody>
                    <a:bodyPr/>
                    <a:lstStyle/>
                    <a:p>
                      <a:r>
                        <a:rPr sz="1800" b="0">
                          <a:solidFill>
                            <a:srgbClr val="17364A"/>
                          </a:solidFill>
                          <a:latin typeface="Malgun Gothic"/>
                          <a:ea typeface="Malgun Gothic"/>
                          <a:cs typeface="Malgun Gothic"/>
                        </a:rPr>
                        <a:t>눕기</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320</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E9B646E0-69AF-47E6-AD7E-A5C84C8DCE82}"/>
              </a:ext>
            </a:extLst>
          </p:cNvPr>
          <p:cNvSpPr>
            <a:spLocks xmlns:a="http://schemas.openxmlformats.org/drawingml/2006/main" noGrp="1"/>
          </p:cNvSpPr>
          <p:nvPr/>
        </p:nvSpPr>
        <p:spPr>
          <a:xfrm xmlns:a="http://schemas.openxmlformats.org/drawingml/2006/main">
            <a:off x="723900" y="58864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가장 큰 비대각 혼동  앉기 / 서기  148개</a:t>
            </a:r>
          </a:p>
        </p:txBody>
      </p:sp>
    </p:spTree>
    <p:extLst>
      <p:ext uri="{BB962C8B-B14F-4D97-AF65-F5344CB8AC3E}">
        <p14:creationId xmlns:p14="http://schemas.microsoft.com/office/powerpoint/2010/main" val="5517314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1AC510-9B65-43FA-B379-249A13F1A7D3}"/>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사람마다 다른 분류 성능</a:t>
            </a:r>
          </a:p>
        </p:txBody>
      </p:sp>
      <p:sp>
        <p:nvSpPr>
          <p:cNvPr id="2" name="">
            <a:extLst xmlns:a="http://schemas.openxmlformats.org/drawingml/2006/main">
              <a:ext uri="{FF2B5EF4-FFF2-40B4-BE49-F238E27FC236}">
                <a16:creationId xmlns:a16="http://schemas.microsoft.com/office/drawing/2014/main" id="{60229A0E-65DB-46E9-9A2D-12CCEA98DFC0}"/>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L01  같은 검증 사람 5명과 세 seed</a:t>
            </a:r>
          </a:p>
        </p:txBody>
      </p:sp>
      <p:sp>
        <p:nvSpPr>
          <p:cNvPr id="3" name="">
            <a:extLst xmlns:a="http://schemas.openxmlformats.org/drawingml/2006/main">
              <a:ext uri="{FF2B5EF4-FFF2-40B4-BE49-F238E27FC236}">
                <a16:creationId xmlns:a16="http://schemas.microsoft.com/office/drawing/2014/main" id="{A5E9DA57-3134-4FC5-8A0D-DA3CC3372C9B}"/>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12</a:t>
            </a:r>
          </a:p>
        </p:txBody>
      </p:sp>
      <p:graphicFrame>
        <p:nvGraphicFramePr>
          <p:cNvPr id="4" name="Chart">
            <a:extLst xmlns:a="http://schemas.openxmlformats.org/drawingml/2006/main">
              <a:ext uri="{FF2B5EF4-FFF2-40B4-BE49-F238E27FC236}">
                <a16:creationId xmlns:a16="http://schemas.microsoft.com/office/drawing/2014/main" id="{0A968282-C8DE-45FA-AC39-160B85A1F031}"/>
              </a:ext>
            </a:extLst>
          </p:cNvPr>
          <p:cNvGraphicFramePr/>
          <p:nvPr/>
        </p:nvGraphicFramePr>
        <p:xfrm>
          <a:off xmlns:a="http://schemas.openxmlformats.org/drawingml/2006/main" x="723900" y="2133600"/>
          <a:ext xmlns:a="http://schemas.openxmlformats.org/drawingml/2006/main" cx="10668000" cy="3524250"/>
        </p:xfrm>
        <a:graphic xmlns:a="http://schemas.openxmlformats.org/drawingml/2006/main">
          <a:graphicData uri="http://schemas.openxmlformats.org/drawingml/2006/chart">
            <c:chart xmlns:r="http://schemas.openxmlformats.org/officeDocument/2006/relationships" xmlns:c="http://schemas.openxmlformats.org/drawingml/2006/chart" r:id="R0c7eef43bbba4591"/>
          </a:graphicData>
        </a:graphic>
      </p:graphicFrame>
      <p:sp>
        <p:nvSpPr>
          <p:cNvPr id="5" name="">
            <a:extLst xmlns:a="http://schemas.openxmlformats.org/drawingml/2006/main">
              <a:ext uri="{FF2B5EF4-FFF2-40B4-BE49-F238E27FC236}">
                <a16:creationId xmlns:a16="http://schemas.microsoft.com/office/drawing/2014/main" id="{9CBBFD85-494A-4F2A-B795-422F0806C220}"/>
              </a:ext>
            </a:extLst>
          </p:cNvPr>
          <p:cNvSpPr>
            <a:spLocks xmlns:a="http://schemas.openxmlformats.org/drawingml/2006/main" noGrp="1"/>
          </p:cNvSpPr>
          <p:nvPr/>
        </p:nvSpPr>
        <p:spPr>
          <a:xfrm xmlns:a="http://schemas.openxmlformats.org/drawingml/2006/main">
            <a:off x="733425" y="5905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364A"/>
                </a:solidFill>
                <a:latin typeface="Malgun Gothic"/>
                <a:ea typeface="Malgun Gothic"/>
                <a:cs typeface="Malgun Gothic"/>
              </a:defRPr>
            </a:defPPr>
          </a:lstStyle>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구간 전체의 Macro F1과 사람별 F1 평균은 다른 집계</a:t>
            </a:r>
          </a:p>
        </p:txBody>
      </p:sp>
    </p:spTree>
    <p:extLst>
      <p:ext uri="{BB962C8B-B14F-4D97-AF65-F5344CB8AC3E}">
        <p14:creationId xmlns:p14="http://schemas.microsoft.com/office/powerpoint/2010/main" val="12435087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24CA17-B721-4850-AE54-9DA806BC6625}"/>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현재 CPU에서 측정한 추론 시간</a:t>
            </a:r>
          </a:p>
        </p:txBody>
      </p:sp>
      <p:sp>
        <p:nvSpPr>
          <p:cNvPr id="2" name="">
            <a:extLst xmlns:a="http://schemas.openxmlformats.org/drawingml/2006/main">
              <a:ext uri="{FF2B5EF4-FFF2-40B4-BE49-F238E27FC236}">
                <a16:creationId xmlns:a16="http://schemas.microsoft.com/office/drawing/2014/main" id="{A5C9E928-5009-4D04-9A55-4CF5BB08CCD7}"/>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batch 1  준비된 입력  워밍업 50회와 측정 500회</a:t>
            </a:r>
          </a:p>
        </p:txBody>
      </p:sp>
      <p:sp>
        <p:nvSpPr>
          <p:cNvPr id="3" name="">
            <a:extLst xmlns:a="http://schemas.openxmlformats.org/drawingml/2006/main">
              <a:ext uri="{FF2B5EF4-FFF2-40B4-BE49-F238E27FC236}">
                <a16:creationId xmlns:a16="http://schemas.microsoft.com/office/drawing/2014/main" id="{9516BD76-CE49-4E67-B9E3-115DCDABB5D7}"/>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13</a:t>
            </a:r>
          </a:p>
        </p:txBody>
      </p:sp>
      <p:graphicFrame>
        <p:nvGraphicFramePr>
          <p:cNvPr id="4" name="">
            <a:extLst xmlns:a="http://schemas.openxmlformats.org/drawingml/2006/main">
              <a:ext uri="{FF2B5EF4-FFF2-40B4-BE49-F238E27FC236}">
                <a16:creationId xmlns:a16="http://schemas.microsoft.com/office/drawing/2014/main" id="{80DBC227-FEC3-44A7-B81A-C357E769BA83}"/>
              </a:ext>
            </a:extLst>
          </p:cNvPr>
          <p:cNvGraphicFramePr/>
          <p:nvPr/>
        </p:nvGraphicFramePr>
        <p:xfrm>
          <a:off xmlns:a="http://schemas.openxmlformats.org/drawingml/2006/main" x="638175" y="2247900"/>
          <a:ext xmlns:a="http://schemas.openxmlformats.org/drawingml/2006/main" cx="10906125" cy="2286000"/>
        </p:xfrm>
        <a:graphic xmlns:a="http://schemas.openxmlformats.org/drawingml/2006/main">
          <a:graphicData uri="http://schemas.openxmlformats.org/drawingml/2006/table">
            <a:tbl>
              <a:tblPr/>
              <a:tblGrid>
                <a:gridCol w="5381625"/>
                <a:gridCol w="2762250"/>
                <a:gridCol w="2762250"/>
              </a:tblGrid>
              <a:tr h="571500">
                <a:tc>
                  <a:txBody>
                    <a:bodyPr/>
                    <a:lstStyle/>
                    <a:p>
                      <a:r>
                        <a:rPr sz="2100" b="1">
                          <a:solidFill>
                            <a:srgbClr val="FFFFFF"/>
                          </a:solidFill>
                          <a:latin typeface="Malgun Gothic"/>
                          <a:ea typeface="Malgun Gothic"/>
                          <a:cs typeface="Malgun Gothic"/>
                        </a:rPr>
                        <a:t>조건 seed</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median ms</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p95 ms</a:t>
                      </a:r>
                    </a:p>
                  </a:txBody>
                  <a:tcPr marL="91440" marR="91440" marT="45720" marB="45720">
                    <a:solidFill>
                      <a:srgbClr val="17364A"/>
                    </a:solidFill>
                  </a:tcPr>
                </a:tc>
              </a:tr>
              <a:tr h="571500">
                <a:tc>
                  <a:txBody>
                    <a:bodyPr/>
                    <a:lstStyle/>
                    <a:p>
                      <a:r>
                        <a:rPr sz="2100" b="0">
                          <a:solidFill>
                            <a:srgbClr val="17364A"/>
                          </a:solidFill>
                          <a:latin typeface="Malgun Gothic"/>
                          <a:ea typeface="Malgun Gothic"/>
                          <a:cs typeface="Malgun Gothic"/>
                        </a:rPr>
                        <a:t>L01_seed2026</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4.706</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7.211</a:t>
                      </a:r>
                    </a:p>
                  </a:txBody>
                  <a:tcPr marL="91440" marR="91440" marT="45720" marB="45720">
                    <a:solidFill>
                      <a:srgbClr val="FFFFFF"/>
                    </a:solidFill>
                  </a:tcPr>
                </a:tc>
              </a:tr>
              <a:tr h="571500">
                <a:tc>
                  <a:txBody>
                    <a:bodyPr/>
                    <a:lstStyle/>
                    <a:p>
                      <a:r>
                        <a:rPr sz="2100" b="0">
                          <a:solidFill>
                            <a:srgbClr val="17364A"/>
                          </a:solidFill>
                          <a:latin typeface="Malgun Gothic"/>
                          <a:ea typeface="Malgun Gothic"/>
                          <a:cs typeface="Malgun Gothic"/>
                        </a:rPr>
                        <a:t>L02_seed2026</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4.387</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7.159</a:t>
                      </a:r>
                    </a:p>
                  </a:txBody>
                  <a:tcPr marL="91440" marR="91440" marT="45720" marB="45720">
                    <a:solidFill>
                      <a:srgbClr val="F1F5F7"/>
                    </a:solidFill>
                  </a:tcPr>
                </a:tc>
              </a:tr>
              <a:tr h="571500">
                <a:tc>
                  <a:txBody>
                    <a:bodyPr/>
                    <a:lstStyle/>
                    <a:p>
                      <a:r>
                        <a:rPr sz="2100" b="0">
                          <a:solidFill>
                            <a:srgbClr val="17364A"/>
                          </a:solidFill>
                          <a:latin typeface="Malgun Gothic"/>
                          <a:ea typeface="Malgun Gothic"/>
                          <a:cs typeface="Malgun Gothic"/>
                        </a:rPr>
                        <a:t>L03_seed2026</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4.783</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7.251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975FA66-B315-4228-A075-0E92142C161A}"/>
              </a:ext>
            </a:extLst>
          </p:cNvPr>
          <p:cNvSpPr>
            <a:spLocks xmlns:a="http://schemas.openxmlformats.org/drawingml/2006/main" noGrp="1"/>
          </p:cNvSpPr>
          <p:nvPr/>
        </p:nvSpPr>
        <p:spPr>
          <a:xfrm xmlns:a="http://schemas.openxmlformats.org/drawingml/2006/main">
            <a:off x="723900" y="50482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64A"/>
                </a:solidFill>
                <a:latin typeface="Malgun Gothic"/>
                <a:ea typeface="Malgun Gothic"/>
                <a:cs typeface="Malgun Gothic"/>
              </a:defRPr>
            </a:defPPr>
          </a:lstStyle>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tf.function 모델 호출과 .numpy 출력 반환까지 측정</a:t>
            </a:r>
          </a:p>
        </p:txBody>
      </p:sp>
      <p:sp>
        <p:nvSpPr>
          <p:cNvPr id="6" name="">
            <a:extLst xmlns:a="http://schemas.openxmlformats.org/drawingml/2006/main">
              <a:ext uri="{FF2B5EF4-FFF2-40B4-BE49-F238E27FC236}">
                <a16:creationId xmlns:a16="http://schemas.microsoft.com/office/drawing/2014/main" id="{1CB3D83C-F7DE-48EE-8738-CFD7F73E13FA}"/>
              </a:ext>
            </a:extLst>
          </p:cNvPr>
          <p:cNvSpPr>
            <a:spLocks xmlns:a="http://schemas.openxmlformats.org/drawingml/2006/main" noGrp="1"/>
          </p:cNvSpPr>
          <p:nvPr/>
        </p:nvSpPr>
        <p:spPr>
          <a:xfrm xmlns:a="http://schemas.openxmlformats.org/drawingml/2006/main">
            <a:off x="723900" y="5753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47D85"/>
                </a:solidFill>
                <a:latin typeface="Malgun Gothic"/>
                <a:ea typeface="Malgun Gothic"/>
                <a:cs typeface="Malgun Gothic"/>
              </a:defRPr>
            </a:defPPr>
          </a:lstStyle>
          <a:p xmlns:a="http://schemas.openxmlformats.org/drawingml/2006/main">
            <a:pPr>
              <a:defRPr sz="2025" b="1">
                <a:solidFill>
                  <a:srgbClr val="147D85"/>
                </a:solidFill>
                <a:latin typeface="Malgun Gothic"/>
                <a:ea typeface="Malgun Gothic"/>
                <a:cs typeface="Malgun Gothic"/>
              </a:defRPr>
            </a:pPr>
            <a:r>
              <a:rPr sz="2025" b="1">
                <a:solidFill>
                  <a:srgbClr val="147D85"/>
                </a:solidFill>
                <a:latin typeface="Malgun Gothic"/>
                <a:ea typeface="Malgun Gothic"/>
                <a:cs typeface="Malgun Gothic"/>
              </a:rPr>
              <a:t>전처리는 별도 측정  스마트폰 실장치 성능은 미측정</a:t>
            </a:r>
          </a:p>
        </p:txBody>
      </p:sp>
    </p:spTree>
    <p:extLst>
      <p:ext uri="{BB962C8B-B14F-4D97-AF65-F5344CB8AC3E}">
        <p14:creationId xmlns:p14="http://schemas.microsoft.com/office/powerpoint/2010/main" val="14535112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DEA011-58F7-4CAC-868A-EB7E98850E2D}"/>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확인한 결과와 남은 범위</a:t>
            </a:r>
          </a:p>
        </p:txBody>
      </p:sp>
      <p:sp>
        <p:nvSpPr>
          <p:cNvPr id="2" name="">
            <a:extLst xmlns:a="http://schemas.openxmlformats.org/drawingml/2006/main">
              <a:ext uri="{FF2B5EF4-FFF2-40B4-BE49-F238E27FC236}">
                <a16:creationId xmlns:a16="http://schemas.microsoft.com/office/drawing/2014/main" id="{B79667C2-86DD-4E68-A004-FA13910FDBDE}"/>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9CDAB3D3-5B80-4D5B-AFF2-B903B8E5D0C8}"/>
              </a:ext>
            </a:extLst>
          </p:cNvPr>
          <p:cNvSpPr>
            <a:spLocks xmlns:a="http://schemas.openxmlformats.org/drawingml/2006/main" noGrp="1"/>
          </p:cNvSpPr>
          <p:nvPr/>
        </p:nvSpPr>
        <p:spPr>
          <a:xfrm xmlns:a="http://schemas.openxmlformats.org/drawingml/2006/main">
            <a:off x="647700" y="22383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분류 결과</a:t>
            </a:r>
          </a:p>
        </p:txBody>
      </p:sp>
      <p:sp>
        <p:nvSpPr>
          <p:cNvPr id="4" name="">
            <a:extLst xmlns:a="http://schemas.openxmlformats.org/drawingml/2006/main">
              <a:ext uri="{FF2B5EF4-FFF2-40B4-BE49-F238E27FC236}">
                <a16:creationId xmlns:a16="http://schemas.microsoft.com/office/drawing/2014/main" id="{91246A6B-EEF7-439C-8FC7-0112429D65AF}"/>
              </a:ext>
            </a:extLst>
          </p:cNvPr>
          <p:cNvSpPr>
            <a:spLocks xmlns:a="http://schemas.openxmlformats.org/drawingml/2006/main" noGrp="1"/>
          </p:cNvSpPr>
          <p:nvPr/>
        </p:nvSpPr>
        <p:spPr>
          <a:xfrm xmlns:a="http://schemas.openxmlformats.org/drawingml/2006/main">
            <a:off x="3390900" y="223837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고정 검증 사람 5명, 학습 seed 3개</a:t>
            </a:r>
          </a:p>
        </p:txBody>
      </p:sp>
      <p:sp>
        <p:nvSpPr>
          <p:cNvPr id="5" name="">
            <a:extLst xmlns:a="http://schemas.openxmlformats.org/drawingml/2006/main">
              <a:ext uri="{FF2B5EF4-FFF2-40B4-BE49-F238E27FC236}">
                <a16:creationId xmlns:a16="http://schemas.microsoft.com/office/drawing/2014/main" id="{79DF1E30-87F9-4339-B891-B38631F78EA1}"/>
              </a:ext>
            </a:extLst>
          </p:cNvPr>
          <p:cNvSpPr>
            <a:spLocks xmlns:a="http://schemas.openxmlformats.org/drawingml/2006/main" noGrp="1"/>
          </p:cNvSpPr>
          <p:nvPr/>
        </p:nvSpPr>
        <p:spPr>
          <a:xfrm xmlns:a="http://schemas.openxmlformats.org/drawingml/2006/main">
            <a:off x="647700" y="32861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비교 범위</a:t>
            </a:r>
          </a:p>
        </p:txBody>
      </p:sp>
      <p:sp>
        <p:nvSpPr>
          <p:cNvPr id="6" name="">
            <a:extLst xmlns:a="http://schemas.openxmlformats.org/drawingml/2006/main">
              <a:ext uri="{FF2B5EF4-FFF2-40B4-BE49-F238E27FC236}">
                <a16:creationId xmlns:a16="http://schemas.microsoft.com/office/drawing/2014/main" id="{4F92718A-2BE9-4292-9B78-BD40BD97DAD4}"/>
              </a:ext>
            </a:extLst>
          </p:cNvPr>
          <p:cNvSpPr>
            <a:spLocks xmlns:a="http://schemas.openxmlformats.org/drawingml/2006/main" noGrp="1"/>
          </p:cNvSpPr>
          <p:nvPr/>
        </p:nvSpPr>
        <p:spPr>
          <a:xfrm xmlns:a="http://schemas.openxmlformats.org/drawingml/2006/main">
            <a:off x="3390900" y="328612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기본·소형·Dropout의 사전 조건</a:t>
            </a:r>
          </a:p>
        </p:txBody>
      </p:sp>
      <p:sp>
        <p:nvSpPr>
          <p:cNvPr id="7" name="">
            <a:extLst xmlns:a="http://schemas.openxmlformats.org/drawingml/2006/main">
              <a:ext uri="{FF2B5EF4-FFF2-40B4-BE49-F238E27FC236}">
                <a16:creationId xmlns:a16="http://schemas.microsoft.com/office/drawing/2014/main" id="{410D0051-A629-4E67-8BC1-3365A4D1ED58}"/>
              </a:ext>
            </a:extLst>
          </p:cNvPr>
          <p:cNvSpPr>
            <a:spLocks xmlns:a="http://schemas.openxmlformats.org/drawingml/2006/main" noGrp="1"/>
          </p:cNvSpPr>
          <p:nvPr/>
        </p:nvSpPr>
        <p:spPr>
          <a:xfrm xmlns:a="http://schemas.openxmlformats.org/drawingml/2006/main">
            <a:off x="647700" y="43338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후속 공동 작업</a:t>
            </a:r>
          </a:p>
        </p:txBody>
      </p:sp>
      <p:sp>
        <p:nvSpPr>
          <p:cNvPr id="8" name="">
            <a:extLst xmlns:a="http://schemas.openxmlformats.org/drawingml/2006/main">
              <a:ext uri="{FF2B5EF4-FFF2-40B4-BE49-F238E27FC236}">
                <a16:creationId xmlns:a16="http://schemas.microsoft.com/office/drawing/2014/main" id="{66D7E1B2-4C4B-45A8-820A-2A24C540E38E}"/>
              </a:ext>
            </a:extLst>
          </p:cNvPr>
          <p:cNvSpPr>
            <a:spLocks xmlns:a="http://schemas.openxmlformats.org/drawingml/2006/main" noGrp="1"/>
          </p:cNvSpPr>
          <p:nvPr/>
        </p:nvSpPr>
        <p:spPr>
          <a:xfrm xmlns:a="http://schemas.openxmlformats.org/drawingml/2006/main">
            <a:off x="3390900" y="433387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팀원 모델 비교와 합의 후 공식 test</a:t>
            </a:r>
          </a:p>
        </p:txBody>
      </p:sp>
      <p:sp>
        <p:nvSpPr>
          <p:cNvPr id="9" name="">
            <a:extLst xmlns:a="http://schemas.openxmlformats.org/drawingml/2006/main">
              <a:ext uri="{FF2B5EF4-FFF2-40B4-BE49-F238E27FC236}">
                <a16:creationId xmlns:a16="http://schemas.microsoft.com/office/drawing/2014/main" id="{F5F47189-D465-4C24-8227-DD49D4BB920D}"/>
              </a:ext>
            </a:extLst>
          </p:cNvPr>
          <p:cNvSpPr>
            <a:spLocks xmlns:a="http://schemas.openxmlformats.org/drawingml/2006/main" noGrp="1"/>
          </p:cNvSpPr>
          <p:nvPr/>
        </p:nvSpPr>
        <p:spPr>
          <a:xfrm xmlns:a="http://schemas.openxmlformats.org/drawingml/2006/main">
            <a:off x="695325" y="57054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47D85"/>
                </a:solidFill>
                <a:latin typeface="Malgun Gothic"/>
                <a:ea typeface="Malgun Gothic"/>
                <a:cs typeface="Malgun Gothic"/>
              </a:defRPr>
            </a:defPPr>
          </a:lstStyle>
          <a:p xmlns:a="http://schemas.openxmlformats.org/drawingml/2006/main">
            <a:pPr>
              <a:defRPr sz="2025" b="1">
                <a:solidFill>
                  <a:srgbClr val="147D85"/>
                </a:solidFill>
                <a:latin typeface="Malgun Gothic"/>
                <a:ea typeface="Malgun Gothic"/>
                <a:cs typeface="Malgun Gothic"/>
              </a:defRPr>
            </a:pPr>
            <a:r>
              <a:rPr sz="2025" b="1">
                <a:solidFill>
                  <a:srgbClr val="147D85"/>
                </a:solidFill>
                <a:latin typeface="Malgun Gothic"/>
                <a:ea typeface="Malgun Gothic"/>
                <a:cs typeface="Malgun Gothic"/>
              </a:rPr>
              <a:t>높은 점수만으로 장기 기억 능력이나 보편적 우월성을 증명하지 않음</a:t>
            </a:r>
          </a:p>
        </p:txBody>
      </p:sp>
    </p:spTree>
    <p:extLst>
      <p:ext uri="{BB962C8B-B14F-4D97-AF65-F5344CB8AC3E}">
        <p14:creationId xmlns:p14="http://schemas.microsoft.com/office/powerpoint/2010/main" val="11474408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28D967-16F5-4475-8E4E-DDF170188B0D}"/>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팀에 전달하는 LSTM 결과</a:t>
            </a:r>
          </a:p>
        </p:txBody>
      </p:sp>
      <p:sp>
        <p:nvSpPr>
          <p:cNvPr id="2" name="">
            <a:extLst xmlns:a="http://schemas.openxmlformats.org/drawingml/2006/main">
              <a:ext uri="{FF2B5EF4-FFF2-40B4-BE49-F238E27FC236}">
                <a16:creationId xmlns:a16="http://schemas.microsoft.com/office/drawing/2014/main" id="{E1682DD5-53B5-4759-9C09-BBEDA589A370}"/>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7E4AB4F5-045D-46D7-A3CB-C6A14E22D85A}"/>
              </a:ext>
            </a:extLst>
          </p:cNvPr>
          <p:cNvSpPr>
            <a:spLocks xmlns:a="http://schemas.openxmlformats.org/drawingml/2006/main" noGrp="1"/>
          </p:cNvSpPr>
          <p:nvPr/>
        </p:nvSpPr>
        <p:spPr>
          <a:xfrm xmlns:a="http://schemas.openxmlformats.org/drawingml/2006/main">
            <a:off x="685800" y="215265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47D85"/>
                </a:solidFill>
                <a:latin typeface="Malgun Gothic"/>
                <a:ea typeface="Malgun Gothic"/>
                <a:cs typeface="Malgun Gothic"/>
              </a:defRPr>
            </a:defPPr>
          </a:lstStyle>
          <a:p xmlns:a="http://schemas.openxmlformats.org/drawingml/2006/main">
            <a:pPr>
              <a:defRPr sz="3225" b="1">
                <a:solidFill>
                  <a:srgbClr val="147D85"/>
                </a:solidFill>
                <a:latin typeface="Malgun Gothic"/>
                <a:ea typeface="Malgun Gothic"/>
                <a:cs typeface="Malgun Gothic"/>
              </a:defRPr>
            </a:pPr>
            <a:r>
              <a:rPr sz="3225" b="1">
                <a:solidFill>
                  <a:srgbClr val="147D85"/>
                </a:solidFill>
                <a:latin typeface="Malgun Gothic"/>
                <a:ea typeface="Malgun Gothic"/>
                <a:cs typeface="Malgun Gothic"/>
              </a:rPr>
              <a:t>L01 Macro F1  0.8813 ± 0.0195</a:t>
            </a:r>
          </a:p>
        </p:txBody>
      </p:sp>
      <p:sp>
        <p:nvSpPr>
          <p:cNvPr id="4" name="">
            <a:extLst xmlns:a="http://schemas.openxmlformats.org/drawingml/2006/main">
              <a:ext uri="{FF2B5EF4-FFF2-40B4-BE49-F238E27FC236}">
                <a16:creationId xmlns:a16="http://schemas.microsoft.com/office/drawing/2014/main" id="{28DB6B47-1157-4952-B259-9CAF9E4379D8}"/>
              </a:ext>
            </a:extLst>
          </p:cNvPr>
          <p:cNvSpPr>
            <a:spLocks xmlns:a="http://schemas.openxmlformats.org/drawingml/2006/main" noGrp="1"/>
          </p:cNvSpPr>
          <p:nvPr/>
        </p:nvSpPr>
        <p:spPr>
          <a:xfrm xmlns:a="http://schemas.openxmlformats.org/drawingml/2006/main">
            <a:off x="647700" y="33337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재사용 자료</a:t>
            </a:r>
          </a:p>
        </p:txBody>
      </p:sp>
      <p:sp>
        <p:nvSpPr>
          <p:cNvPr id="5" name="">
            <a:extLst xmlns:a="http://schemas.openxmlformats.org/drawingml/2006/main">
              <a:ext uri="{FF2B5EF4-FFF2-40B4-BE49-F238E27FC236}">
                <a16:creationId xmlns:a16="http://schemas.microsoft.com/office/drawing/2014/main" id="{ED983F20-0150-46A5-95F7-A8C3AA33D778}"/>
              </a:ext>
            </a:extLst>
          </p:cNvPr>
          <p:cNvSpPr>
            <a:spLocks xmlns:a="http://schemas.openxmlformats.org/drawingml/2006/main" noGrp="1"/>
          </p:cNvSpPr>
          <p:nvPr/>
        </p:nvSpPr>
        <p:spPr>
          <a:xfrm xmlns:a="http://schemas.openxmlformats.org/drawingml/2006/main">
            <a:off x="3390900" y="3333750"/>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세 seed 모델·예측·지표·전처리·설정</a:t>
            </a:r>
          </a:p>
        </p:txBody>
      </p:sp>
      <p:sp>
        <p:nvSpPr>
          <p:cNvPr id="6" name="">
            <a:extLst xmlns:a="http://schemas.openxmlformats.org/drawingml/2006/main">
              <a:ext uri="{FF2B5EF4-FFF2-40B4-BE49-F238E27FC236}">
                <a16:creationId xmlns:a16="http://schemas.microsoft.com/office/drawing/2014/main" id="{66D2B5A2-C161-4508-AA5E-DC9770EDAF94}"/>
              </a:ext>
            </a:extLst>
          </p:cNvPr>
          <p:cNvSpPr>
            <a:spLocks xmlns:a="http://schemas.openxmlformats.org/drawingml/2006/main" noGrp="1"/>
          </p:cNvSpPr>
          <p:nvPr/>
        </p:nvSpPr>
        <p:spPr>
          <a:xfrm xmlns:a="http://schemas.openxmlformats.org/drawingml/2006/main">
            <a:off x="647700" y="43338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설명 자료</a:t>
            </a:r>
          </a:p>
        </p:txBody>
      </p:sp>
      <p:sp>
        <p:nvSpPr>
          <p:cNvPr id="7" name="">
            <a:extLst xmlns:a="http://schemas.openxmlformats.org/drawingml/2006/main">
              <a:ext uri="{FF2B5EF4-FFF2-40B4-BE49-F238E27FC236}">
                <a16:creationId xmlns:a16="http://schemas.microsoft.com/office/drawing/2014/main" id="{C0B0A16A-FC0C-4DF9-AC9B-5C864FF1F67A}"/>
              </a:ext>
            </a:extLst>
          </p:cNvPr>
          <p:cNvSpPr>
            <a:spLocks xmlns:a="http://schemas.openxmlformats.org/drawingml/2006/main" noGrp="1"/>
          </p:cNvSpPr>
          <p:nvPr/>
        </p:nvSpPr>
        <p:spPr>
          <a:xfrm xmlns:a="http://schemas.openxmlformats.org/drawingml/2006/main">
            <a:off x="3390900" y="4333875"/>
            <a:ext cx="80295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개인 원고·상세 보고서·실험 과정·질의응답</a:t>
            </a:r>
          </a:p>
        </p:txBody>
      </p:sp>
      <p:sp>
        <p:nvSpPr>
          <p:cNvPr id="8" name="">
            <a:extLst xmlns:a="http://schemas.openxmlformats.org/drawingml/2006/main">
              <a:ext uri="{FF2B5EF4-FFF2-40B4-BE49-F238E27FC236}">
                <a16:creationId xmlns:a16="http://schemas.microsoft.com/office/drawing/2014/main" id="{850CF7B7-8DA1-4A7C-88C9-322E74BC88E8}"/>
              </a:ext>
            </a:extLst>
          </p:cNvPr>
          <p:cNvSpPr>
            <a:spLocks xmlns:a="http://schemas.openxmlformats.org/drawingml/2006/main" noGrp="1"/>
          </p:cNvSpPr>
          <p:nvPr/>
        </p:nvSpPr>
        <p:spPr>
          <a:xfrm xmlns:a="http://schemas.openxmlformats.org/drawingml/2006/main">
            <a:off x="695325" y="57435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전원이 같은 조건과 실제 수치를 확인한 뒤 공동 논문으로 취합</a:t>
            </a:r>
          </a:p>
        </p:txBody>
      </p:sp>
    </p:spTree>
    <p:extLst>
      <p:ext uri="{BB962C8B-B14F-4D97-AF65-F5344CB8AC3E}">
        <p14:creationId xmlns:p14="http://schemas.microsoft.com/office/powerpoint/2010/main" val="4416629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C1715E-E349-49E0-A384-497EF4E2DDF1}"/>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시간축 역전파의 검산</a:t>
            </a:r>
          </a:p>
        </p:txBody>
      </p:sp>
      <p:sp>
        <p:nvSpPr>
          <p:cNvPr id="2" name="">
            <a:extLst xmlns:a="http://schemas.openxmlformats.org/drawingml/2006/main">
              <a:ext uri="{FF2B5EF4-FFF2-40B4-BE49-F238E27FC236}">
                <a16:creationId xmlns:a16="http://schemas.microsoft.com/office/drawing/2014/main" id="{9C7BBC40-075B-47DA-92B1-74C22529FD48}"/>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1  망각 게이트의 연쇄법칙</a:t>
            </a:r>
          </a:p>
        </p:txBody>
      </p:sp>
      <p:sp>
        <p:nvSpPr>
          <p:cNvPr id="3" name="">
            <a:extLst xmlns:a="http://schemas.openxmlformats.org/drawingml/2006/main">
              <a:ext uri="{FF2B5EF4-FFF2-40B4-BE49-F238E27FC236}">
                <a16:creationId xmlns:a16="http://schemas.microsoft.com/office/drawing/2014/main" id="{C411A04D-7FC3-4F78-B375-6351D3930A4C}"/>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34CE3F96-7567-43AE-8AD1-457CD451B5FC}"/>
              </a:ext>
            </a:extLst>
          </p:cNvPr>
          <p:cNvSpPr>
            <a:spLocks xmlns:a="http://schemas.openxmlformats.org/drawingml/2006/main" noGrp="1"/>
          </p:cNvSpPr>
          <p:nvPr/>
        </p:nvSpPr>
        <p:spPr>
          <a:xfrm xmlns:a="http://schemas.openxmlformats.org/drawingml/2006/main">
            <a:off x="723900" y="2247900"/>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75" b="1">
                <a:solidFill>
                  <a:srgbClr val="147D85"/>
                </a:solidFill>
                <a:latin typeface="Malgun Gothic"/>
                <a:ea typeface="Malgun Gothic"/>
                <a:cs typeface="Malgun Gothic"/>
              </a:defRPr>
            </a:defPPr>
          </a:lstStyle>
          <a:p xmlns:a="http://schemas.openxmlformats.org/drawingml/2006/main">
            <a:pPr>
              <a:defRPr sz="2775" b="1">
                <a:solidFill>
                  <a:srgbClr val="147D85"/>
                </a:solidFill>
                <a:latin typeface="Malgun Gothic"/>
                <a:ea typeface="Malgun Gothic"/>
                <a:cs typeface="Malgun Gothic"/>
              </a:defRPr>
            </a:pPr>
            <a:r>
              <a:rPr sz="2775" b="1">
                <a:solidFill>
                  <a:srgbClr val="147D85"/>
                </a:solidFill>
                <a:latin typeface="Malgun Gothic"/>
                <a:ea typeface="Malgun Gothic"/>
                <a:cs typeface="Malgun Gothic"/>
              </a:rPr>
              <a:t>dcₜ += dhₜ ⊙ oₜ ⊙ (1 − tanh²(cₜ))</a:t>
            </a:r>
          </a:p>
        </p:txBody>
      </p:sp>
      <p:sp>
        <p:nvSpPr>
          <p:cNvPr id="5" name="">
            <a:extLst xmlns:a="http://schemas.openxmlformats.org/drawingml/2006/main">
              <a:ext uri="{FF2B5EF4-FFF2-40B4-BE49-F238E27FC236}">
                <a16:creationId xmlns:a16="http://schemas.microsoft.com/office/drawing/2014/main" id="{2460C65C-EFE5-4AF9-9043-750CF80201C1}"/>
              </a:ext>
            </a:extLst>
          </p:cNvPr>
          <p:cNvSpPr>
            <a:spLocks xmlns:a="http://schemas.openxmlformats.org/drawingml/2006/main" noGrp="1"/>
          </p:cNvSpPr>
          <p:nvPr/>
        </p:nvSpPr>
        <p:spPr>
          <a:xfrm xmlns:a="http://schemas.openxmlformats.org/drawingml/2006/main">
            <a:off x="723900" y="327660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17364A"/>
                </a:solidFill>
                <a:latin typeface="Malgun Gothic"/>
                <a:ea typeface="Malgun Gothic"/>
                <a:cs typeface="Malgun Gothic"/>
              </a:defRPr>
            </a:defPPr>
          </a:lstStyle>
          <a:p xmlns:a="http://schemas.openxmlformats.org/drawingml/2006/main">
            <a:pPr>
              <a:defRPr sz="2700" b="0">
                <a:solidFill>
                  <a:srgbClr val="17364A"/>
                </a:solidFill>
                <a:latin typeface="Malgun Gothic"/>
                <a:ea typeface="Malgun Gothic"/>
                <a:cs typeface="Malgun Gothic"/>
              </a:defRPr>
            </a:pPr>
            <a:r>
              <a:rPr sz="2700" b="0">
                <a:solidFill>
                  <a:srgbClr val="17364A"/>
                </a:solidFill>
                <a:latin typeface="Malgun Gothic"/>
                <a:ea typeface="Malgun Gothic"/>
                <a:cs typeface="Malgun Gothic"/>
              </a:rPr>
              <a:t>dzfₜ = (dcₜ ⊙ cₜ₋₁) ⊙ fₜ ⊙ (1 − fₜ)</a:t>
            </a:r>
          </a:p>
        </p:txBody>
      </p:sp>
      <p:sp>
        <p:nvSpPr>
          <p:cNvPr id="6" name="">
            <a:extLst xmlns:a="http://schemas.openxmlformats.org/drawingml/2006/main">
              <a:ext uri="{FF2B5EF4-FFF2-40B4-BE49-F238E27FC236}">
                <a16:creationId xmlns:a16="http://schemas.microsoft.com/office/drawing/2014/main" id="{C2CB78C8-8878-4387-AD86-7F3F3473B1DD}"/>
              </a:ext>
            </a:extLst>
          </p:cNvPr>
          <p:cNvSpPr>
            <a:spLocks xmlns:a="http://schemas.openxmlformats.org/drawingml/2006/main" noGrp="1"/>
          </p:cNvSpPr>
          <p:nvPr/>
        </p:nvSpPr>
        <p:spPr>
          <a:xfrm xmlns:a="http://schemas.openxmlformats.org/drawingml/2006/main">
            <a:off x="723900" y="43243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17364A"/>
                </a:solidFill>
                <a:latin typeface="Malgun Gothic"/>
                <a:ea typeface="Malgun Gothic"/>
                <a:cs typeface="Malgun Gothic"/>
              </a:defRPr>
            </a:defPPr>
          </a:lstStyle>
          <a:p xmlns:a="http://schemas.openxmlformats.org/drawingml/2006/main">
            <a:pPr>
              <a:defRPr sz="2850" b="0">
                <a:solidFill>
                  <a:srgbClr val="17364A"/>
                </a:solidFill>
                <a:latin typeface="Malgun Gothic"/>
                <a:ea typeface="Malgun Gothic"/>
                <a:cs typeface="Malgun Gothic"/>
              </a:defRPr>
            </a:pPr>
            <a:r>
              <a:rPr sz="2850" b="0">
                <a:solidFill>
                  <a:srgbClr val="17364A"/>
                </a:solidFill>
                <a:latin typeface="Malgun Gothic"/>
                <a:ea typeface="Malgun Gothic"/>
                <a:cs typeface="Malgun Gothic"/>
              </a:rPr>
              <a:t>dcₜ₋₁ = dcₜ ⊙ fₜ</a:t>
            </a:r>
          </a:p>
        </p:txBody>
      </p:sp>
      <p:sp>
        <p:nvSpPr>
          <p:cNvPr id="7" name="">
            <a:extLst xmlns:a="http://schemas.openxmlformats.org/drawingml/2006/main">
              <a:ext uri="{FF2B5EF4-FFF2-40B4-BE49-F238E27FC236}">
                <a16:creationId xmlns:a16="http://schemas.microsoft.com/office/drawing/2014/main" id="{CDADF331-AC39-458E-AF4B-DE43D732C81B}"/>
              </a:ext>
            </a:extLst>
          </p:cNvPr>
          <p:cNvSpPr>
            <a:spLocks xmlns:a="http://schemas.openxmlformats.org/drawingml/2006/main" noGrp="1"/>
          </p:cNvSpPr>
          <p:nvPr/>
        </p:nvSpPr>
        <p:spPr>
          <a:xfrm xmlns:a="http://schemas.openxmlformats.org/drawingml/2006/main">
            <a:off x="733425" y="56292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64A"/>
                </a:solidFill>
                <a:latin typeface="Malgun Gothic"/>
                <a:ea typeface="Malgun Gothic"/>
                <a:cs typeface="Malgun Gothic"/>
              </a:defRPr>
            </a:defPPr>
          </a:lstStyle>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중앙차분 최대 차이 2.48e-10</a:t>
            </a:r>
          </a:p>
        </p:txBody>
      </p:sp>
    </p:spTree>
    <p:extLst>
      <p:ext uri="{BB962C8B-B14F-4D97-AF65-F5344CB8AC3E}">
        <p14:creationId xmlns:p14="http://schemas.microsoft.com/office/powerpoint/2010/main" val="5537628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4AC19F-A77E-42AF-AF7F-014C9E5311BA}"/>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9회 결과 전체</a:t>
            </a:r>
          </a:p>
        </p:txBody>
      </p:sp>
      <p:sp>
        <p:nvSpPr>
          <p:cNvPr id="2" name="">
            <a:extLst xmlns:a="http://schemas.openxmlformats.org/drawingml/2006/main">
              <a:ext uri="{FF2B5EF4-FFF2-40B4-BE49-F238E27FC236}">
                <a16:creationId xmlns:a16="http://schemas.microsoft.com/office/drawing/2014/main" id="{0C5C790C-564B-4476-A836-A9C875DDA285}"/>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2  결과를 선택적으로 생략하지 않기</a:t>
            </a:r>
          </a:p>
        </p:txBody>
      </p:sp>
      <p:sp>
        <p:nvSpPr>
          <p:cNvPr id="3" name="">
            <a:extLst xmlns:a="http://schemas.openxmlformats.org/drawingml/2006/main">
              <a:ext uri="{FF2B5EF4-FFF2-40B4-BE49-F238E27FC236}">
                <a16:creationId xmlns:a16="http://schemas.microsoft.com/office/drawing/2014/main" id="{A3CA0ED0-8653-4C05-9C48-F3A0C39F9C75}"/>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17</a:t>
            </a:r>
          </a:p>
        </p:txBody>
      </p:sp>
      <p:graphicFrame>
        <p:nvGraphicFramePr>
          <p:cNvPr id="4" name="">
            <a:extLst xmlns:a="http://schemas.openxmlformats.org/drawingml/2006/main">
              <a:ext uri="{FF2B5EF4-FFF2-40B4-BE49-F238E27FC236}">
                <a16:creationId xmlns:a16="http://schemas.microsoft.com/office/drawing/2014/main" id="{CD7E0932-80B5-40D8-96C8-4698FCF0C94B}"/>
              </a:ext>
            </a:extLst>
          </p:cNvPr>
          <p:cNvGraphicFramePr/>
          <p:nvPr/>
        </p:nvGraphicFramePr>
        <p:xfrm>
          <a:off xmlns:a="http://schemas.openxmlformats.org/drawingml/2006/main" x="638175" y="2019300"/>
          <a:ext xmlns:a="http://schemas.openxmlformats.org/drawingml/2006/main" cx="10906125" cy="4048125"/>
        </p:xfrm>
        <a:graphic xmlns:a="http://schemas.openxmlformats.org/drawingml/2006/main">
          <a:graphicData uri="http://schemas.openxmlformats.org/drawingml/2006/table">
            <a:tbl>
              <a:tblPr/>
              <a:tblGrid>
                <a:gridCol w="1619250"/>
                <a:gridCol w="1762125"/>
                <a:gridCol w="2428875"/>
                <a:gridCol w="2428875"/>
                <a:gridCol w="2667000"/>
              </a:tblGrid>
              <a:tr h="404813">
                <a:tc>
                  <a:txBody>
                    <a:bodyPr/>
                    <a:lstStyle/>
                    <a:p>
                      <a:r>
                        <a:rPr sz="1800" b="1">
                          <a:solidFill>
                            <a:srgbClr val="FFFFFF"/>
                          </a:solidFill>
                          <a:latin typeface="Malgun Gothic"/>
                          <a:ea typeface="Malgun Gothic"/>
                          <a:cs typeface="Malgun Gothic"/>
                        </a:rPr>
                        <a:t>조건</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seed</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Accuracy</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Macro F1</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최선/실행</a:t>
                      </a:r>
                    </a:p>
                  </a:txBody>
                  <a:tcPr marL="91440" marR="91440" marT="45720" marB="45720">
                    <a:solidFill>
                      <a:srgbClr val="17364A"/>
                    </a:solidFill>
                  </a:tcPr>
                </a:tc>
              </a:tr>
              <a:tr h="404813">
                <a:tc>
                  <a:txBody>
                    <a:bodyPr/>
                    <a:lstStyle/>
                    <a:p>
                      <a:r>
                        <a:rPr sz="1800" b="0">
                          <a:solidFill>
                            <a:srgbClr val="17364A"/>
                          </a:solidFill>
                          <a:latin typeface="Malgun Gothic"/>
                          <a:ea typeface="Malgun Gothic"/>
                          <a:cs typeface="Malgun Gothic"/>
                        </a:rPr>
                        <a:t>L01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0.8614</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0.8590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4/10</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L01</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0.8986</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0.8952</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3/9</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0.8896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0.8896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6/12</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L02</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2026</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0.8845</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0.8844</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8/14</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2027</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0.9070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0.9083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10/16</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L02</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2028</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0.8817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0.8807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4/10</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0.8665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0.8643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6/12</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L03</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0.8879</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0.8883</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6/12</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0.8152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0.8125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7/13</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135220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E8780A-17A5-4576-8A8D-F82433268540}"/>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같은 seed에서의 조건 차이</a:t>
            </a:r>
          </a:p>
        </p:txBody>
      </p:sp>
      <p:sp>
        <p:nvSpPr>
          <p:cNvPr id="2" name="">
            <a:extLst xmlns:a="http://schemas.openxmlformats.org/drawingml/2006/main">
              <a:ext uri="{FF2B5EF4-FFF2-40B4-BE49-F238E27FC236}">
                <a16:creationId xmlns:a16="http://schemas.microsoft.com/office/drawing/2014/main" id="{A48F19D7-2768-40A5-B77C-0424E43254DC}"/>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3  L01 대비 Macro F1 percentage points</a:t>
            </a:r>
          </a:p>
        </p:txBody>
      </p:sp>
      <p:sp>
        <p:nvSpPr>
          <p:cNvPr id="3" name="">
            <a:extLst xmlns:a="http://schemas.openxmlformats.org/drawingml/2006/main">
              <a:ext uri="{FF2B5EF4-FFF2-40B4-BE49-F238E27FC236}">
                <a16:creationId xmlns:a16="http://schemas.microsoft.com/office/drawing/2014/main" id="{E44662B7-01AD-48ED-9C4E-CFF5E76766EB}"/>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18</a:t>
            </a:r>
          </a:p>
        </p:txBody>
      </p:sp>
      <p:graphicFrame>
        <p:nvGraphicFramePr>
          <p:cNvPr id="4" name="">
            <a:extLst xmlns:a="http://schemas.openxmlformats.org/drawingml/2006/main">
              <a:ext uri="{FF2B5EF4-FFF2-40B4-BE49-F238E27FC236}">
                <a16:creationId xmlns:a16="http://schemas.microsoft.com/office/drawing/2014/main" id="{B89DC326-DA4D-4217-BBC8-0107BCF18036}"/>
              </a:ext>
            </a:extLst>
          </p:cNvPr>
          <p:cNvGraphicFramePr/>
          <p:nvPr/>
        </p:nvGraphicFramePr>
        <p:xfrm>
          <a:off xmlns:a="http://schemas.openxmlformats.org/drawingml/2006/main" x="638175" y="2124075"/>
          <a:ext xmlns:a="http://schemas.openxmlformats.org/drawingml/2006/main" cx="10906125" cy="3390900"/>
        </p:xfrm>
        <a:graphic xmlns:a="http://schemas.openxmlformats.org/drawingml/2006/main">
          <a:graphicData uri="http://schemas.openxmlformats.org/drawingml/2006/table">
            <a:tbl>
              <a:tblPr/>
              <a:tblGrid>
                <a:gridCol w="4333875"/>
                <a:gridCol w="2381250"/>
                <a:gridCol w="4191000"/>
              </a:tblGrid>
              <a:tr h="484414">
                <a:tc>
                  <a:txBody>
                    <a:bodyPr/>
                    <a:lstStyle/>
                    <a:p>
                      <a:r>
                        <a:rPr sz="2025" b="1">
                          <a:solidFill>
                            <a:srgbClr val="FFFFFF"/>
                          </a:solidFill>
                          <a:latin typeface="Malgun Gothic"/>
                          <a:ea typeface="Malgun Gothic"/>
                          <a:cs typeface="Malgun Gothic"/>
                        </a:rPr>
                        <a:t>비교</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seed</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F1 차이</a:t>
                      </a:r>
                    </a:p>
                  </a:txBody>
                  <a:tcPr marL="91440" marR="91440" marT="45720" marB="45720">
                    <a:solidFill>
                      <a:srgbClr val="17364A"/>
                    </a:solidFill>
                  </a:tcPr>
                </a:tc>
              </a:tr>
              <a:tr h="484414">
                <a:tc>
                  <a:txBody>
                    <a:bodyPr/>
                    <a:lstStyle/>
                    <a:p>
                      <a:r>
                        <a:rPr sz="2025" b="0">
                          <a:solidFill>
                            <a:srgbClr val="17364A"/>
                          </a:solidFill>
                          <a:latin typeface="Malgun Gothic"/>
                          <a:ea typeface="Malgun Gothic"/>
                          <a:cs typeface="Malgun Gothic"/>
                        </a:rPr>
                        <a:t>L02 − L01</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2.54</a:t>
                      </a:r>
                    </a:p>
                  </a:txBody>
                  <a:tcPr marL="91440" marR="91440" marT="45720" marB="45720">
                    <a:solidFill>
                      <a:srgbClr val="FFFFFF"/>
                    </a:solidFill>
                  </a:tcPr>
                </a:tc>
              </a:tr>
              <a:tr h="484414">
                <a:tc>
                  <a:txBody>
                    <a:bodyPr/>
                    <a:lstStyle/>
                    <a:p>
                      <a:r>
                        <a:rPr sz="2025" b="0">
                          <a:solidFill>
                            <a:srgbClr val="17364A"/>
                          </a:solidFill>
                          <a:latin typeface="Malgun Gothic"/>
                          <a:ea typeface="Malgun Gothic"/>
                          <a:cs typeface="Malgun Gothic"/>
                        </a:rPr>
                        <a:t>L02 − L01</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2027</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1.30</a:t>
                      </a:r>
                    </a:p>
                  </a:txBody>
                  <a:tcPr marL="91440" marR="91440" marT="45720" marB="45720">
                    <a:solidFill>
                      <a:srgbClr val="F1F5F7"/>
                    </a:solidFill>
                  </a:tcPr>
                </a:tc>
              </a:tr>
              <a:tr h="484414">
                <a:tc>
                  <a:txBody>
                    <a:bodyPr/>
                    <a:lstStyle/>
                    <a:p>
                      <a:r>
                        <a:rPr sz="2025" b="0">
                          <a:solidFill>
                            <a:srgbClr val="17364A"/>
                          </a:solidFill>
                          <a:latin typeface="Malgun Gothic"/>
                          <a:ea typeface="Malgun Gothic"/>
                          <a:cs typeface="Malgun Gothic"/>
                        </a:rPr>
                        <a:t>L02 − L01</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-0.89</a:t>
                      </a:r>
                    </a:p>
                  </a:txBody>
                  <a:tcPr marL="91440" marR="91440" marT="45720" marB="45720">
                    <a:solidFill>
                      <a:srgbClr val="FFFFFF"/>
                    </a:solidFill>
                  </a:tcPr>
                </a:tc>
              </a:tr>
              <a:tr h="484414">
                <a:tc>
                  <a:txBody>
                    <a:bodyPr/>
                    <a:lstStyle/>
                    <a:p>
                      <a:r>
                        <a:rPr sz="2025" b="0">
                          <a:solidFill>
                            <a:srgbClr val="17364A"/>
                          </a:solidFill>
                          <a:latin typeface="Malgun Gothic"/>
                          <a:ea typeface="Malgun Gothic"/>
                          <a:cs typeface="Malgun Gothic"/>
                        </a:rPr>
                        <a:t>L03 − L01</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2026</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0.53</a:t>
                      </a:r>
                    </a:p>
                  </a:txBody>
                  <a:tcPr marL="91440" marR="91440" marT="45720" marB="45720">
                    <a:solidFill>
                      <a:srgbClr val="F1F5F7"/>
                    </a:solidFill>
                  </a:tcPr>
                </a:tc>
              </a:tr>
              <a:tr h="484414">
                <a:tc>
                  <a:txBody>
                    <a:bodyPr/>
                    <a:lstStyle/>
                    <a:p>
                      <a:r>
                        <a:rPr sz="2025" b="0">
                          <a:solidFill>
                            <a:srgbClr val="17364A"/>
                          </a:solidFill>
                          <a:latin typeface="Malgun Gothic"/>
                          <a:ea typeface="Malgun Gothic"/>
                          <a:cs typeface="Malgun Gothic"/>
                        </a:rPr>
                        <a:t>L03 − L01</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2027</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-0.69</a:t>
                      </a:r>
                    </a:p>
                  </a:txBody>
                  <a:tcPr marL="91440" marR="91440" marT="45720" marB="45720">
                    <a:solidFill>
                      <a:srgbClr val="FFFFFF"/>
                    </a:solidFill>
                  </a:tcPr>
                </a:tc>
              </a:tr>
              <a:tr h="484414">
                <a:tc>
                  <a:txBody>
                    <a:bodyPr/>
                    <a:lstStyle/>
                    <a:p>
                      <a:r>
                        <a:rPr sz="2025" b="0">
                          <a:solidFill>
                            <a:srgbClr val="17364A"/>
                          </a:solidFill>
                          <a:latin typeface="Malgun Gothic"/>
                          <a:ea typeface="Malgun Gothic"/>
                          <a:cs typeface="Malgun Gothic"/>
                        </a:rPr>
                        <a:t>L03 − L01</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2028</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-7.71</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23D4FE3C-CE01-4120-BEAB-DA883B49CC14}"/>
              </a:ext>
            </a:extLst>
          </p:cNvPr>
          <p:cNvSpPr>
            <a:spLocks xmlns:a="http://schemas.openxmlformats.org/drawingml/2006/main" noGrp="1"/>
          </p:cNvSpPr>
          <p:nvPr/>
        </p:nvSpPr>
        <p:spPr>
          <a:xfrm xmlns:a="http://schemas.openxmlformats.org/drawingml/2006/main">
            <a:off x="714375" y="58864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364A"/>
                </a:solidFill>
                <a:latin typeface="Malgun Gothic"/>
                <a:ea typeface="Malgun Gothic"/>
                <a:cs typeface="Malgun Gothic"/>
              </a:defRPr>
            </a:defPPr>
          </a:lstStyle>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세 번의 차이를 모집단 유의성 검정으로 확대하지 않음</a:t>
            </a:r>
          </a:p>
        </p:txBody>
      </p:sp>
    </p:spTree>
    <p:extLst>
      <p:ext uri="{BB962C8B-B14F-4D97-AF65-F5344CB8AC3E}">
        <p14:creationId xmlns:p14="http://schemas.microsoft.com/office/powerpoint/2010/main" val="15301414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680203-7B0B-4D0F-9DE1-0828C99B9EDD}"/>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입력 연결에서 실제로 확인한 차이</a:t>
            </a:r>
          </a:p>
        </p:txBody>
      </p:sp>
      <p:sp>
        <p:nvSpPr>
          <p:cNvPr id="2" name="">
            <a:extLst xmlns:a="http://schemas.openxmlformats.org/drawingml/2006/main">
              <a:ext uri="{FF2B5EF4-FFF2-40B4-BE49-F238E27FC236}">
                <a16:creationId xmlns:a16="http://schemas.microsoft.com/office/drawing/2014/main" id="{F45CA83D-9B43-4491-8BAC-B8CAF6E974DD}"/>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4  데이터 담당자의 완료 결과를 정확히 사용</a:t>
            </a:r>
          </a:p>
        </p:txBody>
      </p:sp>
      <p:sp>
        <p:nvSpPr>
          <p:cNvPr id="3" name="">
            <a:extLst xmlns:a="http://schemas.openxmlformats.org/drawingml/2006/main">
              <a:ext uri="{FF2B5EF4-FFF2-40B4-BE49-F238E27FC236}">
                <a16:creationId xmlns:a16="http://schemas.microsoft.com/office/drawing/2014/main" id="{87A27FCA-CA93-4C00-B205-8A42C8139C15}"/>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19</a:t>
            </a:r>
          </a:p>
        </p:txBody>
      </p:sp>
      <p:graphicFrame>
        <p:nvGraphicFramePr>
          <p:cNvPr id="4" name="">
            <a:extLst xmlns:a="http://schemas.openxmlformats.org/drawingml/2006/main">
              <a:ext uri="{FF2B5EF4-FFF2-40B4-BE49-F238E27FC236}">
                <a16:creationId xmlns:a16="http://schemas.microsoft.com/office/drawing/2014/main" id="{08EDEB46-1A7D-49D8-982D-7E8054A4A259}"/>
              </a:ext>
            </a:extLst>
          </p:cNvPr>
          <p:cNvGraphicFramePr/>
          <p:nvPr/>
        </p:nvGraphicFramePr>
        <p:xfrm>
          <a:off xmlns:a="http://schemas.openxmlformats.org/drawingml/2006/main" x="638175" y="2238375"/>
          <a:ext xmlns:a="http://schemas.openxmlformats.org/drawingml/2006/main" cx="10906125" cy="3162300"/>
        </p:xfrm>
        <a:graphic xmlns:a="http://schemas.openxmlformats.org/drawingml/2006/main">
          <a:graphicData uri="http://schemas.openxmlformats.org/drawingml/2006/table">
            <a:tbl>
              <a:tblPr/>
              <a:tblGrid>
                <a:gridCol w="2381250"/>
                <a:gridCol w="4476750"/>
                <a:gridCol w="4048125"/>
              </a:tblGrid>
              <a:tr h="632460">
                <a:tc>
                  <a:txBody>
                    <a:bodyPr/>
                    <a:lstStyle/>
                    <a:p>
                      <a:r>
                        <a:rPr sz="1800" b="1">
                          <a:solidFill>
                            <a:srgbClr val="FFFFFF"/>
                          </a:solidFill>
                          <a:latin typeface="Malgun Gothic"/>
                          <a:ea typeface="Malgun Gothic"/>
                          <a:cs typeface="Malgun Gothic"/>
                        </a:rPr>
                        <a:t>항목</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관찰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대응</a:t>
                      </a:r>
                    </a:p>
                  </a:txBody>
                  <a:tcPr marL="91440" marR="91440" marT="45720" marB="45720">
                    <a:solidFill>
                      <a:srgbClr val="17364A"/>
                    </a:solidFill>
                  </a:tcPr>
                </a:tc>
              </a:tr>
              <a:tr h="632460">
                <a:tc>
                  <a:txBody>
                    <a:bodyPr/>
                    <a:lstStyle/>
                    <a:p>
                      <a:r>
                        <a:rPr sz="1800" b="0">
                          <a:solidFill>
                            <a:srgbClr val="17364A"/>
                          </a:solidFill>
                          <a:latin typeface="Malgun Gothic"/>
                          <a:ea typeface="Malgun Gothic"/>
                          <a:cs typeface="Malgun Gothic"/>
                        </a:rPr>
                        <a:t>표본 ID</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기존 1 기반, 캐시 0 기반</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원본 행 대조와 metadata</a:t>
                      </a:r>
                    </a:p>
                  </a:txBody>
                  <a:tcPr marL="91440" marR="91440" marT="45720" marB="45720">
                    <a:solidFill>
                      <a:srgbClr val="FFFFFF"/>
                    </a:solidFill>
                  </a:tcPr>
                </a:tc>
              </a:tr>
              <a:tr h="632460">
                <a:tc>
                  <a:txBody>
                    <a:bodyPr/>
                    <a:lstStyle/>
                    <a:p>
                      <a:r>
                        <a:rPr sz="1800" b="0">
                          <a:solidFill>
                            <a:srgbClr val="17364A"/>
                          </a:solidFill>
                          <a:latin typeface="Malgun Gothic"/>
                          <a:ea typeface="Malgun Gothic"/>
                          <a:cs typeface="Malgun Gothic"/>
                        </a:rPr>
                        <a:t>저장 형식</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키와 schema가 다름</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전용 로더와 기존 호환</a:t>
                      </a:r>
                    </a:p>
                  </a:txBody>
                  <a:tcPr marL="91440" marR="91440" marT="45720" marB="45720">
                    <a:solidFill>
                      <a:srgbClr val="F1F5F7"/>
                    </a:solidFill>
                  </a:tcPr>
                </a:tc>
              </a:tr>
              <a:tr h="632460">
                <a:tc>
                  <a:txBody>
                    <a:bodyPr/>
                    <a:lstStyle/>
                    <a:p>
                      <a:r>
                        <a:rPr sz="1800" b="0">
                          <a:solidFill>
                            <a:srgbClr val="17364A"/>
                          </a:solidFill>
                          <a:latin typeface="Malgun Gothic"/>
                          <a:ea typeface="Malgun Gothic"/>
                          <a:cs typeface="Malgun Gothic"/>
                        </a:rPr>
                        <a:t>수치 정밀도</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최대 입력 차이 0.006851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팀 float32 연산 유지</a:t>
                      </a:r>
                    </a:p>
                  </a:txBody>
                  <a:tcPr marL="91440" marR="91440" marT="45720" marB="45720">
                    <a:solidFill>
                      <a:srgbClr val="FFFFFF"/>
                    </a:solidFill>
                  </a:tcPr>
                </a:tc>
              </a:tr>
              <a:tr h="632460">
                <a:tc>
                  <a:txBody>
                    <a:bodyPr/>
                    <a:lstStyle/>
                    <a:p>
                      <a:r>
                        <a:rPr sz="1800" b="0">
                          <a:solidFill>
                            <a:srgbClr val="17364A"/>
                          </a:solidFill>
                          <a:latin typeface="Malgun Gothic"/>
                          <a:ea typeface="Malgun Gothic"/>
                          <a:cs typeface="Malgun Gothic"/>
                        </a:rPr>
                        <a:t>중복 표준화</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최대 입력 차이 109.333</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입력 상태 명시, 한 번 적용</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2EBF01A4-03C8-4133-A058-DB28B122F279}"/>
              </a:ext>
            </a:extLst>
          </p:cNvPr>
          <p:cNvSpPr>
            <a:spLocks xmlns:a="http://schemas.openxmlformats.org/drawingml/2006/main" noGrp="1"/>
          </p:cNvSpPr>
          <p:nvPr/>
        </p:nvSpPr>
        <p:spPr>
          <a:xfrm xmlns:a="http://schemas.openxmlformats.org/drawingml/2006/main">
            <a:off x="685800" y="58197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64A"/>
                </a:solidFill>
                <a:latin typeface="Malgun Gothic"/>
                <a:ea typeface="Malgun Gothic"/>
                <a:cs typeface="Malgun Gothic"/>
              </a:defRPr>
            </a:defPPr>
          </a:lstStyle>
          <a:p xmlns:a="http://schemas.openxmlformats.org/drawingml/2006/main">
            <a:pPr>
              <a:defRPr sz="1950" b="0">
                <a:solidFill>
                  <a:srgbClr val="17364A"/>
                </a:solidFill>
                <a:latin typeface="Malgun Gothic"/>
                <a:ea typeface="Malgun Gothic"/>
                <a:cs typeface="Malgun Gothic"/>
              </a:defRPr>
            </a:pPr>
            <a:r>
              <a:rPr sz="1950" b="0">
                <a:solidFill>
                  <a:srgbClr val="17364A"/>
                </a:solidFill>
                <a:latin typeface="Malgun Gothic"/>
                <a:ea typeface="Malgun Gothic"/>
                <a:cs typeface="Malgun Gothic"/>
              </a:rPr>
              <a:t>입력 수치 차이를 측정한 결과  성능 손실을 측정한 것은 아님</a:t>
            </a:r>
          </a:p>
        </p:txBody>
      </p:sp>
    </p:spTree>
    <p:extLst>
      <p:ext uri="{BB962C8B-B14F-4D97-AF65-F5344CB8AC3E}">
        <p14:creationId xmlns:p14="http://schemas.microsoft.com/office/powerpoint/2010/main" val="10221895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FB453C-91F5-4BFE-A1F3-7F75834E3578}"/>
              </a:ext>
            </a:extLst>
          </p:cNvPr>
          <p:cNvSpPr>
            <a:spLocks xmlns:a="http://schemas.openxmlformats.org/drawingml/2006/main" noGrp="1"/>
          </p:cNvSpPr>
          <p:nvPr/>
        </p:nvSpPr>
        <p:spPr>
          <a:xfrm xmlns:a="http://schemas.openxmlformats.org/drawingml/2006/main">
            <a:off x="609600" y="5238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64A"/>
                </a:solidFill>
                <a:latin typeface="Malgun Gothic"/>
                <a:ea typeface="Malgun Gothic"/>
                <a:cs typeface="Malgun Gothic"/>
              </a:defRPr>
            </a:defPPr>
          </a:lstStyle>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예상 질문과 답변의 근거</a:t>
            </a:r>
          </a:p>
        </p:txBody>
      </p:sp>
      <p:sp>
        <p:nvSpPr>
          <p:cNvPr id="2" name="">
            <a:extLst xmlns:a="http://schemas.openxmlformats.org/drawingml/2006/main">
              <a:ext uri="{FF2B5EF4-FFF2-40B4-BE49-F238E27FC236}">
                <a16:creationId xmlns:a16="http://schemas.microsoft.com/office/drawing/2014/main" id="{EBFA2C89-68F5-44CD-8EE1-DA446CBDF6CD}"/>
              </a:ext>
            </a:extLst>
          </p:cNvPr>
          <p:cNvSpPr>
            <a:spLocks xmlns:a="http://schemas.openxmlformats.org/drawingml/2006/main" noGrp="1"/>
          </p:cNvSpPr>
          <p:nvPr/>
        </p:nvSpPr>
        <p:spPr>
          <a:xfrm xmlns:a="http://schemas.openxmlformats.org/drawingml/2006/main">
            <a:off x="647700" y="143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5</a:t>
            </a:r>
          </a:p>
        </p:txBody>
      </p:sp>
      <p:sp>
        <p:nvSpPr>
          <p:cNvPr id="3" name="">
            <a:extLst xmlns:a="http://schemas.openxmlformats.org/drawingml/2006/main">
              <a:ext uri="{FF2B5EF4-FFF2-40B4-BE49-F238E27FC236}">
                <a16:creationId xmlns:a16="http://schemas.microsoft.com/office/drawing/2014/main" id="{F20545A8-CF40-477A-9E73-E094C93CA883}"/>
              </a:ext>
            </a:extLst>
          </p:cNvPr>
          <p:cNvSpPr>
            <a:spLocks xmlns:a="http://schemas.openxmlformats.org/drawingml/2006/main" noGrp="1"/>
          </p:cNvSpPr>
          <p:nvPr/>
        </p:nvSpPr>
        <p:spPr>
          <a:xfrm xmlns:a="http://schemas.openxmlformats.org/drawingml/2006/main">
            <a:off x="111918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20</a:t>
            </a:r>
          </a:p>
        </p:txBody>
      </p:sp>
      <p:graphicFrame>
        <p:nvGraphicFramePr>
          <p:cNvPr id="4" name="">
            <a:extLst xmlns:a="http://schemas.openxmlformats.org/drawingml/2006/main">
              <a:ext uri="{FF2B5EF4-FFF2-40B4-BE49-F238E27FC236}">
                <a16:creationId xmlns:a16="http://schemas.microsoft.com/office/drawing/2014/main" id="{7DA09793-0753-4F2B-B668-52AB8220C407}"/>
              </a:ext>
            </a:extLst>
          </p:cNvPr>
          <p:cNvGraphicFramePr/>
          <p:nvPr/>
        </p:nvGraphicFramePr>
        <p:xfrm>
          <a:off xmlns:a="http://schemas.openxmlformats.org/drawingml/2006/main" x="638175" y="2286000"/>
          <a:ext xmlns:a="http://schemas.openxmlformats.org/drawingml/2006/main" cx="10906125" cy="3048000"/>
        </p:xfrm>
        <a:graphic xmlns:a="http://schemas.openxmlformats.org/drawingml/2006/main">
          <a:graphicData uri="http://schemas.openxmlformats.org/drawingml/2006/table">
            <a:tbl>
              <a:tblPr/>
              <a:tblGrid>
                <a:gridCol w="3810000"/>
                <a:gridCol w="7096125"/>
              </a:tblGrid>
              <a:tr h="609600">
                <a:tc>
                  <a:txBody>
                    <a:bodyPr/>
                    <a:lstStyle/>
                    <a:p>
                      <a:r>
                        <a:rPr sz="2025" b="1">
                          <a:solidFill>
                            <a:srgbClr val="FFFFFF"/>
                          </a:solidFill>
                          <a:latin typeface="Malgun Gothic"/>
                          <a:ea typeface="Malgun Gothic"/>
                          <a:cs typeface="Malgun Gothic"/>
                        </a:rPr>
                        <a:t>질문</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답변의 기준</a:t>
                      </a:r>
                    </a:p>
                  </a:txBody>
                  <a:tcPr marL="91440" marR="91440" marT="45720" marB="45720">
                    <a:solidFill>
                      <a:srgbClr val="17364A"/>
                    </a:solidFill>
                  </a:tcPr>
                </a:tc>
              </a:tr>
              <a:tr h="609600">
                <a:tc>
                  <a:txBody>
                    <a:bodyPr/>
                    <a:lstStyle/>
                    <a:p>
                      <a:r>
                        <a:rPr sz="2025" b="0">
                          <a:solidFill>
                            <a:srgbClr val="17364A"/>
                          </a:solidFill>
                          <a:latin typeface="Malgun Gothic"/>
                          <a:ea typeface="Malgun Gothic"/>
                          <a:cs typeface="Malgun Gothic"/>
                        </a:rPr>
                        <a:t>왜 LSTM인가</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시간 순서 처리 구조를 비교하기 위한 후보</a:t>
                      </a:r>
                    </a:p>
                  </a:txBody>
                  <a:tcPr marL="91440" marR="91440" marT="45720" marB="45720">
                    <a:solidFill>
                      <a:srgbClr val="FFFFFF"/>
                    </a:solidFill>
                  </a:tcPr>
                </a:tc>
              </a:tr>
              <a:tr h="609600">
                <a:tc>
                  <a:txBody>
                    <a:bodyPr/>
                    <a:lstStyle/>
                    <a:p>
                      <a:r>
                        <a:rPr sz="2025" b="0">
                          <a:solidFill>
                            <a:srgbClr val="17364A"/>
                          </a:solidFill>
                          <a:latin typeface="Malgun Gothic"/>
                          <a:ea typeface="Malgun Gothic"/>
                          <a:cs typeface="Malgun Gothic"/>
                        </a:rPr>
                        <a:t>왜 초기값까지 맞췄나</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Dropout 비교의 출발 가중치 차이를 통제</a:t>
                      </a:r>
                    </a:p>
                  </a:txBody>
                  <a:tcPr marL="91440" marR="91440" marT="45720" marB="45720">
                    <a:solidFill>
                      <a:srgbClr val="F1F5F7"/>
                    </a:solidFill>
                  </a:tcPr>
                </a:tc>
              </a:tr>
              <a:tr h="609600">
                <a:tc>
                  <a:txBody>
                    <a:bodyPr/>
                    <a:lstStyle/>
                    <a:p>
                      <a:r>
                        <a:rPr sz="2025" b="0">
                          <a:solidFill>
                            <a:srgbClr val="17364A"/>
                          </a:solidFill>
                          <a:latin typeface="Malgun Gothic"/>
                          <a:ea typeface="Malgun Gothic"/>
                          <a:cs typeface="Malgun Gothic"/>
                        </a:rPr>
                        <a:t>9회면 충분한가</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현재 범위를 보여주며 모집단 일반화는 제한</a:t>
                      </a:r>
                    </a:p>
                  </a:txBody>
                  <a:tcPr marL="91440" marR="91440" marT="45720" marB="45720">
                    <a:solidFill>
                      <a:srgbClr val="FFFFFF"/>
                    </a:solidFill>
                  </a:tcPr>
                </a:tc>
              </a:tr>
              <a:tr h="609600">
                <a:tc>
                  <a:txBody>
                    <a:bodyPr/>
                    <a:lstStyle/>
                    <a:p>
                      <a:r>
                        <a:rPr sz="2025" b="0">
                          <a:solidFill>
                            <a:srgbClr val="17364A"/>
                          </a:solidFill>
                          <a:latin typeface="Malgun Gothic"/>
                          <a:ea typeface="Malgun Gothic"/>
                          <a:cs typeface="Malgun Gothic"/>
                        </a:rPr>
                        <a:t>test 점수는 어디 있나</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이번에는 미평가, 팀 합의 후 별도 수행</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C8B4E7E0-DB1D-4273-8641-701F751BBDD5}"/>
              </a:ext>
            </a:extLst>
          </p:cNvPr>
          <p:cNvSpPr>
            <a:spLocks xmlns:a="http://schemas.openxmlformats.org/drawingml/2006/main" noGrp="1"/>
          </p:cNvSpPr>
          <p:nvPr/>
        </p:nvSpPr>
        <p:spPr>
          <a:xfrm xmlns:a="http://schemas.openxmlformats.org/drawingml/2006/main">
            <a:off x="714375" y="5781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7D85"/>
                </a:solidFill>
                <a:latin typeface="Malgun Gothic"/>
                <a:ea typeface="Malgun Gothic"/>
                <a:cs typeface="Malgun Gothic"/>
              </a:defRPr>
            </a:defPPr>
          </a:lstStyle>
          <a:p xmlns:a="http://schemas.openxmlformats.org/drawingml/2006/main">
            <a:pPr>
              <a:defRPr sz="2325" b="1">
                <a:solidFill>
                  <a:srgbClr val="147D85"/>
                </a:solidFill>
                <a:latin typeface="Malgun Gothic"/>
                <a:ea typeface="Malgun Gothic"/>
                <a:cs typeface="Malgun Gothic"/>
              </a:defRPr>
            </a:pPr>
            <a:r>
              <a:rPr sz="2325" b="1">
                <a:solidFill>
                  <a:srgbClr val="147D85"/>
                </a:solidFill>
                <a:latin typeface="Malgun Gothic"/>
                <a:ea typeface="Malgun Gothic"/>
                <a:cs typeface="Malgun Gothic"/>
              </a:rPr>
              <a:t>주장마다 실제 파일과 검증 범위를 연결</a:t>
            </a:r>
          </a:p>
        </p:txBody>
      </p:sp>
    </p:spTree>
    <p:extLst>
      <p:ext uri="{BB962C8B-B14F-4D97-AF65-F5344CB8AC3E}">
        <p14:creationId xmlns:p14="http://schemas.microsoft.com/office/powerpoint/2010/main" val="427428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2026-10-09T08:18:56.4540000Z</dcterms:created>
  <dcterms:modified xsi:type="dcterms:W3CDTF">2026-10-09T08:18:56.4540000Z</dcterms:modified>
</coreProperties>
</file>