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81e213ab4fb4c86" /><Relationship Type="http://schemas.openxmlformats.org/officeDocument/2006/relationships/extended-properties" Target="/docProps/app.xml" Id="Rc198bb76322e4c00" /><Relationship Type="http://schemas.openxmlformats.org/officeDocument/2006/relationships/officeDocument" Target="/ppt/presentation.xml" Id="R7ca717955c15425e" /></Relationships>
</file>

<file path=ppt/presentation.xml><?xml version="1.0" encoding="utf-8"?>
<p:presentation xmlns:p="http://schemas.openxmlformats.org/presentationml/2006/main">
  <p:sldMasterIdLst>
    <p:sldMasterId xmlns:r="http://schemas.openxmlformats.org/officeDocument/2006/relationships" id="2147483648" r:id="R6f6f14f83b2049bb"/>
  </p:sldMasterIdLst>
  <p:notesMasterIdLst>
    <p:notesMasterId xmlns:r="http://schemas.openxmlformats.org/officeDocument/2006/relationships" r:id="R791bb958c16c4664"/>
  </p:notesMasterIdLst>
  <p:sldIdLst>
    <p:sldId xmlns:r="http://schemas.openxmlformats.org/officeDocument/2006/relationships" id="256" r:id="R05d9a09564f648d1"/>
    <p:sldId xmlns:r="http://schemas.openxmlformats.org/officeDocument/2006/relationships" id="257" r:id="Rd3f19cfbbda947d1"/>
    <p:sldId xmlns:r="http://schemas.openxmlformats.org/officeDocument/2006/relationships" id="258" r:id="Rceae146caa8f4944"/>
    <p:sldId xmlns:r="http://schemas.openxmlformats.org/officeDocument/2006/relationships" id="259" r:id="R43dee89cb15144e8"/>
    <p:sldId xmlns:r="http://schemas.openxmlformats.org/officeDocument/2006/relationships" id="260" r:id="R9a01456c2b6246b9"/>
    <p:sldId xmlns:r="http://schemas.openxmlformats.org/officeDocument/2006/relationships" id="261" r:id="Rb3df21a793914853"/>
    <p:sldId xmlns:r="http://schemas.openxmlformats.org/officeDocument/2006/relationships" id="262" r:id="R76ae5a8a6cdc4bc4"/>
    <p:sldId xmlns:r="http://schemas.openxmlformats.org/officeDocument/2006/relationships" id="263" r:id="R401515142e2342cd"/>
    <p:sldId xmlns:r="http://schemas.openxmlformats.org/officeDocument/2006/relationships" id="264" r:id="Rc13de94c181c452b"/>
    <p:sldId xmlns:r="http://schemas.openxmlformats.org/officeDocument/2006/relationships" id="265" r:id="Rdb1f70a8b1f14ce6"/>
    <p:sldId xmlns:r="http://schemas.openxmlformats.org/officeDocument/2006/relationships" id="266" r:id="R404e05ec9f394e6c"/>
    <p:sldId xmlns:r="http://schemas.openxmlformats.org/officeDocument/2006/relationships" id="267" r:id="R32486ffe5f684967"/>
    <p:sldId xmlns:r="http://schemas.openxmlformats.org/officeDocument/2006/relationships" id="268" r:id="Ra75c30ce5e614bd5"/>
    <p:sldId xmlns:r="http://schemas.openxmlformats.org/officeDocument/2006/relationships" id="269" r:id="R78718b47f425412c"/>
    <p:sldId xmlns:r="http://schemas.openxmlformats.org/officeDocument/2006/relationships" id="270" r:id="R1493be754ecb4952"/>
    <p:sldId xmlns:r="http://schemas.openxmlformats.org/officeDocument/2006/relationships" id="271" r:id="R476251a6abd04a1e"/>
    <p:sldId xmlns:r="http://schemas.openxmlformats.org/officeDocument/2006/relationships" id="272" r:id="Rd58f8b3dce7143db"/>
    <p:sldId xmlns:r="http://schemas.openxmlformats.org/officeDocument/2006/relationships" id="273" r:id="R7389cd723b6e4561"/>
    <p:sldId xmlns:r="http://schemas.openxmlformats.org/officeDocument/2006/relationships" id="274" r:id="R3eb473ff5a8b450c"/>
    <p:sldId xmlns:r="http://schemas.openxmlformats.org/officeDocument/2006/relationships" id="275" r:id="R2e25d9c9b7e045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54baee098c4fb8" /><Relationship Type="http://schemas.openxmlformats.org/officeDocument/2006/relationships/slideMaster" Target="/ppt/slideMasters/slideMaster1.xml" Id="R6f6f14f83b2049bb" /><Relationship Type="http://schemas.openxmlformats.org/officeDocument/2006/relationships/notesMaster" Target="/ppt/notesMasters/notesMaster1.xml" Id="R791bb958c16c4664" /><Relationship Type="http://schemas.openxmlformats.org/officeDocument/2006/relationships/presProps" Target="/ppt/presProps.xml" Id="R8c01ddbed648435e" /><Relationship Type="http://schemas.openxmlformats.org/officeDocument/2006/relationships/tableStyles" Target="/ppt/tableStyles.xml" Id="Rc9e96445bc3e4d68" /><Relationship Type="http://schemas.openxmlformats.org/officeDocument/2006/relationships/slide" Target="/ppt/slides/slide1.xml" Id="R05d9a09564f648d1" /><Relationship Type="http://schemas.openxmlformats.org/officeDocument/2006/relationships/slide" Target="/ppt/slides/slide2.xml" Id="Rd3f19cfbbda947d1" /><Relationship Type="http://schemas.openxmlformats.org/officeDocument/2006/relationships/slide" Target="/ppt/slides/slide3.xml" Id="Rceae146caa8f4944" /><Relationship Type="http://schemas.openxmlformats.org/officeDocument/2006/relationships/slide" Target="/ppt/slides/slide4.xml" Id="R43dee89cb15144e8" /><Relationship Type="http://schemas.openxmlformats.org/officeDocument/2006/relationships/slide" Target="/ppt/slides/slide5.xml" Id="R9a01456c2b6246b9" /><Relationship Type="http://schemas.openxmlformats.org/officeDocument/2006/relationships/slide" Target="/ppt/slides/slide6.xml" Id="Rb3df21a793914853" /><Relationship Type="http://schemas.openxmlformats.org/officeDocument/2006/relationships/slide" Target="/ppt/slides/slide7.xml" Id="R76ae5a8a6cdc4bc4" /><Relationship Type="http://schemas.openxmlformats.org/officeDocument/2006/relationships/slide" Target="/ppt/slides/slide8.xml" Id="R401515142e2342cd" /><Relationship Type="http://schemas.openxmlformats.org/officeDocument/2006/relationships/slide" Target="/ppt/slides/slide9.xml" Id="Rc13de94c181c452b" /><Relationship Type="http://schemas.openxmlformats.org/officeDocument/2006/relationships/slide" Target="/ppt/slides/slide10.xml" Id="Rdb1f70a8b1f14ce6" /><Relationship Type="http://schemas.openxmlformats.org/officeDocument/2006/relationships/slide" Target="/ppt/slides/slide11.xml" Id="R404e05ec9f394e6c" /><Relationship Type="http://schemas.openxmlformats.org/officeDocument/2006/relationships/slide" Target="/ppt/slides/slide12.xml" Id="R32486ffe5f684967" /><Relationship Type="http://schemas.openxmlformats.org/officeDocument/2006/relationships/slide" Target="/ppt/slides/slide13.xml" Id="Ra75c30ce5e614bd5" /><Relationship Type="http://schemas.openxmlformats.org/officeDocument/2006/relationships/slide" Target="/ppt/slides/slide14.xml" Id="R78718b47f425412c" /><Relationship Type="http://schemas.openxmlformats.org/officeDocument/2006/relationships/slide" Target="/ppt/slides/slide15.xml" Id="R1493be754ecb4952" /><Relationship Type="http://schemas.openxmlformats.org/officeDocument/2006/relationships/slide" Target="/ppt/slides/slide16.xml" Id="R476251a6abd04a1e" /><Relationship Type="http://schemas.openxmlformats.org/officeDocument/2006/relationships/slide" Target="/ppt/slides/slide17.xml" Id="Rd58f8b3dce7143db" /><Relationship Type="http://schemas.openxmlformats.org/officeDocument/2006/relationships/slide" Target="/ppt/slides/slide18.xml" Id="R7389cd723b6e4561" /><Relationship Type="http://schemas.openxmlformats.org/officeDocument/2006/relationships/slide" Target="/ppt/slides/slide19.xml" Id="R3eb473ff5a8b450c" /><Relationship Type="http://schemas.openxmlformats.org/officeDocument/2006/relationships/slide" Target="/ppt/slides/slide20.xml" Id="R2e25d9c9b7e045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bbb092c07e40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8a758e65e4443b" /><Relationship Type="http://schemas.openxmlformats.org/officeDocument/2006/relationships/notesMaster" Target="/ppt/notesMasters/notesMaster1.xml" Id="Rbba056410ba74d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8e26e7a4744da0" /><Relationship Type="http://schemas.openxmlformats.org/officeDocument/2006/relationships/notesMaster" Target="/ppt/notesMasters/notesMaster1.xml" Id="R570f19563c0d4d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c16e3f98d0484b" /><Relationship Type="http://schemas.openxmlformats.org/officeDocument/2006/relationships/notesMaster" Target="/ppt/notesMasters/notesMaster1.xml" Id="Rd7888f8f874347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dffa0e569b4c70" /><Relationship Type="http://schemas.openxmlformats.org/officeDocument/2006/relationships/notesMaster" Target="/ppt/notesMasters/notesMaster1.xml" Id="R5305211796d545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6ff7a6f4ea414e" /><Relationship Type="http://schemas.openxmlformats.org/officeDocument/2006/relationships/notesMaster" Target="/ppt/notesMasters/notesMaster1.xml" Id="R9c5bd2021fd54a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5cf6a2669843a8" /><Relationship Type="http://schemas.openxmlformats.org/officeDocument/2006/relationships/notesMaster" Target="/ppt/notesMasters/notesMaster1.xml" Id="R9095c8a4ae3a4e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fa5763196d45df" /><Relationship Type="http://schemas.openxmlformats.org/officeDocument/2006/relationships/notesMaster" Target="/ppt/notesMasters/notesMaster1.xml" Id="R41841771448f4d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572ab9e3f8413a" /><Relationship Type="http://schemas.openxmlformats.org/officeDocument/2006/relationships/notesMaster" Target="/ppt/notesMasters/notesMaster1.xml" Id="R63c3bde1b44141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5c647ff1b14e25" /><Relationship Type="http://schemas.openxmlformats.org/officeDocument/2006/relationships/notesMaster" Target="/ppt/notesMasters/notesMaster1.xml" Id="R62bcbb4de8f145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9a915bb4754eec" /><Relationship Type="http://schemas.openxmlformats.org/officeDocument/2006/relationships/notesMaster" Target="/ppt/notesMasters/notesMaster1.xml" Id="Ra6e27a7feb5d4e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68fc8faca44358" /><Relationship Type="http://schemas.openxmlformats.org/officeDocument/2006/relationships/notesMaster" Target="/ppt/notesMasters/notesMaster1.xml" Id="Rd6af3c8e9f2c45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1ba8a87de14da9" /><Relationship Type="http://schemas.openxmlformats.org/officeDocument/2006/relationships/notesMaster" Target="/ppt/notesMasters/notesMaster1.xml" Id="R4c5db856a50f43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60fc630a10a488f" /><Relationship Type="http://schemas.openxmlformats.org/officeDocument/2006/relationships/notesMaster" Target="/ppt/notesMasters/notesMaster1.xml" Id="R8ae559660f9343a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7b2768ef45c48be" /><Relationship Type="http://schemas.openxmlformats.org/officeDocument/2006/relationships/notesMaster" Target="/ppt/notesMasters/notesMaster1.xml" Id="R4b4e543256ca4fd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a53d7aa54da432c" /><Relationship Type="http://schemas.openxmlformats.org/officeDocument/2006/relationships/notesMaster" Target="/ppt/notesMasters/notesMaster1.xml" Id="Rc3829d2f3f0645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7a2b9ab08094031" /><Relationship Type="http://schemas.openxmlformats.org/officeDocument/2006/relationships/notesMaster" Target="/ppt/notesMasters/notesMaster1.xml" Id="R52ccc8bf1bd44af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ce4ee9a4f9542c9" /><Relationship Type="http://schemas.openxmlformats.org/officeDocument/2006/relationships/notesMaster" Target="/ppt/notesMasters/notesMaster1.xml" Id="R47b4dbb02dbb479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0da817145f048ac" /><Relationship Type="http://schemas.openxmlformats.org/officeDocument/2006/relationships/notesMaster" Target="/ppt/notesMasters/notesMaster1.xml" Id="Rdbbcdd2bfa0f4c3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f6374f18c244995" /><Relationship Type="http://schemas.openxmlformats.org/officeDocument/2006/relationships/notesMaster" Target="/ppt/notesMasters/notesMaster1.xml" Id="Rdcb95a41177c411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128b6bc7c0f4c77" /><Relationship Type="http://schemas.openxmlformats.org/officeDocument/2006/relationships/notesMaster" Target="/ppt/notesMasters/notesMaster1.xml" Id="R01cd088b4f2a44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[본문 13장, 보충 7장 / 약 10–12분 설명용]</a:t>
            </a:r>
          </a:p>
          <a:p xmlns:a="http://schemas.openxmlformats.org/drawingml/2006/main">
            <a:r>
              <a:t>[4분 축약 경로: 1 → 3 → 4 → 6 → 7 → 9 → 13]</a:t>
            </a:r>
          </a:p>
          <a:p xmlns:a="http://schemas.openxmlformats.org/drawingml/2006/main">
            <a:r>
              <a:t>[축약 15초] 기준모델 구현을 맡은 이봉헌입니다. 이번에는 성능표뿐 아니라 실제 입력 오류를 어떻게 찾아 수정했고, 비교 실험의 통제 조건을 어떻게 검증했는지 설명하겠습니다. 기존 보고서 이후 실제로 수행한 후속 작업입니다.</a:t>
            </a:r>
          </a:p>
          <a:p xmlns:a="http://schemas.openxmlformats.org/drawingml/2006/main">
            <a:r>
              <a:t/>
            </a:r>
          </a:p>
          <a:p xmlns:a="http://schemas.openxmlformats.org/drawingml/2006/main">
            <a:r>
              <a:t>출처 및 근거</a:t>
            </a:r>
          </a:p>
          <a:p xmlns:a="http://schemas.openxmlformats.org/drawingml/2006/main">
            <a:r>
              <a:t>https://github.com/kara320090/smartphone-har/blob/main/docs/PROCESS_AUDIT_PLAN_KO.md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잘못된 인덱스 처리와 원본 검증 자료의 정렬 검사는 실제 기존 코드의 결함이었습니다. 같은 seed의 가중치 차이는 구조를 직접 생성해 확인한 통제의 한계입니다. 배치 평균을 빠뜨린 미분이나 naive softmax는 검사가 오류를 잡는지 확인하려고 일부러 구성했습니다. 이런 대조를 개발 중 우연히 겪은 사고로 이야기하지 않습니다. seed별 성능 차이 역시 버그와 다릅니다.</a:t>
            </a:r>
          </a:p>
          <a:p xmlns:a="http://schemas.openxmlformats.org/drawingml/2006/main">
            <a:r>
              <a:t/>
            </a:r>
          </a:p>
          <a:p xmlns:a="http://schemas.openxmlformats.org/drawingml/2006/main">
            <a:r>
              <a:t>출처 및 근거</a:t>
            </a:r>
          </a:p>
          <a:p xmlns:a="http://schemas.openxmlformats.org/drawingml/2006/main">
            <a:r>
              <a:t>https://github.com/kara320090/smartphone-har/blob/main/reports/process_audit/contracts_before.json</a:t>
            </a:r>
          </a:p>
          <a:p xmlns:a="http://schemas.openxmlformats.org/drawingml/2006/main">
            <a:r>
              <a:t>https://github.com/kara320090/smartphone-har/blob/main/reports/process_audit/math_controls.json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[축약 35초] 기존 코드는 분할 번호를 바로 int64로 바꿨습니다. 소수는 잘리고, 참거짓은 1과 0이 되고, 음수는 뒤쪽 행을 고릅니다. 합성 18행 입력에서 이 동작을 실제로 확인했습니다. 수정 후에는 먼저 정수 벡터와 범위, 중복을 확인한 뒤 변환합니다. 공식 UCI 로더의 정상 인덱스는 원래 유효했으므로 이전 성능이 틀렸다고 단정하지 않고 다시 학습해 비교했습니다.</a:t>
            </a:r>
          </a:p>
          <a:p xmlns:a="http://schemas.openxmlformats.org/drawingml/2006/main">
            <a:r>
              <a:t/>
            </a:r>
          </a:p>
          <a:p xmlns:a="http://schemas.openxmlformats.org/drawingml/2006/main">
            <a:r>
              <a:t>출처 및 근거</a:t>
            </a:r>
          </a:p>
          <a:p xmlns:a="http://schemas.openxmlformats.org/drawingml/2006/main">
            <a:r>
              <a:t>https://github.com/kara320090/smartphone-har/blob/main/src/contracts.py</a:t>
            </a:r>
          </a:p>
          <a:p xmlns:a="http://schemas.openxmlformats.org/drawingml/2006/main">
            <a:r>
              <a:t>https://github.com/kara320090/smartphone-har/blob/main/reports/process_audit/contracts_before.json</a:t>
            </a:r>
          </a:p>
          <a:p xmlns:a="http://schemas.openxmlformats.org/drawingml/2006/main">
            <a:r>
              <a:t>https://github.com/kara320090/smartphone-har/blob/main/reports/process_audit/contracts_after.json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[축약 30초] 학습용 전처리 결과와 저장물 검증용 원본을 따로 가지고 있는데, 기존에는 길이만 같으면 통과했습니다. 원본 순서를 뒤집어도 통과했고 최대 값 차이가 11.6729였습니다. 이제 저장된 전처리를 다시 적용해 전체 배열이 맞는지 검사합니다. 이 검사는 자기 일관성을 확인하므로 원본과 ID가 함께 잘못된 상황까지 모두 증명하는 것은 아닙니다.</a:t>
            </a:r>
          </a:p>
          <a:p xmlns:a="http://schemas.openxmlformats.org/drawingml/2006/main">
            <a:r>
              <a:t/>
            </a:r>
          </a:p>
          <a:p xmlns:a="http://schemas.openxmlformats.org/drawingml/2006/main">
            <a:r>
              <a:t>출처 및 근거</a:t>
            </a:r>
          </a:p>
          <a:p xmlns:a="http://schemas.openxmlformats.org/drawingml/2006/main">
            <a:r>
              <a:t>https://github.com/kara320090/smartphone-har/blob/main/reports/process_audit/contracts_before.json</a:t>
            </a:r>
          </a:p>
          <a:p xmlns:a="http://schemas.openxmlformats.org/drawingml/2006/main">
            <a:r>
              <a:t>https://github.com/kara320090/smartphone-har/blob/main/src/contracts.py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15실패는 버그 15개라는 뜻이 아닙니다. 같은 원인을 여러 경계 입력에서 점검한 결과입니다. 잘못된 분할에서 Preprocessor.fit이 호출되면 검사 자체가 실패하도록 해 차단 시점도 보았습니다. 정상 입력을 유지하는 양성 대조로, 검증 입력에 10,000을 더해도 학습 평균·표준편차와 학습 입력이 같은지 확인했습니다. 기존 모델 저장과 외부 모델 연결 검사까지 포함해 총 24개가 통과했습니다. 라이브러리 deprecation 경고 26개는 남았습니다.</a:t>
            </a:r>
          </a:p>
          <a:p xmlns:a="http://schemas.openxmlformats.org/drawingml/2006/main">
            <a:r>
              <a:t/>
            </a:r>
          </a:p>
          <a:p xmlns:a="http://schemas.openxmlformats.org/drawingml/2006/main">
            <a:r>
              <a:t>출처 및 근거</a:t>
            </a:r>
          </a:p>
          <a:p xmlns:a="http://schemas.openxmlformats.org/drawingml/2006/main">
            <a:r>
              <a:t>https://github.com/kara320090/smartphone-har/blob/main/tests/test_contract_regressions.py</a:t>
            </a:r>
          </a:p>
          <a:p xmlns:a="http://schemas.openxmlformats.org/drawingml/2006/main">
            <a:r>
              <a:t>https://github.com/kara320090/smartphone-har/blob/main/reports/process_audit/regressions_before.xml</a:t>
            </a:r>
          </a:p>
          <a:p xmlns:a="http://schemas.openxmlformats.org/drawingml/2006/main">
            <a:r>
              <a:t>https://github.com/kara320090/smartphone-har/blob/main/reports/process_audit/tests_after.xml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[축약 40초] 처음에는 같은 seed를 사용해 조건을 대응시켰습니다. 그런데 직접 가중치를 비교해 보니 Dropout 모델의 둘째 Dense와 출력층이 달랐습니다. 구조 변경에 따라 난수 사용 순서가 달라질 수 있기 때문입니다. 같은 seed 설정 비교로는 유효하지만 초기값까지 같다고 말하면 안 됩니다. 그래서 이 발견을 기록한 뒤 E02의 모든 Dense 초기값을 복사하는 E08W 대조를 세 seed에서 추가했습니다.</a:t>
            </a:r>
          </a:p>
          <a:p xmlns:a="http://schemas.openxmlformats.org/drawingml/2006/main">
            <a:r>
              <a:t/>
            </a:r>
          </a:p>
          <a:p xmlns:a="http://schemas.openxmlformats.org/drawingml/2006/main">
            <a:r>
              <a:t>출처 및 근거</a:t>
            </a:r>
          </a:p>
          <a:p xmlns:a="http://schemas.openxmlformats.org/drawingml/2006/main">
            <a:r>
              <a:t>https://github.com/kara320090/smartphone-har/blob/main/reports/process_audit/initialization_control.json</a:t>
            </a:r>
          </a:p>
          <a:p xmlns:a="http://schemas.openxmlformats.org/drawingml/2006/main">
            <a:r>
              <a:t>https://github.com/kara320090/smartphone-har/blob/main/docs/PROCESS_AUDIT_AMENDMENT_KO.md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[축약 35초] E08W는 Dropout 0.3 구조를 유지하고 E02의 초기 Dense 가중치와 편향을 모두 복사했습니다. 배열 완전 일치와 해시를 확인한 뒤 학습했습니다. 그래프는 세 seed의 모든 결과입니다. 초기값이라는 혼동 요인 하나를 제거했지만 Dropout 마스크와 학습 경로, 조기 종료 시점은 다릅니다. 이 결과도 현재 구조와 비율의 관찰이지 Dropout의 보편적 효과를 증명하지 않습니다.</a:t>
            </a:r>
          </a:p>
          <a:p xmlns:a="http://schemas.openxmlformats.org/drawingml/2006/main">
            <a:r>
              <a:t/>
            </a:r>
          </a:p>
          <a:p xmlns:a="http://schemas.openxmlformats.org/drawingml/2006/main">
            <a:r>
              <a:t>출처 및 근거</a:t>
            </a:r>
          </a:p>
          <a:p xmlns:a="http://schemas.openxmlformats.org/drawingml/2006/main">
            <a:r>
              <a:t>https://github.com/kara320090/smartphone-har/blob/main/analysis/process_audit/run_matched_dropout.py</a:t>
            </a:r>
          </a:p>
          <a:p xmlns:a="http://schemas.openxmlformats.org/drawingml/2006/main">
            <a:r>
              <a:t>https://github.com/kara320090/smartphone-har/blob/main/reports/process_audit/condition_summary.csv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7조건은 실행 전에 정한 seed 세 개 모두에서 학습했습니다. 초기값 대조는 별도 계획으로 3회를 추가해 총 24회입니다. 표준편차는 ddof=1입니다. 같은 사람 분할에서의 초기화·셔플 변동을 보여 주며 다른 사람을 새로 추출한 변동은 아닙니다. E08W는 원래 7조건의 사전 계획에 포함됐던 것처럼 숨기지 않고 별도 대조로 보고합니다.</a:t>
            </a:r>
          </a:p>
          <a:p xmlns:a="http://schemas.openxmlformats.org/drawingml/2006/main">
            <a:r>
              <a:t/>
            </a:r>
          </a:p>
          <a:p xmlns:a="http://schemas.openxmlformats.org/drawingml/2006/main">
            <a:r>
              <a:t>출처 및 근거</a:t>
            </a:r>
          </a:p>
          <a:p xmlns:a="http://schemas.openxmlformats.org/drawingml/2006/main">
            <a:r>
              <a:t>https://github.com/kara320090/smartphone-har/blob/main/docs/PROCESS_AUDIT_PLAN_KO.md</a:t>
            </a:r>
          </a:p>
          <a:p xmlns:a="http://schemas.openxmlformats.org/drawingml/2006/main">
            <a:r>
              <a:t>https://github.com/kara320090/smartphone-har/blob/main/reports/process_audit/condition_summary.csv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[축약 30초] seed 2026에서는 E02가 가장 높았지만 2027과 2028의 최고 조건은 달랐습니다. 따라서 한 번의 결과로 기본 설정이 항상 우수하다고 결론 내릴 수 없습니다. 이번 보강은 평균뿐 아니라 표준편차와 seed별 차이를 모두 보고하고, 현재 분할의 관찰이라는 범위를 명시했습니다. 평균 차이가 작다는 이유만으로 세 번의 결과에 유의성 검정을 덧붙이지 않았습니다.</a:t>
            </a:r>
          </a:p>
          <a:p xmlns:a="http://schemas.openxmlformats.org/drawingml/2006/main">
            <a:r>
              <a:t/>
            </a:r>
          </a:p>
          <a:p xmlns:a="http://schemas.openxmlformats.org/drawingml/2006/main">
            <a:r>
              <a:t>출처 및 근거</a:t>
            </a:r>
          </a:p>
          <a:p xmlns:a="http://schemas.openxmlformats.org/drawingml/2006/main">
            <a:r>
              <a:t>https://github.com/kara320090/smartphone-har/blob/main/reports/process_audit/repeat_results.csv</a:t>
            </a:r>
          </a:p>
          <a:p xmlns:a="http://schemas.openxmlformats.org/drawingml/2006/main">
            <a:r>
              <a:t>https://github.com/kara320090/smartphone-har/blob/main/reports/process_audit/paired_deltas.csv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UCI의 창은 2.56초이며 50퍼센트 중첩됩니다. 같은 사람의 창을 독립적으로 나눠 학습과 검증에 섞으면 새로운 사람에게 일반화하는 상황을 제대로 평가하기 어렵습니다. 사람 기준 분할을 유지했고 표준화와 PCA도 학습 자료로만 fit했습니다. 1,775개 창을 독립 표본으로 취급하는 신뢰구간은 제시하지 않았습니다. 또 같은 검증 자료로 조기 종료와 조건 선택을 했으므로 최종 평가는 남겨 둔 test에서 별도로 해야 합니다.</a:t>
            </a:r>
          </a:p>
          <a:p xmlns:a="http://schemas.openxmlformats.org/drawingml/2006/main">
            <a:r>
              <a:t/>
            </a:r>
          </a:p>
          <a:p xmlns:a="http://schemas.openxmlformats.org/drawingml/2006/main">
            <a:r>
              <a:t>출처 및 근거</a:t>
            </a:r>
          </a:p>
          <a:p xmlns:a="http://schemas.openxmlformats.org/drawingml/2006/main">
            <a:r>
              <a:t>https://archive.ics.uci.edu/dataset/240/human+activity+recognition+using+smartphones</a:t>
            </a:r>
          </a:p>
          <a:p xmlns:a="http://schemas.openxmlformats.org/drawingml/2006/main">
            <a:r>
              <a:t>https://github.com/kara320090/smartphone-har/blob/main/src/adapters/uci_reference.py</a:t>
            </a:r>
          </a:p>
          <a:p xmlns:a="http://schemas.openxmlformats.org/drawingml/2006/main">
            <a:r>
              <a:t>https://github.com/kara320090/smartphone-har/blob/main/docs/PROCESS_AUDIT_PLAN_KO.md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E02처럼 ReLU와 6클래스 교차엔트로피 평균을 사용하는 작은 네트워크를 별도로 만들었습니다. 46개 파라미터를 h 세 크기에서 검사했고 자동미분과도 일치했습니다. 그런데 ReLU의 0에서는 중심차분이 0.5이고 TensorFlow는 0을 선택합니다. 미분계수가 유일하지 않은 점이므로 이를 그대로 버그로 해석하면 안 됩니다. 반면 평균 손실에서 배치로 나누는 항을 빼면 8배의 잘못된 기울기가 되어 검사가 잡았습니다. 이는 의도적 대조입니다.</a:t>
            </a:r>
          </a:p>
          <a:p xmlns:a="http://schemas.openxmlformats.org/drawingml/2006/main">
            <a:r>
              <a:t/>
            </a:r>
          </a:p>
          <a:p xmlns:a="http://schemas.openxmlformats.org/drawingml/2006/main">
            <a:r>
              <a:t>출처 및 근거</a:t>
            </a:r>
          </a:p>
          <a:p xmlns:a="http://schemas.openxmlformats.org/drawingml/2006/main">
            <a:r>
              <a:t>https://github.com/kara320090/smartphone-har/blob/main/analysis/process_audit/math_controls.py</a:t>
            </a:r>
          </a:p>
          <a:p xmlns:a="http://schemas.openxmlformats.org/drawingml/2006/main">
            <a:r>
              <a:t>https://github.com/kara320090/smartphone-har/blob/main/reports/process_audit/math_controls.json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logits에 큰 값이 들어가면 naive softmax는 exp에서 overflow가 발생합니다. 최대 logits를 빼면 softmax 확률은 유한해집니다. 하지만 매우 작은 정답 확률이 0이 되면 마이너스 로그 0은 여전히 무한대입니다. 그래서 학습 손실은 logits 기반 logsumexp 형태로 계산합니다. 정답을 매우 작은 확률의 클래스로 둔 예에서도 유한한 손실을 얻었고 TensorFlow 결과와 일치했습니다. 실제 HAR에서 이 사고가 났다고 주장하는 사례가 아니라 구현 선택을 검증하는 대조입니다.</a:t>
            </a:r>
          </a:p>
          <a:p xmlns:a="http://schemas.openxmlformats.org/drawingml/2006/main">
            <a:r>
              <a:t/>
            </a:r>
          </a:p>
          <a:p xmlns:a="http://schemas.openxmlformats.org/drawingml/2006/main">
            <a:r>
              <a:t>출처 및 근거</a:t>
            </a:r>
          </a:p>
          <a:p xmlns:a="http://schemas.openxmlformats.org/drawingml/2006/main">
            <a:r>
              <a:t>https://github.com/kara320090/smartphone-har/blob/main/reports/process_audit/math_controls.json</a:t>
            </a:r>
          </a:p>
          <a:p xmlns:a="http://schemas.openxmlformats.org/drawingml/2006/main">
            <a:r>
              <a:t>https://www.tensorflow.org/api_docs/python/tf/nn/softmax_cross_entropy_with_logits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[축약 55초] 정리하면 실제 코드 경계의 오류를 재현하고 차단했으며, 정상 UCI 입력으로 기존 7조건을 다시 학습했을 때 이전 예측과 완전히 일치했습니다. 같은 seed가 같은 초기값을 뜻하지 않는다는 반론도 직접 확인하고 가중치를 맞춘 대조를 추가했습니다. 결론도 한 번의 최고 점수에서 평균과 변동을 함께 설명하는 형태로 수정했습니다. 다만 같은 검증 사람 5명과 세 seed의 범위를 넘는 일반화는 남아 있습니다. 팀 모듈 통합, 다른 사람 분할, 최종 test, 시연 검증을 다음 단계로 제시합니다. [축약 경로의 목표 시간 합계 240초]</a:t>
            </a:r>
          </a:p>
          <a:p xmlns:a="http://schemas.openxmlformats.org/drawingml/2006/main">
            <a:r>
              <a:t/>
            </a:r>
          </a:p>
          <a:p xmlns:a="http://schemas.openxmlformats.org/drawingml/2006/main">
            <a:r>
              <a:t>출처 및 근거</a:t>
            </a:r>
          </a:p>
          <a:p xmlns:a="http://schemas.openxmlformats.org/drawingml/2006/main">
            <a:r>
              <a:t>https://github.com/kara320090/smartphone-har/blob/main/reports/process_audit/summary.json</a:t>
            </a:r>
          </a:p>
          <a:p xmlns:a="http://schemas.openxmlformats.org/drawingml/2006/main">
            <a:r>
              <a:t>https://github.com/kara320090/smartphone-har/blob/main/docs/PROCESS_AUDIT_PLAN_KO.md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행 배치 표기에서 X는 B 곱하기 561, 첫 가중치는 561 곱하기 128입니다. 출력 오차 D3의 shape는 B 곱하기 6이고 H2 전치는 64 곱하기 B이므로 출력 가중치 기울기는 64 곱하기 6입니다. ReLU의 마스크는 preactivation이 양수인지를 사용합니다. 손실이 평균이면 1/B를 출력 오차에서 한 번 반영하고, 편향은 배치 축으로 합합니다. 실제 모델은 Keras 자동미분으로 학습했고 수동 미분은 별도 작은 네트워크에서 검증했다는 범위를 명확히 합니다.</a:t>
            </a:r>
          </a:p>
          <a:p xmlns:a="http://schemas.openxmlformats.org/drawingml/2006/main">
            <a:r>
              <a:t/>
            </a:r>
          </a:p>
          <a:p xmlns:a="http://schemas.openxmlformats.org/drawingml/2006/main">
            <a:r>
              <a:t>출처 및 근거</a:t>
            </a:r>
          </a:p>
          <a:p xmlns:a="http://schemas.openxmlformats.org/drawingml/2006/main">
            <a:r>
              <a:t>https://github.com/kara320090/smartphone-har/blob/main/src/models/mlp.py</a:t>
            </a:r>
          </a:p>
          <a:p xmlns:a="http://schemas.openxmlformats.org/drawingml/2006/main">
            <a:r>
              <a:t>https://github.com/kara320090/smartphone-har/blob/main/src/train.py</a:t>
            </a:r>
          </a:p>
          <a:p xmlns:a="http://schemas.openxmlformats.org/drawingml/2006/main">
            <a:r>
              <a:t>https://github.com/kara320090/smartphone-har/blob/main/analysis/process_audit/math_controls.py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검증 사람에서도 성능이 다르고 seed 변동도 보입니다. 모든 창을 합쳐 클래스별 F1을 계산한 Macro F1과, 각 사람의 Macro F1을 먼저 구해 평균한 값은 일반적으로 다릅니다. 사람별 창 수와 클래스 분포도 확인해야 합니다. 현재 다섯 사람만으로 새로운 사람 모집단의 신뢰구간을 제시하지 않았습니다.</a:t>
            </a:r>
          </a:p>
          <a:p xmlns:a="http://schemas.openxmlformats.org/drawingml/2006/main">
            <a:r>
              <a:t/>
            </a:r>
          </a:p>
          <a:p xmlns:a="http://schemas.openxmlformats.org/drawingml/2006/main">
            <a:r>
              <a:t>출처 및 근거</a:t>
            </a:r>
          </a:p>
          <a:p xmlns:a="http://schemas.openxmlformats.org/drawingml/2006/main">
            <a:r>
              <a:t>https://github.com/kara320090/smartphone-har/blob/main/reports/process_audit/e02_by_subject.csv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seed 2026의 E02는 epoch 2의 검증 손실이 최소이고 6개 epoch 동안 더 좋아지지 않아 8에서 종료했습니다. E07은 손실이 더 낮아도 F1은 낮습니다. 지표의 평가 방식이 다르기 때문입니다. 모든 실행의 선택 규칙은 처음부터 val_loss였고 결과를 보고 F1로 고른 epoch와 섞지 않았습니다. F1 기준 선택을 비교하려면 별도 정책으로 실험해야 합니다.</a:t>
            </a:r>
          </a:p>
          <a:p xmlns:a="http://schemas.openxmlformats.org/drawingml/2006/main">
            <a:r>
              <a:t/>
            </a:r>
          </a:p>
          <a:p xmlns:a="http://schemas.openxmlformats.org/drawingml/2006/main">
            <a:r>
              <a:t>출처 및 근거</a:t>
            </a:r>
          </a:p>
          <a:p xmlns:a="http://schemas.openxmlformats.org/drawingml/2006/main">
            <a:r>
              <a:t>https://github.com/kara320090/smartphone-har/blob/main/reports/process_audit/summary.json</a:t>
            </a:r>
          </a:p>
          <a:p xmlns:a="http://schemas.openxmlformats.org/drawingml/2006/main">
            <a:r>
              <a:t>https://keras.io/api/callbacks/early_stopping/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모델을 다시 학습해 같은 결과가 나오는지와, 저장한 모델을 불러 같은 예측이 나오는지는 서로 다른 검사입니다. 입력 계약을 바꾼 이후에도 seed 2026의 7조건은 기존 예측과 일치했습니다. 새 실행 24개도 원본 검증 입력부터 저장 전처리를 거쳐 다시 예측했습니다. 저장 가중치는 최선 epoch이지만 옵티마이저는 마지막 상태일 수 있어 정확한 학습 재개 체크포인트라고 부르지 않습니다. 다른 하드웨어의 비트 단위 동일성도 검증 범위 밖입니다.</a:t>
            </a:r>
          </a:p>
          <a:p xmlns:a="http://schemas.openxmlformats.org/drawingml/2006/main">
            <a:r>
              <a:t/>
            </a:r>
          </a:p>
          <a:p xmlns:a="http://schemas.openxmlformats.org/drawingml/2006/main">
            <a:r>
              <a:t>출처 및 근거</a:t>
            </a:r>
          </a:p>
          <a:p xmlns:a="http://schemas.openxmlformats.org/drawingml/2006/main">
            <a:r>
              <a:t>https://github.com/kara320090/smartphone-har/blob/main/reports/process_audit/summary.json</a:t>
            </a:r>
          </a:p>
          <a:p xmlns:a="http://schemas.openxmlformats.org/drawingml/2006/main">
            <a:r>
              <a:t>https://github.com/kara320090/smartphone-har/blob/main/reports/process_audit/reload_repeats.json</a:t>
            </a:r>
          </a:p>
          <a:p xmlns:a="http://schemas.openxmlformats.org/drawingml/2006/main">
            <a:r>
              <a:t>https://github.com/kara320090/smartphone-har/blob/main/reports/process_audit/reload_matched.json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무슨 질문에도 반박할 수 없도록 만드는 것은 현실적인 목표가 아닙니다. 대신 각 주장에 정확한 근거와 적용 범위를 연결합니다. 실제로 검사한 입력을 제시하고, 원본 의미 확인이나 전체 장치 호환성과 같은 다른 문제는 따로 남깁니다. 테스트 개수만 늘리는 대신 실패 사례와 정상 사례를 함께 확인한 이유도 이 때문입니다.</a:t>
            </a:r>
          </a:p>
          <a:p xmlns:a="http://schemas.openxmlformats.org/drawingml/2006/main">
            <a:r>
              <a:t/>
            </a:r>
          </a:p>
          <a:p xmlns:a="http://schemas.openxmlformats.org/drawingml/2006/main">
            <a:r>
              <a:t>출처 및 근거</a:t>
            </a:r>
          </a:p>
          <a:p xmlns:a="http://schemas.openxmlformats.org/drawingml/2006/main">
            <a:r>
              <a:t>https://github.com/kara320090/smartphone-har/blob/main/tests/test_contract_regressions.py</a:t>
            </a:r>
          </a:p>
          <a:p xmlns:a="http://schemas.openxmlformats.org/drawingml/2006/main">
            <a:r>
              <a:t>https://github.com/kara320090/smartphone-har/blob/main/reports/process_audit/tests_after.xml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PCA는 학습 특징의 분산을 보존하는 기준이지 정답 분류율을 보장하지 않습니다. 세 seed의 SD는 학습 변동을 보여 주며 모집단 신뢰구간이 아닙니다. 최고 평균도 검증을 반복해서 살핀 선택의 결과이므로 test 성능과 구분합니다. 다른 모델 담당자의 구현과 최종 평가, 실제 시연을 제가 완료한 것으로 표시하지 않습니다.</a:t>
            </a:r>
          </a:p>
          <a:p xmlns:a="http://schemas.openxmlformats.org/drawingml/2006/main">
            <a:r>
              <a:t/>
            </a:r>
          </a:p>
          <a:p xmlns:a="http://schemas.openxmlformats.org/drawingml/2006/main">
            <a:r>
              <a:t>출처 및 근거</a:t>
            </a:r>
          </a:p>
          <a:p xmlns:a="http://schemas.openxmlformats.org/drawingml/2006/main">
            <a:r>
              <a:t>https://github.com/kara320090/smartphone-har/blob/main/docs/HANDOFF_KO.md</a:t>
            </a:r>
          </a:p>
          <a:p xmlns:a="http://schemas.openxmlformats.org/drawingml/2006/main">
            <a:r>
              <a:t>https://github.com/kara320090/smartphone-har/blob/main/reports/process_audit/summary.json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슬라이드는 준비된 질문을 이용해 사고 과정을 보여 주기 위한 것입니다. 일부러 틀린 결과나 겪지 않은 사건을 말하지 않습니다. 질문을 던진 다음 최소 재현 입력, 실제 수치, 수정 또는 선택의 이유를 설명합니다. 답하지 못하는 질문은 현재 근거가 없는 범위를 밝히고 어떤 후속 검사로 답할지 제안합니다. 확장 질의응답 문서에는 증거 파일과 피해야 할 과장 표현을 함께 정리했습니다.</a:t>
            </a:r>
          </a:p>
          <a:p xmlns:a="http://schemas.openxmlformats.org/drawingml/2006/main">
            <a:r>
              <a:t/>
            </a:r>
          </a:p>
          <a:p xmlns:a="http://schemas.openxmlformats.org/drawingml/2006/main">
            <a:r>
              <a:t>출처 및 근거</a:t>
            </a:r>
          </a:p>
          <a:p xmlns:a="http://schemas.openxmlformats.org/drawingml/2006/main">
            <a:r>
              <a:t>https://github.com/kara320090/smartphone-har/blob/main/docs/process-report/DEFENSE_QA_KO.md</a:t>
            </a:r>
          </a:p>
          <a:p xmlns:a="http://schemas.openxmlformats.org/drawingml/2006/main">
            <a:r>
              <a:t>https://github.com/kara320090/smartphone-har/blob/main/reports/process_audit/math_controls.json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4606eb4a8f45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24209733ad4993" /><Relationship Type="http://schemas.openxmlformats.org/officeDocument/2006/relationships/slideLayout" Target="/ppt/slideLayouts/slideLayout1.xml" Id="R7be6af26ba224b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e6af26ba224b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ac0766a84e43a2" /><Relationship Type="http://schemas.openxmlformats.org/officeDocument/2006/relationships/notesSlide" Target="/ppt/notesSlides/notesSlide1.xml" Id="Rf3bceb1357eb47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5ef25fe376e44c5" /><Relationship Type="http://schemas.openxmlformats.org/officeDocument/2006/relationships/notesSlide" Target="/ppt/notesSlides/notesSlide2.xml" Id="R0382b5f804454c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fc1fc91829f4dc2" /><Relationship Type="http://schemas.openxmlformats.org/officeDocument/2006/relationships/notesSlide" Target="/ppt/notesSlides/notesSlide3.xml" Id="R3bdd0fffe1a846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80a20dfdfdf48f2" /><Relationship Type="http://schemas.openxmlformats.org/officeDocument/2006/relationships/notesSlide" Target="/ppt/notesSlides/notesSlide4.xml" Id="R48fbfb0bd3e248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a0188fe02f2417e" /><Relationship Type="http://schemas.openxmlformats.org/officeDocument/2006/relationships/notesSlide" Target="/ppt/notesSlides/notesSlide5.xml" Id="Red0eccfcdf0943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e221ccdde64907" /><Relationship Type="http://schemas.openxmlformats.org/officeDocument/2006/relationships/notesSlide" Target="/ppt/notesSlides/notesSlide6.xml" Id="R206195ca2a594b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49877148bc4c7f" /><Relationship Type="http://schemas.openxmlformats.org/officeDocument/2006/relationships/chart" Target="/ppt/slides/charts/chart1.xml" Id="Rd4a341a20fe246b5" /><Relationship Type="http://schemas.openxmlformats.org/officeDocument/2006/relationships/notesSlide" Target="/ppt/notesSlides/notesSlide7.xml" Id="R3225a2785dde4e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df5bb9630cf4d45" /><Relationship Type="http://schemas.openxmlformats.org/officeDocument/2006/relationships/notesSlide" Target="/ppt/notesSlides/notesSlide8.xml" Id="R867fae6cedd144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caed8f9f47c40b3" /><Relationship Type="http://schemas.openxmlformats.org/officeDocument/2006/relationships/notesSlide" Target="/ppt/notesSlides/notesSlide9.xml" Id="R56e8c2583f8f48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7f520c2a98043b9" /><Relationship Type="http://schemas.openxmlformats.org/officeDocument/2006/relationships/notesSlide" Target="/ppt/notesSlides/notesSlide10.xml" Id="R158ac92e4ec54d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a3b89324fce4b4c" /><Relationship Type="http://schemas.openxmlformats.org/officeDocument/2006/relationships/notesSlide" Target="/ppt/notesSlides/notesSlide11.xml" Id="R4b8ae1780a2c45a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981de78c7204fd9" /><Relationship Type="http://schemas.openxmlformats.org/officeDocument/2006/relationships/notesSlide" Target="/ppt/notesSlides/notesSlide12.xml" Id="R9a6ce28ac3944e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a817f3e02a7464d" /><Relationship Type="http://schemas.openxmlformats.org/officeDocument/2006/relationships/notesSlide" Target="/ppt/notesSlides/notesSlide13.xml" Id="R79102c23b59c4d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4ae9b5ceca34636" /><Relationship Type="http://schemas.openxmlformats.org/officeDocument/2006/relationships/notesSlide" Target="/ppt/notesSlides/notesSlide14.xml" Id="R599efe3302554ce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8ed785ff6f14220" /><Relationship Type="http://schemas.openxmlformats.org/officeDocument/2006/relationships/chart" Target="/ppt/slides/charts/chart2.xml" Id="Rd2df431c305c4650" /><Relationship Type="http://schemas.openxmlformats.org/officeDocument/2006/relationships/notesSlide" Target="/ppt/notesSlides/notesSlide15.xml" Id="R355e8456b7e54e7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fcb0b442dc84f07" /><Relationship Type="http://schemas.openxmlformats.org/officeDocument/2006/relationships/notesSlide" Target="/ppt/notesSlides/notesSlide16.xml" Id="Ra204bc4b9cb34c7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602f514b76e444b" /><Relationship Type="http://schemas.openxmlformats.org/officeDocument/2006/relationships/notesSlide" Target="/ppt/notesSlides/notesSlide17.xml" Id="R4b95404090574fd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c9647ee2eba4ad9" /><Relationship Type="http://schemas.openxmlformats.org/officeDocument/2006/relationships/notesSlide" Target="/ppt/notesSlides/notesSlide18.xml" Id="R833497d1e7df463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3c6265371ea4667" /><Relationship Type="http://schemas.openxmlformats.org/officeDocument/2006/relationships/notesSlide" Target="/ppt/notesSlides/notesSlide19.xml" Id="R9b9d6fb8cf74447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09d453b4c61479e" /><Relationship Type="http://schemas.openxmlformats.org/officeDocument/2006/relationships/notesSlide" Target="/ppt/notesSlides/notesSlide20.xml" Id="R625144fd13d140d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E02</c:v>
          </c:tx>
          <c:spPr>
            <a:solidFill xmlns:a="http://schemas.openxmlformats.org/drawingml/2006/main">
              <a:srgbClr val="17364A"/>
            </a:solidFill>
          </c:spPr>
          <c:cat>
            <c:numRef>
              <c:f>'Chart Data'!$A$2:$A$4</c:f>
              <c:numCache>
                <c:formatCode>General</c:formatCode>
                <c:ptCount val="3"/>
                <c:pt idx="0">
                  <c:v>2026</c:v>
                </c:pt>
                <c:pt idx="1">
                  <c:v>2027</c:v>
                </c:pt>
                <c:pt idx="2">
                  <c:v>2028</c:v>
                </c:pt>
              </c:numCache>
            </c:numRef>
          </c:cat>
          <c:val>
            <c:numRef>
              <c:f>'Chart Data'!$B$2:$B$4</c:f>
              <c:numCache>
                <c:formatCode>0.0000</c:formatCode>
                <c:ptCount val="3"/>
                <c:pt idx="0">
                  <c:v>0.913832</c:v>
                </c:pt>
                <c:pt idx="1">
                  <c:v>0.890632</c:v>
                </c:pt>
                <c:pt idx="2">
                  <c:v>0.90936</c:v>
                </c:pt>
              </c:numCache>
            </c:numRef>
          </c:val>
        </c:ser>
        <c:ser>
          <c:idx val="1"/>
          <c:order val="1"/>
          <c:tx>
            <c:v>E08</c:v>
          </c:tx>
          <c:spPr>
            <a:solidFill xmlns:a="http://schemas.openxmlformats.org/drawingml/2006/main">
              <a:srgbClr val="95AABA"/>
            </a:solidFill>
          </c:spPr>
          <c:cat>
            <c:numRef>
              <c:f>'Chart Data'!$C$2:$C$4</c:f>
              <c:numCache>
                <c:formatCode>General</c:formatCode>
                <c:ptCount val="3"/>
                <c:pt idx="0">
                  <c:v>2026</c:v>
                </c:pt>
                <c:pt idx="1">
                  <c:v>2027</c:v>
                </c:pt>
                <c:pt idx="2">
                  <c:v>2028</c:v>
                </c:pt>
              </c:numCache>
            </c:numRef>
          </c:cat>
          <c:val>
            <c:numRef>
              <c:f>'Chart Data'!$D$2:$D$4</c:f>
              <c:numCache>
                <c:formatCode>0.0000</c:formatCode>
                <c:ptCount val="3"/>
                <c:pt idx="0">
                  <c:v>0.893953</c:v>
                </c:pt>
                <c:pt idx="1">
                  <c:v>0.881017</c:v>
                </c:pt>
                <c:pt idx="2">
                  <c:v>0.831973</c:v>
                </c:pt>
              </c:numCache>
            </c:numRef>
          </c:val>
        </c:ser>
        <c:ser>
          <c:idx val="2"/>
          <c:order val="2"/>
          <c:tx>
            <c:v>E08W</c:v>
          </c:tx>
          <c:spPr>
            <a:solidFill xmlns:a="http://schemas.openxmlformats.org/drawingml/2006/main">
              <a:srgbClr val="176C77"/>
            </a:solidFill>
          </c:spPr>
          <c:cat>
            <c:numRef>
              <c:f>'Chart Data'!$E$2:$E$4</c:f>
              <c:numCache>
                <c:formatCode>General</c:formatCode>
                <c:ptCount val="3"/>
                <c:pt idx="0">
                  <c:v>2026</c:v>
                </c:pt>
                <c:pt idx="1">
                  <c:v>2027</c:v>
                </c:pt>
                <c:pt idx="2">
                  <c:v>2028</c:v>
                </c:pt>
              </c:numCache>
            </c:numRef>
          </c:cat>
          <c:val>
            <c:numRef>
              <c:f>'Chart Data'!$F$2:$F$4</c:f>
              <c:numCache>
                <c:formatCode>0.0000</c:formatCode>
                <c:ptCount val="3"/>
                <c:pt idx="0">
                  <c:v>0.896817</c:v>
                </c:pt>
                <c:pt idx="1">
                  <c:v>0.837327</c:v>
                </c:pt>
                <c:pt idx="2">
                  <c:v>0.88783</c:v>
                </c:pt>
              </c:numCache>
            </c:numRef>
          </c:val>
        </c:ser>
        <c:dLbls>
          <c:txPr>
            <a:bodyPr xmlns:a="http://schemas.openxmlformats.org/drawingml/2006/main" anchorCtr="1"/>
            <a:lstStyle xmlns:a="http://schemas.openxmlformats.org/drawingml/2006/main"/>
            <a:p xmlns:a="http://schemas.openxmlformats.org/drawingml/2006/main">
              <a:pPr>
                <a:defRPr sz="1500">
                  <a:solidFill>
                    <a:srgbClr val="596B77"/>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72768"/>
      </c:catAx>
      <c:valAx>
        <c:axId val="48672768"/>
        <c:scaling>
          <c:orientation val="minMax"/>
          <c:max val="1"/>
          <c:min val="0"/>
        </c:scaling>
        <c:delete val="0"/>
        <c:axPos val="l"/>
        <c:majorGridlines>
          <c:spPr>
            <a:ln xmlns:a="http://schemas.openxmlformats.org/drawingml/2006/main" w="9525">
              <a:solidFill>
                <a:srgbClr val="D9E2E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50112"/>
        <c:crossBetween val="between"/>
        <c:majorUnit val="0.2"/>
      </c:valAx>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seed 2026</c:v>
          </c:tx>
          <c:spPr>
            <a:solidFill xmlns:a="http://schemas.openxmlformats.org/drawingml/2006/main">
              <a:srgbClr val="17364A"/>
            </a:solidFill>
          </c:spPr>
          <c:cat>
            <c:numRef>
              <c:f>'Chart Data'!$A$2:$A$6</c:f>
              <c:numCache>
                <c:formatCode>General</c:formatCode>
                <c:ptCount val="5"/>
                <c:pt idx="0">
                  <c:v>1</c:v>
                </c:pt>
                <c:pt idx="1">
                  <c:v>6</c:v>
                </c:pt>
                <c:pt idx="2">
                  <c:v>14</c:v>
                </c:pt>
                <c:pt idx="3">
                  <c:v>21</c:v>
                </c:pt>
                <c:pt idx="4">
                  <c:v>23</c:v>
                </c:pt>
              </c:numCache>
            </c:numRef>
          </c:cat>
          <c:val>
            <c:numRef>
              <c:f>'Chart Data'!$B$2:$B$6</c:f>
              <c:numCache>
                <c:formatCode>General</c:formatCode>
                <c:ptCount val="5"/>
                <c:pt idx="0">
                  <c:v>0.956675</c:v>
                </c:pt>
                <c:pt idx="1">
                  <c:v>0.774008</c:v>
                </c:pt>
                <c:pt idx="2">
                  <c:v>0.861317</c:v>
                </c:pt>
                <c:pt idx="3">
                  <c:v>0.94801</c:v>
                </c:pt>
                <c:pt idx="4">
                  <c:v>0.984786</c:v>
                </c:pt>
              </c:numCache>
            </c:numRef>
          </c:val>
        </c:ser>
        <c:ser>
          <c:idx val="1"/>
          <c:order val="1"/>
          <c:tx>
            <c:v>seed 2027</c:v>
          </c:tx>
          <c:spPr>
            <a:solidFill xmlns:a="http://schemas.openxmlformats.org/drawingml/2006/main">
              <a:srgbClr val="176C77"/>
            </a:solidFill>
          </c:spPr>
          <c:cat>
            <c:numRef>
              <c:f>'Chart Data'!$C$2:$C$6</c:f>
              <c:numCache>
                <c:formatCode>General</c:formatCode>
                <c:ptCount val="5"/>
                <c:pt idx="0">
                  <c:v>1</c:v>
                </c:pt>
                <c:pt idx="1">
                  <c:v>6</c:v>
                </c:pt>
                <c:pt idx="2">
                  <c:v>14</c:v>
                </c:pt>
                <c:pt idx="3">
                  <c:v>21</c:v>
                </c:pt>
                <c:pt idx="4">
                  <c:v>23</c:v>
                </c:pt>
              </c:numCache>
            </c:numRef>
          </c:cat>
          <c:val>
            <c:numRef>
              <c:f>'Chart Data'!$D$2:$D$6</c:f>
              <c:numCache>
                <c:formatCode>General</c:formatCode>
                <c:ptCount val="5"/>
                <c:pt idx="0">
                  <c:v>0.986568</c:v>
                </c:pt>
                <c:pt idx="1">
                  <c:v>0.894526</c:v>
                </c:pt>
                <c:pt idx="2">
                  <c:v>0.652032</c:v>
                </c:pt>
                <c:pt idx="3">
                  <c:v>0.910671</c:v>
                </c:pt>
                <c:pt idx="4">
                  <c:v>0.965094</c:v>
                </c:pt>
              </c:numCache>
            </c:numRef>
          </c:val>
        </c:ser>
        <c:ser>
          <c:idx val="2"/>
          <c:order val="2"/>
          <c:tx>
            <c:v>seed 2028</c:v>
          </c:tx>
          <c:spPr>
            <a:solidFill xmlns:a="http://schemas.openxmlformats.org/drawingml/2006/main">
              <a:srgbClr val="91ABB8"/>
            </a:solidFill>
          </c:spPr>
          <c:cat>
            <c:numRef>
              <c:f>'Chart Data'!$E$2:$E$6</c:f>
              <c:numCache>
                <c:formatCode>General</c:formatCode>
                <c:ptCount val="5"/>
                <c:pt idx="0">
                  <c:v>1</c:v>
                </c:pt>
                <c:pt idx="1">
                  <c:v>6</c:v>
                </c:pt>
                <c:pt idx="2">
                  <c:v>14</c:v>
                </c:pt>
                <c:pt idx="3">
                  <c:v>21</c:v>
                </c:pt>
                <c:pt idx="4">
                  <c:v>23</c:v>
                </c:pt>
              </c:numCache>
            </c:numRef>
          </c:cat>
          <c:val>
            <c:numRef>
              <c:f>'Chart Data'!$F$2:$F$6</c:f>
              <c:numCache>
                <c:formatCode>General</c:formatCode>
                <c:ptCount val="5"/>
                <c:pt idx="0">
                  <c:v>0.986786</c:v>
                </c:pt>
                <c:pt idx="1">
                  <c:v>0.858622</c:v>
                </c:pt>
                <c:pt idx="2">
                  <c:v>0.746947</c:v>
                </c:pt>
                <c:pt idx="3">
                  <c:v>0.936253</c:v>
                </c:pt>
                <c:pt idx="4">
                  <c:v>0.977417</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검증 사람 ID</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72768"/>
      </c:catAx>
      <c:valAx>
        <c:axId val="48672768"/>
        <c:scaling>
          <c:orientation val="minMax"/>
          <c:max val="1"/>
          <c:min val="0"/>
        </c:scaling>
        <c:delete val="0"/>
        <c:axPos val="l"/>
        <c:majorGridlines>
          <c:spPr>
            <a:ln xmlns:a="http://schemas.openxmlformats.org/drawingml/2006/main" w="9525">
              <a:solidFill>
                <a:srgbClr val="D9E2E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50112"/>
        <c:crossBetween val="between"/>
        <c:majorUnit val="0.2"/>
      </c:valAx>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C3FB09-7174-4817-B6DC-903509766DB2}"/>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이봉헌 · 담당 ② · 구현 과정 심화</a:t>
            </a:r>
          </a:p>
        </p:txBody>
      </p:sp>
      <p:sp>
        <p:nvSpPr>
          <p:cNvPr id="2" name="">
            <a:extLst xmlns:a="http://schemas.openxmlformats.org/drawingml/2006/main">
              <a:ext uri="{FF2B5EF4-FFF2-40B4-BE49-F238E27FC236}">
                <a16:creationId xmlns:a16="http://schemas.microsoft.com/office/drawing/2014/main" id="{04653A37-3258-47E2-A523-CFC5F81CE3CE}"/>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스마트폰 행동 인식</a:t>
            </a:r>
          </a:p>
        </p:txBody>
      </p:sp>
      <p:sp>
        <p:nvSpPr>
          <p:cNvPr id="3" name="">
            <a:extLst xmlns:a="http://schemas.openxmlformats.org/drawingml/2006/main">
              <a:ext uri="{FF2B5EF4-FFF2-40B4-BE49-F238E27FC236}">
                <a16:creationId xmlns:a16="http://schemas.microsoft.com/office/drawing/2014/main" id="{E0B9D4D7-D721-4BE9-BCAF-8FCEE309FF22}"/>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4" name="">
            <a:extLst xmlns:a="http://schemas.openxmlformats.org/drawingml/2006/main">
              <a:ext uri="{FF2B5EF4-FFF2-40B4-BE49-F238E27FC236}">
                <a16:creationId xmlns:a16="http://schemas.microsoft.com/office/drawing/2014/main" id="{75C323AF-F6FC-47AE-A695-D4C3883B0C80}"/>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01</a:t>
            </a:r>
          </a:p>
        </p:txBody>
      </p:sp>
      <p:sp>
        <p:nvSpPr>
          <p:cNvPr id="5" name="">
            <a:extLst xmlns:a="http://schemas.openxmlformats.org/drawingml/2006/main">
              <a:ext uri="{FF2B5EF4-FFF2-40B4-BE49-F238E27FC236}">
                <a16:creationId xmlns:a16="http://schemas.microsoft.com/office/drawing/2014/main" id="{2A357471-B2C2-4EEA-ABDC-BCDF796EA1F3}"/>
              </a:ext>
            </a:extLst>
          </p:cNvPr>
          <p:cNvSpPr>
            <a:spLocks xmlns:a="http://schemas.openxmlformats.org/drawingml/2006/main" noGrp="1"/>
          </p:cNvSpPr>
          <p:nvPr/>
        </p:nvSpPr>
        <p:spPr>
          <a:xfrm xmlns:a="http://schemas.openxmlformats.org/drawingml/2006/main">
            <a:off x="619125" y="1981200"/>
            <a:ext cx="1100137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17364A"/>
                </a:solidFill>
                <a:latin typeface="Malgun Gothic"/>
                <a:ea typeface="Malgun Gothic"/>
                <a:cs typeface="Malgun Gothic"/>
              </a:defRPr>
            </a:pPr>
            <a:r>
              <a:rPr sz="4125" b="1">
                <a:solidFill>
                  <a:srgbClr val="17364A"/>
                </a:solidFill>
                <a:latin typeface="Malgun Gothic"/>
                <a:ea typeface="Malgun Gothic"/>
                <a:cs typeface="Malgun Gothic"/>
              </a:rPr>
              <a:t>입력 오류를 재현하고</a:t>
            </a:r>
          </a:p>
          <a:p xmlns:a="http://schemas.openxmlformats.org/drawingml/2006/main">
            <a:pPr>
              <a:defRPr sz="4125" b="1">
                <a:solidFill>
                  <a:srgbClr val="17364A"/>
                </a:solidFill>
                <a:latin typeface="Malgun Gothic"/>
                <a:ea typeface="Malgun Gothic"/>
                <a:cs typeface="Malgun Gothic"/>
              </a:defRPr>
            </a:pPr>
            <a:r>
              <a:rPr sz="4125" b="1">
                <a:solidFill>
                  <a:srgbClr val="17364A"/>
                </a:solidFill>
                <a:latin typeface="Malgun Gothic"/>
                <a:ea typeface="Malgun Gothic"/>
                <a:cs typeface="Malgun Gothic"/>
              </a:rPr>
              <a:t>비교 실험의 조건을 다시 검증</a:t>
            </a:r>
          </a:p>
        </p:txBody>
      </p:sp>
      <p:sp>
        <p:nvSpPr>
          <p:cNvPr id="6" name="">
            <a:extLst xmlns:a="http://schemas.openxmlformats.org/drawingml/2006/main">
              <a:ext uri="{FF2B5EF4-FFF2-40B4-BE49-F238E27FC236}">
                <a16:creationId xmlns:a16="http://schemas.microsoft.com/office/drawing/2014/main" id="{4C85E194-FDD1-4F9B-8A16-A0ED7C7B2EBA}"/>
              </a:ext>
            </a:extLst>
          </p:cNvPr>
          <p:cNvSpPr>
            <a:spLocks xmlns:a="http://schemas.openxmlformats.org/drawingml/2006/main" noGrp="1"/>
          </p:cNvSpPr>
          <p:nvPr/>
        </p:nvSpPr>
        <p:spPr>
          <a:xfrm xmlns:a="http://schemas.openxmlformats.org/drawingml/2006/main">
            <a:off x="666750" y="4114800"/>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6C77"/>
                </a:solidFill>
                <a:latin typeface="Malgun Gothic"/>
                <a:ea typeface="Malgun Gothic"/>
                <a:cs typeface="Malgun Gothic"/>
              </a:defRPr>
            </a:pPr>
            <a:r>
              <a:rPr sz="2175" b="0">
                <a:solidFill>
                  <a:srgbClr val="176C77"/>
                </a:solidFill>
                <a:latin typeface="Malgun Gothic"/>
                <a:ea typeface="Malgun Gothic"/>
                <a:cs typeface="Malgun Gothic"/>
              </a:rPr>
              <a:t>코드 수정 → 회귀 검사 → 반복 학습 → 초기값 대조</a:t>
            </a:r>
          </a:p>
        </p:txBody>
      </p:sp>
      <p:sp>
        <p:nvSpPr>
          <p:cNvPr id="7" name="">
            <a:extLst xmlns:a="http://schemas.openxmlformats.org/drawingml/2006/main">
              <a:ext uri="{FF2B5EF4-FFF2-40B4-BE49-F238E27FC236}">
                <a16:creationId xmlns:a16="http://schemas.microsoft.com/office/drawing/2014/main" id="{537A42A3-F500-45B7-AFEF-CB6CF3295DCF}"/>
              </a:ext>
            </a:extLst>
          </p:cNvPr>
          <p:cNvSpPr>
            <a:spLocks xmlns:a="http://schemas.openxmlformats.org/drawingml/2006/main" noGrp="1"/>
          </p:cNvSpPr>
          <p:nvPr/>
        </p:nvSpPr>
        <p:spPr>
          <a:xfrm xmlns:a="http://schemas.openxmlformats.org/drawingml/2006/main">
            <a:off x="666750" y="523875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96B77"/>
                </a:solidFill>
                <a:latin typeface="Malgun Gothic"/>
                <a:ea typeface="Malgun Gothic"/>
                <a:cs typeface="Malgun Gothic"/>
              </a:defRPr>
            </a:pPr>
            <a:r>
              <a:rPr sz="1950" b="0">
                <a:solidFill>
                  <a:srgbClr val="596B77"/>
                </a:solidFill>
                <a:latin typeface="Malgun Gothic"/>
                <a:ea typeface="Malgun Gothic"/>
                <a:cs typeface="Malgun Gothic"/>
              </a:rPr>
              <a:t>실제 결함과 의도적 오류 주입을 구분</a:t>
            </a:r>
          </a:p>
          <a:p xmlns:a="http://schemas.openxmlformats.org/drawingml/2006/main">
            <a:pPr>
              <a:defRPr sz="1950" b="0">
                <a:solidFill>
                  <a:srgbClr val="596B77"/>
                </a:solidFill>
                <a:latin typeface="Malgun Gothic"/>
                <a:ea typeface="Malgun Gothic"/>
                <a:cs typeface="Malgun Gothic"/>
              </a:defRPr>
            </a:pPr>
            <a:r>
              <a:rPr sz="1950" b="0">
                <a:solidFill>
                  <a:srgbClr val="596B77"/>
                </a:solidFill>
                <a:latin typeface="Malgun Gothic"/>
                <a:ea typeface="Malgun Gothic"/>
                <a:cs typeface="Malgun Gothic"/>
              </a:rPr>
              <a:t>24회 후속 학습 · 검증 사람 고정 · 공식 test 미평가</a:t>
            </a:r>
          </a:p>
        </p:txBody>
      </p:sp>
    </p:spTree>
    <p:extLst>
      <p:ext uri="{BB962C8B-B14F-4D97-AF65-F5344CB8AC3E}">
        <p14:creationId xmlns:p14="http://schemas.microsoft.com/office/powerpoint/2010/main" val="17841887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C7ACC93-1F93-408F-A0C5-78A520013401}"/>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검증 설계</a:t>
            </a:r>
          </a:p>
        </p:txBody>
      </p:sp>
      <p:sp>
        <p:nvSpPr>
          <p:cNvPr id="2" name="">
            <a:extLst xmlns:a="http://schemas.openxmlformats.org/drawingml/2006/main">
              <a:ext uri="{FF2B5EF4-FFF2-40B4-BE49-F238E27FC236}">
                <a16:creationId xmlns:a16="http://schemas.microsoft.com/office/drawing/2014/main" id="{154B0D9A-1654-4E7C-8F1E-59885669686C}"/>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문제의 종류에 맞춰 검증 방법을 달리했다</a:t>
            </a:r>
          </a:p>
        </p:txBody>
      </p:sp>
      <p:sp>
        <p:nvSpPr>
          <p:cNvPr id="3" name="">
            <a:extLst xmlns:a="http://schemas.openxmlformats.org/drawingml/2006/main">
              <a:ext uri="{FF2B5EF4-FFF2-40B4-BE49-F238E27FC236}">
                <a16:creationId xmlns:a16="http://schemas.microsoft.com/office/drawing/2014/main" id="{25E6A7E2-2752-42F2-8749-072D1046724E}"/>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실제 발견·의도적 대조·관찰을 혼동하지 않기</a:t>
            </a:r>
          </a:p>
        </p:txBody>
      </p:sp>
      <p:sp>
        <p:nvSpPr>
          <p:cNvPr id="4" name="">
            <a:extLst xmlns:a="http://schemas.openxmlformats.org/drawingml/2006/main">
              <a:ext uri="{FF2B5EF4-FFF2-40B4-BE49-F238E27FC236}">
                <a16:creationId xmlns:a16="http://schemas.microsoft.com/office/drawing/2014/main" id="{84DCDCAB-890F-4C2F-8552-2112C6D31A96}"/>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7769EBD1-DDB1-4554-AB48-F8248D6167FC}"/>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02</a:t>
            </a:r>
          </a:p>
        </p:txBody>
      </p:sp>
      <p:sp>
        <p:nvSpPr>
          <p:cNvPr id="6" name="">
            <a:extLst xmlns:a="http://schemas.openxmlformats.org/drawingml/2006/main">
              <a:ext uri="{FF2B5EF4-FFF2-40B4-BE49-F238E27FC236}">
                <a16:creationId xmlns:a16="http://schemas.microsoft.com/office/drawing/2014/main" id="{BDCDD42F-BB02-4872-83FD-BD37DF2DCB61}"/>
              </a:ext>
            </a:extLst>
          </p:cNvPr>
          <p:cNvSpPr>
            <a:spLocks xmlns:a="http://schemas.openxmlformats.org/drawingml/2006/main" noGrp="1"/>
          </p:cNvSpPr>
          <p:nvPr/>
        </p:nvSpPr>
        <p:spPr>
          <a:xfrm xmlns:a="http://schemas.openxmlformats.org/drawingml/2006/main">
            <a:off x="638175" y="22860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실제 코드 결함</a:t>
            </a:r>
          </a:p>
        </p:txBody>
      </p:sp>
      <p:sp>
        <p:nvSpPr>
          <p:cNvPr id="7" name="">
            <a:extLst xmlns:a="http://schemas.openxmlformats.org/drawingml/2006/main">
              <a:ext uri="{FF2B5EF4-FFF2-40B4-BE49-F238E27FC236}">
                <a16:creationId xmlns:a16="http://schemas.microsoft.com/office/drawing/2014/main" id="{7100548A-77F0-458E-93F2-B7431720001A}"/>
              </a:ext>
            </a:extLst>
          </p:cNvPr>
          <p:cNvSpPr>
            <a:spLocks xmlns:a="http://schemas.openxmlformats.org/drawingml/2006/main" noGrp="1"/>
          </p:cNvSpPr>
          <p:nvPr/>
        </p:nvSpPr>
        <p:spPr>
          <a:xfrm xmlns:a="http://schemas.openxmlformats.org/drawingml/2006/main">
            <a:off x="3429000" y="228600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소수·음수 인덱스 통과 / 원본 정렬 불일치</a:t>
            </a:r>
          </a:p>
        </p:txBody>
      </p:sp>
      <p:sp>
        <p:nvSpPr>
          <p:cNvPr id="8" name="">
            <a:extLst xmlns:a="http://schemas.openxmlformats.org/drawingml/2006/main">
              <a:ext uri="{FF2B5EF4-FFF2-40B4-BE49-F238E27FC236}">
                <a16:creationId xmlns:a16="http://schemas.microsoft.com/office/drawing/2014/main" id="{D08FE5CC-7D47-4C58-9EFB-88ED114E5F0C}"/>
              </a:ext>
            </a:extLst>
          </p:cNvPr>
          <p:cNvSpPr>
            <a:spLocks xmlns:a="http://schemas.openxmlformats.org/drawingml/2006/main" noGrp="1"/>
          </p:cNvSpPr>
          <p:nvPr/>
        </p:nvSpPr>
        <p:spPr>
          <a:xfrm xmlns:a="http://schemas.openxmlformats.org/drawingml/2006/main">
            <a:off x="638175" y="31813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비교 설계의 빈틈</a:t>
            </a:r>
          </a:p>
        </p:txBody>
      </p:sp>
      <p:sp>
        <p:nvSpPr>
          <p:cNvPr id="9" name="">
            <a:extLst xmlns:a="http://schemas.openxmlformats.org/drawingml/2006/main">
              <a:ext uri="{FF2B5EF4-FFF2-40B4-BE49-F238E27FC236}">
                <a16:creationId xmlns:a16="http://schemas.microsoft.com/office/drawing/2014/main" id="{1F763725-E987-4E5E-B5BF-5B1DFE225CCA}"/>
              </a:ext>
            </a:extLst>
          </p:cNvPr>
          <p:cNvSpPr>
            <a:spLocks xmlns:a="http://schemas.openxmlformats.org/drawingml/2006/main" noGrp="1"/>
          </p:cNvSpPr>
          <p:nvPr/>
        </p:nvSpPr>
        <p:spPr>
          <a:xfrm xmlns:a="http://schemas.openxmlformats.org/drawingml/2006/main">
            <a:off x="3429000" y="318135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같은 seed에서도 Dropout 모델 초기값이 달라짐</a:t>
            </a:r>
          </a:p>
        </p:txBody>
      </p:sp>
      <p:sp>
        <p:nvSpPr>
          <p:cNvPr id="10" name="">
            <a:extLst xmlns:a="http://schemas.openxmlformats.org/drawingml/2006/main">
              <a:ext uri="{FF2B5EF4-FFF2-40B4-BE49-F238E27FC236}">
                <a16:creationId xmlns:a16="http://schemas.microsoft.com/office/drawing/2014/main" id="{238C0D10-6B1F-44BC-9C6A-28F50D1350D0}"/>
              </a:ext>
            </a:extLst>
          </p:cNvPr>
          <p:cNvSpPr>
            <a:spLocks xmlns:a="http://schemas.openxmlformats.org/drawingml/2006/main" noGrp="1"/>
          </p:cNvSpPr>
          <p:nvPr/>
        </p:nvSpPr>
        <p:spPr>
          <a:xfrm xmlns:a="http://schemas.openxmlformats.org/drawingml/2006/main">
            <a:off x="638175" y="40767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의도적 오류 주입</a:t>
            </a:r>
          </a:p>
        </p:txBody>
      </p:sp>
      <p:sp>
        <p:nvSpPr>
          <p:cNvPr id="11" name="">
            <a:extLst xmlns:a="http://schemas.openxmlformats.org/drawingml/2006/main">
              <a:ext uri="{FF2B5EF4-FFF2-40B4-BE49-F238E27FC236}">
                <a16:creationId xmlns:a16="http://schemas.microsoft.com/office/drawing/2014/main" id="{14974D55-2879-4893-B804-A3872D414E8D}"/>
              </a:ext>
            </a:extLst>
          </p:cNvPr>
          <p:cNvSpPr>
            <a:spLocks xmlns:a="http://schemas.openxmlformats.org/drawingml/2006/main" noGrp="1"/>
          </p:cNvSpPr>
          <p:nvPr/>
        </p:nvSpPr>
        <p:spPr>
          <a:xfrm xmlns:a="http://schemas.openxmlformats.org/drawingml/2006/main">
            <a:off x="3429000" y="407670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배치 평균 누락 / 큰 logits / ReLU 비미분점</a:t>
            </a:r>
          </a:p>
        </p:txBody>
      </p:sp>
      <p:sp>
        <p:nvSpPr>
          <p:cNvPr id="12" name="">
            <a:extLst xmlns:a="http://schemas.openxmlformats.org/drawingml/2006/main">
              <a:ext uri="{FF2B5EF4-FFF2-40B4-BE49-F238E27FC236}">
                <a16:creationId xmlns:a16="http://schemas.microsoft.com/office/drawing/2014/main" id="{D3A073C1-7E40-419F-A05D-0A9E90F20772}"/>
              </a:ext>
            </a:extLst>
          </p:cNvPr>
          <p:cNvSpPr>
            <a:spLocks xmlns:a="http://schemas.openxmlformats.org/drawingml/2006/main" noGrp="1"/>
          </p:cNvSpPr>
          <p:nvPr/>
        </p:nvSpPr>
        <p:spPr>
          <a:xfrm xmlns:a="http://schemas.openxmlformats.org/drawingml/2006/main">
            <a:off x="638175" y="49720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실제 관찰</a:t>
            </a:r>
          </a:p>
        </p:txBody>
      </p:sp>
      <p:sp>
        <p:nvSpPr>
          <p:cNvPr id="13" name="">
            <a:extLst xmlns:a="http://schemas.openxmlformats.org/drawingml/2006/main">
              <a:ext uri="{FF2B5EF4-FFF2-40B4-BE49-F238E27FC236}">
                <a16:creationId xmlns:a16="http://schemas.microsoft.com/office/drawing/2014/main" id="{A3509AD5-92A8-4235-93B4-20FEFA59B2D5}"/>
              </a:ext>
            </a:extLst>
          </p:cNvPr>
          <p:cNvSpPr>
            <a:spLocks xmlns:a="http://schemas.openxmlformats.org/drawingml/2006/main" noGrp="1"/>
          </p:cNvSpPr>
          <p:nvPr/>
        </p:nvSpPr>
        <p:spPr>
          <a:xfrm xmlns:a="http://schemas.openxmlformats.org/drawingml/2006/main">
            <a:off x="3429000" y="497205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seed에 따라 조건별 성능 순위가 달라짐</a:t>
            </a:r>
          </a:p>
        </p:txBody>
      </p:sp>
    </p:spTree>
    <p:extLst>
      <p:ext uri="{BB962C8B-B14F-4D97-AF65-F5344CB8AC3E}">
        <p14:creationId xmlns:p14="http://schemas.microsoft.com/office/powerpoint/2010/main" val="17186622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4EC319-C909-48AC-9522-0765E49F7CB8}"/>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실제 결함 1</a:t>
            </a:r>
          </a:p>
        </p:txBody>
      </p:sp>
      <p:sp>
        <p:nvSpPr>
          <p:cNvPr id="2" name="">
            <a:extLst xmlns:a="http://schemas.openxmlformats.org/drawingml/2006/main">
              <a:ext uri="{FF2B5EF4-FFF2-40B4-BE49-F238E27FC236}">
                <a16:creationId xmlns:a16="http://schemas.microsoft.com/office/drawing/2014/main" id="{54A6BBDF-76A2-47A8-989C-5F7B9D67EAA5}"/>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정수로 바꾸기 전에 인덱스를 검사해야 했다</a:t>
            </a:r>
          </a:p>
        </p:txBody>
      </p:sp>
      <p:sp>
        <p:nvSpPr>
          <p:cNvPr id="3" name="">
            <a:extLst xmlns:a="http://schemas.openxmlformats.org/drawingml/2006/main">
              <a:ext uri="{FF2B5EF4-FFF2-40B4-BE49-F238E27FC236}">
                <a16:creationId xmlns:a16="http://schemas.microsoft.com/office/drawing/2014/main" id="{EC20A9F4-618A-442B-8F3D-1067A12C66E4}"/>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합성 18행 입력으로 수정 전후를 동일하게 재현</a:t>
            </a:r>
          </a:p>
        </p:txBody>
      </p:sp>
      <p:sp>
        <p:nvSpPr>
          <p:cNvPr id="4" name="">
            <a:extLst xmlns:a="http://schemas.openxmlformats.org/drawingml/2006/main">
              <a:ext uri="{FF2B5EF4-FFF2-40B4-BE49-F238E27FC236}">
                <a16:creationId xmlns:a16="http://schemas.microsoft.com/office/drawing/2014/main" id="{A1E66E2F-C35A-4A78-96A6-B6235E60E272}"/>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96250711-281D-4483-ACA3-5C65FCD9A905}"/>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03</a:t>
            </a:r>
          </a:p>
        </p:txBody>
      </p:sp>
      <p:graphicFrame>
        <p:nvGraphicFramePr>
          <p:cNvPr id="14" name=""/>
          <p:cNvGraphicFramePr/>
          <p:nvPr/>
        </p:nvGraphicFramePr>
        <p:xfrm>
          <a:off xmlns:a="http://schemas.openxmlformats.org/drawingml/2006/main" x="619125" y="2286000"/>
          <a:ext xmlns:a="http://schemas.openxmlformats.org/drawingml/2006/main" cx="10953750" cy="2266950"/>
        </p:xfrm>
        <a:graphic xmlns:a="http://schemas.openxmlformats.org/drawingml/2006/main">
          <a:graphicData uri="http://schemas.openxmlformats.org/drawingml/2006/table">
            <a:tbl>
              <a:tblPr/>
              <a:tblGrid>
                <a:gridCol w="3619500"/>
                <a:gridCol w="3667125"/>
                <a:gridCol w="3667125"/>
              </a:tblGrid>
              <a:tr h="566738">
                <a:tc>
                  <a:txBody>
                    <a:bodyPr/>
                    <a:lstStyle/>
                    <a:p>
                      <a:r>
                        <a:rPr sz="2025" b="1">
                          <a:solidFill>
                            <a:srgbClr val="FFFFFF"/>
                          </a:solidFill>
                          <a:latin typeface="Malgun Gothic"/>
                          <a:ea typeface="Malgun Gothic"/>
                          <a:cs typeface="Malgun Gothic"/>
                        </a:rPr>
                        <a:t>입력</a:t>
                      </a:r>
                    </a:p>
                  </a:txBody>
                  <a:tcPr marL="91440" marR="91440" marT="45720" marB="45720">
                    <a:solidFill>
                      <a:srgbClr val="17364A"/>
                    </a:solidFill>
                  </a:tcPr>
                </a:tc>
                <a:tc>
                  <a:txBody>
                    <a:bodyPr/>
                    <a:lstStyle/>
                    <a:p>
                      <a:r>
                        <a:rPr sz="2025" b="1">
                          <a:solidFill>
                            <a:srgbClr val="FFFFFF"/>
                          </a:solidFill>
                          <a:latin typeface="Malgun Gothic"/>
                          <a:ea typeface="Malgun Gothic"/>
                          <a:cs typeface="Malgun Gothic"/>
                        </a:rPr>
                        <a:t>수정 전 선택</a:t>
                      </a:r>
                    </a:p>
                  </a:txBody>
                  <a:tcPr marL="91440" marR="91440" marT="45720" marB="45720">
                    <a:solidFill>
                      <a:srgbClr val="17364A"/>
                    </a:solidFill>
                  </a:tcPr>
                </a:tc>
                <a:tc>
                  <a:txBody>
                    <a:bodyPr/>
                    <a:lstStyle/>
                    <a:p>
                      <a:r>
                        <a:rPr sz="2025" b="1">
                          <a:solidFill>
                            <a:srgbClr val="FFFFFF"/>
                          </a:solidFill>
                          <a:latin typeface="Malgun Gothic"/>
                          <a:ea typeface="Malgun Gothic"/>
                          <a:cs typeface="Malgun Gothic"/>
                        </a:rPr>
                        <a:t>수정 후</a:t>
                      </a:r>
                    </a:p>
                  </a:txBody>
                  <a:tcPr marL="91440" marR="91440" marT="45720" marB="45720">
                    <a:solidFill>
                      <a:srgbClr val="17364A"/>
                    </a:solidFill>
                  </a:tcPr>
                </a:tc>
              </a:tr>
              <a:tr h="566738">
                <a:tc>
                  <a:txBody>
                    <a:bodyPr/>
                    <a:lstStyle/>
                    <a:p>
                      <a:r>
                        <a:rPr sz="2025" b="0">
                          <a:solidFill>
                            <a:srgbClr val="17364A"/>
                          </a:solidFill>
                          <a:latin typeface="Malgun Gothic"/>
                          <a:ea typeface="Malgun Gothic"/>
                          <a:cs typeface="Malgun Gothic"/>
                        </a:rPr>
                        <a:t>0.8, 1.8, …, 5.8</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행 0–5</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정수 벡터 오류</a:t>
                      </a:r>
                    </a:p>
                  </a:txBody>
                  <a:tcPr marL="91440" marR="91440" marT="45720" marB="45720">
                    <a:solidFill>
                      <a:srgbClr val="FFFFFF"/>
                    </a:solidFill>
                  </a:tcPr>
                </a:tc>
              </a:tr>
              <a:tr h="566738">
                <a:tc>
                  <a:txBody>
                    <a:bodyPr/>
                    <a:lstStyle/>
                    <a:p>
                      <a:r>
                        <a:rPr sz="2025" b="0">
                          <a:solidFill>
                            <a:srgbClr val="17364A"/>
                          </a:solidFill>
                          <a:latin typeface="Malgun Gothic"/>
                          <a:ea typeface="Malgun Gothic"/>
                          <a:cs typeface="Malgun Gothic"/>
                        </a:rPr>
                        <a:t>−6, …, −1</a:t>
                      </a:r>
                    </a:p>
                  </a:txBody>
                  <a:tcPr marL="91440" marR="91440" marT="45720" marB="45720">
                    <a:solidFill>
                      <a:srgbClr val="F0F5F7"/>
                    </a:solidFill>
                  </a:tcPr>
                </a:tc>
                <a:tc>
                  <a:txBody>
                    <a:bodyPr/>
                    <a:lstStyle/>
                    <a:p>
                      <a:r>
                        <a:rPr sz="2025" b="0">
                          <a:solidFill>
                            <a:srgbClr val="17364A"/>
                          </a:solidFill>
                          <a:latin typeface="Malgun Gothic"/>
                          <a:ea typeface="Malgun Gothic"/>
                          <a:cs typeface="Malgun Gothic"/>
                        </a:rPr>
                        <a:t>행 12–17</a:t>
                      </a:r>
                    </a:p>
                  </a:txBody>
                  <a:tcPr marL="91440" marR="91440" marT="45720" marB="45720">
                    <a:solidFill>
                      <a:srgbClr val="F0F5F7"/>
                    </a:solidFill>
                  </a:tcPr>
                </a:tc>
                <a:tc>
                  <a:txBody>
                    <a:bodyPr/>
                    <a:lstStyle/>
                    <a:p>
                      <a:r>
                        <a:rPr sz="2025" b="0">
                          <a:solidFill>
                            <a:srgbClr val="17364A"/>
                          </a:solidFill>
                          <a:latin typeface="Malgun Gothic"/>
                          <a:ea typeface="Malgun Gothic"/>
                          <a:cs typeface="Malgun Gothic"/>
                        </a:rPr>
                        <a:t>범위 오류</a:t>
                      </a:r>
                    </a:p>
                  </a:txBody>
                  <a:tcPr marL="91440" marR="91440" marT="45720" marB="45720">
                    <a:solidFill>
                      <a:srgbClr val="F0F5F7"/>
                    </a:solidFill>
                  </a:tcPr>
                </a:tc>
              </a:tr>
              <a:tr h="566738">
                <a:tc>
                  <a:txBody>
                    <a:bodyPr/>
                    <a:lstStyle/>
                    <a:p>
                      <a:r>
                        <a:rPr sz="2025" b="0">
                          <a:solidFill>
                            <a:srgbClr val="17364A"/>
                          </a:solidFill>
                          <a:latin typeface="Malgun Gothic"/>
                          <a:ea typeface="Malgun Gothic"/>
                          <a:cs typeface="Malgun Gothic"/>
                        </a:rPr>
                        <a:t>True, False</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행 1, 0</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정수 벡터 오류</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1D9DD95-DB1A-4966-A2B5-C1C134BC5613}"/>
              </a:ext>
            </a:extLst>
          </p:cNvPr>
          <p:cNvSpPr>
            <a:spLocks xmlns:a="http://schemas.openxmlformats.org/drawingml/2006/main" noGrp="1"/>
          </p:cNvSpPr>
          <p:nvPr/>
        </p:nvSpPr>
        <p:spPr>
          <a:xfrm xmlns:a="http://schemas.openxmlformats.org/drawingml/2006/main">
            <a:off x="685800" y="50196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86236"/>
                </a:solidFill>
                <a:latin typeface="Malgun Gothic"/>
                <a:ea typeface="Malgun Gothic"/>
                <a:cs typeface="Malgun Gothic"/>
              </a:defRPr>
            </a:pPr>
            <a:r>
              <a:rPr sz="2400" b="1">
                <a:solidFill>
                  <a:srgbClr val="B86236"/>
                </a:solidFill>
                <a:latin typeface="Malgun Gothic"/>
                <a:ea typeface="Malgun Gothic"/>
                <a:cs typeface="Malgun Gothic"/>
              </a:rPr>
              <a:t>원인: dtype=int64 변환을 검증으로 취급</a:t>
            </a:r>
          </a:p>
        </p:txBody>
      </p:sp>
      <p:sp>
        <p:nvSpPr>
          <p:cNvPr id="8" name="">
            <a:extLst xmlns:a="http://schemas.openxmlformats.org/drawingml/2006/main">
              <a:ext uri="{FF2B5EF4-FFF2-40B4-BE49-F238E27FC236}">
                <a16:creationId xmlns:a16="http://schemas.microsoft.com/office/drawing/2014/main" id="{08714872-71CB-4017-80F5-5DA0DC4247D2}"/>
              </a:ext>
            </a:extLst>
          </p:cNvPr>
          <p:cNvSpPr>
            <a:spLocks xmlns:a="http://schemas.openxmlformats.org/drawingml/2006/main" noGrp="1"/>
          </p:cNvSpPr>
          <p:nvPr/>
        </p:nvSpPr>
        <p:spPr>
          <a:xfrm xmlns:a="http://schemas.openxmlformats.org/drawingml/2006/main">
            <a:off x="685800" y="57245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64A"/>
                </a:solidFill>
                <a:latin typeface="Malgun Gothic"/>
                <a:ea typeface="Malgun Gothic"/>
                <a:cs typeface="Malgun Gothic"/>
              </a:defRPr>
            </a:pPr>
            <a:r>
              <a:rPr sz="1950" b="0">
                <a:solidFill>
                  <a:srgbClr val="17364A"/>
                </a:solidFill>
                <a:latin typeface="Malgun Gothic"/>
                <a:ea typeface="Malgun Gothic"/>
                <a:cs typeface="Malgun Gothic"/>
              </a:rPr>
              <a:t>수정: 차원·자료형·범위·중복 확인 후 변환, fit 전에 거부</a:t>
            </a:r>
          </a:p>
        </p:txBody>
      </p:sp>
    </p:spTree>
    <p:extLst>
      <p:ext uri="{BB962C8B-B14F-4D97-AF65-F5344CB8AC3E}">
        <p14:creationId xmlns:p14="http://schemas.microsoft.com/office/powerpoint/2010/main" val="6045220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E5FC4BF-1D84-4198-BAE0-E6377B12BBA0}"/>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실제 결함 2</a:t>
            </a:r>
          </a:p>
        </p:txBody>
      </p:sp>
      <p:sp>
        <p:nvSpPr>
          <p:cNvPr id="2" name="">
            <a:extLst xmlns:a="http://schemas.openxmlformats.org/drawingml/2006/main">
              <a:ext uri="{FF2B5EF4-FFF2-40B4-BE49-F238E27FC236}">
                <a16:creationId xmlns:a16="http://schemas.microsoft.com/office/drawing/2014/main" id="{8C46345D-7E3C-4127-9DDD-B6EEEA487E64}"/>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행 수가 같아도 원본과 모델 입력은 다를 수 있다</a:t>
            </a:r>
          </a:p>
        </p:txBody>
      </p:sp>
      <p:sp>
        <p:nvSpPr>
          <p:cNvPr id="3" name="">
            <a:extLst xmlns:a="http://schemas.openxmlformats.org/drawingml/2006/main">
              <a:ext uri="{FF2B5EF4-FFF2-40B4-BE49-F238E27FC236}">
                <a16:creationId xmlns:a16="http://schemas.microsoft.com/office/drawing/2014/main" id="{A123349C-BC15-4D01-BC25-F057E4692BA2}"/>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raw_validation의 행 순서를 뒤집었을 때</a:t>
            </a:r>
          </a:p>
        </p:txBody>
      </p:sp>
      <p:sp>
        <p:nvSpPr>
          <p:cNvPr id="4" name="">
            <a:extLst xmlns:a="http://schemas.openxmlformats.org/drawingml/2006/main">
              <a:ext uri="{FF2B5EF4-FFF2-40B4-BE49-F238E27FC236}">
                <a16:creationId xmlns:a16="http://schemas.microsoft.com/office/drawing/2014/main" id="{A1666775-587C-4B88-8F30-DA0ED35515CE}"/>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A3C70B14-52A6-4BA0-BB58-1D9DD84C151B}"/>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04</a:t>
            </a:r>
          </a:p>
        </p:txBody>
      </p:sp>
      <p:sp>
        <p:nvSpPr>
          <p:cNvPr id="6" name="">
            <a:extLst xmlns:a="http://schemas.openxmlformats.org/drawingml/2006/main">
              <a:ext uri="{FF2B5EF4-FFF2-40B4-BE49-F238E27FC236}">
                <a16:creationId xmlns:a16="http://schemas.microsoft.com/office/drawing/2014/main" id="{B91619F6-6195-4A3B-ACC9-EBCEE3AC1872}"/>
              </a:ext>
            </a:extLst>
          </p:cNvPr>
          <p:cNvSpPr>
            <a:spLocks xmlns:a="http://schemas.openxmlformats.org/drawingml/2006/main" noGrp="1"/>
          </p:cNvSpPr>
          <p:nvPr/>
        </p:nvSpPr>
        <p:spPr>
          <a:xfrm xmlns:a="http://schemas.openxmlformats.org/drawingml/2006/main">
            <a:off x="685800" y="2362200"/>
            <a:ext cx="5429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B86236"/>
                </a:solidFill>
                <a:latin typeface="Malgun Gothic"/>
                <a:ea typeface="Malgun Gothic"/>
                <a:cs typeface="Malgun Gothic"/>
              </a:defRPr>
            </a:pPr>
            <a:r>
              <a:rPr sz="5400" b="1">
                <a:solidFill>
                  <a:srgbClr val="B86236"/>
                </a:solidFill>
                <a:latin typeface="Malgun Gothic"/>
                <a:ea typeface="Malgun Gothic"/>
                <a:cs typeface="Malgun Gothic"/>
              </a:rPr>
              <a:t>11.6729</a:t>
            </a:r>
          </a:p>
        </p:txBody>
      </p:sp>
      <p:sp>
        <p:nvSpPr>
          <p:cNvPr id="7" name="">
            <a:extLst xmlns:a="http://schemas.openxmlformats.org/drawingml/2006/main">
              <a:ext uri="{FF2B5EF4-FFF2-40B4-BE49-F238E27FC236}">
                <a16:creationId xmlns:a16="http://schemas.microsoft.com/office/drawing/2014/main" id="{1A0FDE57-B4A6-4933-B7A0-843DD4FAA2E7}"/>
              </a:ext>
            </a:extLst>
          </p:cNvPr>
          <p:cNvSpPr>
            <a:spLocks xmlns:a="http://schemas.openxmlformats.org/drawingml/2006/main" noGrp="1"/>
          </p:cNvSpPr>
          <p:nvPr/>
        </p:nvSpPr>
        <p:spPr>
          <a:xfrm xmlns:a="http://schemas.openxmlformats.org/drawingml/2006/main">
            <a:off x="742950" y="3571875"/>
            <a:ext cx="10001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64A"/>
                </a:solidFill>
                <a:latin typeface="Malgun Gothic"/>
                <a:ea typeface="Malgun Gothic"/>
                <a:cs typeface="Malgun Gothic"/>
              </a:defRPr>
            </a:pPr>
            <a:r>
              <a:rPr sz="2325" b="0">
                <a:solidFill>
                  <a:srgbClr val="17364A"/>
                </a:solidFill>
                <a:latin typeface="Malgun Gothic"/>
                <a:ea typeface="Malgun Gothic"/>
                <a:cs typeface="Malgun Gothic"/>
              </a:rPr>
              <a:t>변환한 원본과 모델 입력의 최대 차이</a:t>
            </a:r>
          </a:p>
          <a:p xmlns:a="http://schemas.openxmlformats.org/drawingml/2006/main">
            <a:pPr>
              <a:defRPr sz="2325" b="0">
                <a:solidFill>
                  <a:srgbClr val="17364A"/>
                </a:solidFill>
                <a:latin typeface="Malgun Gothic"/>
                <a:ea typeface="Malgun Gothic"/>
                <a:cs typeface="Malgun Gothic"/>
              </a:defRPr>
            </a:pPr>
            <a:r>
              <a:rPr sz="2325" b="0">
                <a:solidFill>
                  <a:srgbClr val="17364A"/>
                </a:solidFill>
                <a:latin typeface="Malgun Gothic"/>
                <a:ea typeface="Malgun Gothic"/>
                <a:cs typeface="Malgun Gothic"/>
              </a:rPr>
              <a:t>그런데 기존 길이 검사는 통과</a:t>
            </a:r>
          </a:p>
        </p:txBody>
      </p:sp>
      <p:sp>
        <p:nvSpPr>
          <p:cNvPr id="8" name="">
            <a:extLst xmlns:a="http://schemas.openxmlformats.org/drawingml/2006/main">
              <a:ext uri="{FF2B5EF4-FFF2-40B4-BE49-F238E27FC236}">
                <a16:creationId xmlns:a16="http://schemas.microsoft.com/office/drawing/2014/main" id="{EC4D506E-B30B-44C1-B43B-EF4BFAF12DC1}"/>
              </a:ext>
            </a:extLst>
          </p:cNvPr>
          <p:cNvSpPr>
            <a:spLocks xmlns:a="http://schemas.openxmlformats.org/drawingml/2006/main" noGrp="1"/>
          </p:cNvSpPr>
          <p:nvPr/>
        </p:nvSpPr>
        <p:spPr>
          <a:xfrm xmlns:a="http://schemas.openxmlformats.org/drawingml/2006/main">
            <a:off x="714375" y="50101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6C77"/>
                </a:solidFill>
                <a:latin typeface="Malgun Gothic"/>
                <a:ea typeface="Malgun Gothic"/>
                <a:cs typeface="Malgun Gothic"/>
              </a:defRPr>
            </a:pPr>
            <a:r>
              <a:rPr sz="2400" b="1">
                <a:solidFill>
                  <a:srgbClr val="176C77"/>
                </a:solidFill>
                <a:latin typeface="Malgun Gothic"/>
                <a:ea typeface="Malgun Gothic"/>
                <a:cs typeface="Malgun Gothic"/>
              </a:rPr>
              <a:t>수정: 저장 전처리로 다시 변환한 전체 배열을 비교</a:t>
            </a:r>
          </a:p>
        </p:txBody>
      </p:sp>
      <p:sp>
        <p:nvSpPr>
          <p:cNvPr id="9" name="">
            <a:extLst xmlns:a="http://schemas.openxmlformats.org/drawingml/2006/main">
              <a:ext uri="{FF2B5EF4-FFF2-40B4-BE49-F238E27FC236}">
                <a16:creationId xmlns:a16="http://schemas.microsoft.com/office/drawing/2014/main" id="{C93CC018-89E8-4AB1-A132-F5EE67C6E735}"/>
              </a:ext>
            </a:extLst>
          </p:cNvPr>
          <p:cNvSpPr>
            <a:spLocks xmlns:a="http://schemas.openxmlformats.org/drawingml/2006/main" noGrp="1"/>
          </p:cNvSpPr>
          <p:nvPr/>
        </p:nvSpPr>
        <p:spPr>
          <a:xfrm xmlns:a="http://schemas.openxmlformats.org/drawingml/2006/main">
            <a:off x="723900" y="57435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shape · 유한값 · 수치 확인 / rtol 10⁻⁵, atol 10⁻⁶</a:t>
            </a:r>
          </a:p>
        </p:txBody>
      </p:sp>
    </p:spTree>
    <p:extLst>
      <p:ext uri="{BB962C8B-B14F-4D97-AF65-F5344CB8AC3E}">
        <p14:creationId xmlns:p14="http://schemas.microsoft.com/office/powerpoint/2010/main" val="3694568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59AB07E-71F7-4BD0-A635-3E85474A845D}"/>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회귀 검사</a:t>
            </a:r>
          </a:p>
        </p:txBody>
      </p:sp>
      <p:sp>
        <p:nvSpPr>
          <p:cNvPr id="2" name="">
            <a:extLst xmlns:a="http://schemas.openxmlformats.org/drawingml/2006/main">
              <a:ext uri="{FF2B5EF4-FFF2-40B4-BE49-F238E27FC236}">
                <a16:creationId xmlns:a16="http://schemas.microsoft.com/office/drawing/2014/main" id="{D9151567-DAAC-4239-9FE3-D3E77AC95F7A}"/>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실패를 고정한 뒤 정상 경로까지 다시 확인했다</a:t>
            </a:r>
          </a:p>
        </p:txBody>
      </p:sp>
      <p:sp>
        <p:nvSpPr>
          <p:cNvPr id="3" name="">
            <a:extLst xmlns:a="http://schemas.openxmlformats.org/drawingml/2006/main">
              <a:ext uri="{FF2B5EF4-FFF2-40B4-BE49-F238E27FC236}">
                <a16:creationId xmlns:a16="http://schemas.microsoft.com/office/drawing/2014/main" id="{7389D72E-AC65-4039-9265-221EDB739C75}"/>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신규 계약 검사 16개와 기존 검사 8개</a:t>
            </a:r>
          </a:p>
        </p:txBody>
      </p:sp>
      <p:sp>
        <p:nvSpPr>
          <p:cNvPr id="4" name="">
            <a:extLst xmlns:a="http://schemas.openxmlformats.org/drawingml/2006/main">
              <a:ext uri="{FF2B5EF4-FFF2-40B4-BE49-F238E27FC236}">
                <a16:creationId xmlns:a16="http://schemas.microsoft.com/office/drawing/2014/main" id="{2B1FC6D6-0067-411E-8F5B-1619A2D1A7FC}"/>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F6B3DB56-FB18-4064-BCD5-C16F96660742}"/>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05</a:t>
            </a:r>
          </a:p>
        </p:txBody>
      </p:sp>
      <p:sp>
        <p:nvSpPr>
          <p:cNvPr id="6" name="">
            <a:extLst xmlns:a="http://schemas.openxmlformats.org/drawingml/2006/main">
              <a:ext uri="{FF2B5EF4-FFF2-40B4-BE49-F238E27FC236}">
                <a16:creationId xmlns:a16="http://schemas.microsoft.com/office/drawing/2014/main" id="{0811ADCE-5491-4812-9090-B275A28A3888}"/>
              </a:ext>
            </a:extLst>
          </p:cNvPr>
          <p:cNvSpPr>
            <a:spLocks xmlns:a="http://schemas.openxmlformats.org/drawingml/2006/main" noGrp="1"/>
          </p:cNvSpPr>
          <p:nvPr/>
        </p:nvSpPr>
        <p:spPr>
          <a:xfrm xmlns:a="http://schemas.openxmlformats.org/drawingml/2006/main">
            <a:off x="742950" y="242887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B86236"/>
                </a:solidFill>
                <a:latin typeface="Malgun Gothic"/>
                <a:ea typeface="Malgun Gothic"/>
                <a:cs typeface="Malgun Gothic"/>
              </a:defRPr>
            </a:pPr>
            <a:r>
              <a:rPr sz="4950" b="1">
                <a:solidFill>
                  <a:srgbClr val="B86236"/>
                </a:solidFill>
                <a:latin typeface="Malgun Gothic"/>
                <a:ea typeface="Malgun Gothic"/>
                <a:cs typeface="Malgun Gothic"/>
              </a:rPr>
              <a:t>15 실패</a:t>
            </a:r>
          </a:p>
        </p:txBody>
      </p:sp>
      <p:sp>
        <p:nvSpPr>
          <p:cNvPr id="7" name="">
            <a:extLst xmlns:a="http://schemas.openxmlformats.org/drawingml/2006/main">
              <a:ext uri="{FF2B5EF4-FFF2-40B4-BE49-F238E27FC236}">
                <a16:creationId xmlns:a16="http://schemas.microsoft.com/office/drawing/2014/main" id="{DF1BB957-C3AF-4C6D-A166-1839C3429564}"/>
              </a:ext>
            </a:extLst>
          </p:cNvPr>
          <p:cNvSpPr>
            <a:spLocks xmlns:a="http://schemas.openxmlformats.org/drawingml/2006/main" noGrp="1"/>
          </p:cNvSpPr>
          <p:nvPr/>
        </p:nvSpPr>
        <p:spPr>
          <a:xfrm xmlns:a="http://schemas.openxmlformats.org/drawingml/2006/main">
            <a:off x="6800850" y="2428875"/>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176C77"/>
                </a:solidFill>
                <a:latin typeface="Malgun Gothic"/>
                <a:ea typeface="Malgun Gothic"/>
                <a:cs typeface="Malgun Gothic"/>
              </a:defRPr>
            </a:pPr>
            <a:r>
              <a:rPr sz="4950" b="1">
                <a:solidFill>
                  <a:srgbClr val="176C77"/>
                </a:solidFill>
                <a:latin typeface="Malgun Gothic"/>
                <a:ea typeface="Malgun Gothic"/>
                <a:cs typeface="Malgun Gothic"/>
              </a:rPr>
              <a:t>24 통과</a:t>
            </a:r>
          </a:p>
        </p:txBody>
      </p:sp>
      <p:sp>
        <p:nvSpPr>
          <p:cNvPr id="8" name="">
            <a:extLst xmlns:a="http://schemas.openxmlformats.org/drawingml/2006/main">
              <a:ext uri="{FF2B5EF4-FFF2-40B4-BE49-F238E27FC236}">
                <a16:creationId xmlns:a16="http://schemas.microsoft.com/office/drawing/2014/main" id="{EB7B72DD-1112-4490-8A4C-500BBB97D26C}"/>
              </a:ext>
            </a:extLst>
          </p:cNvPr>
          <p:cNvSpPr>
            <a:spLocks xmlns:a="http://schemas.openxmlformats.org/drawingml/2006/main" noGrp="1"/>
          </p:cNvSpPr>
          <p:nvPr/>
        </p:nvSpPr>
        <p:spPr>
          <a:xfrm xmlns:a="http://schemas.openxmlformats.org/drawingml/2006/main">
            <a:off x="762000" y="3714750"/>
            <a:ext cx="4572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64A"/>
                </a:solidFill>
                <a:latin typeface="Malgun Gothic"/>
                <a:ea typeface="Malgun Gothic"/>
                <a:cs typeface="Malgun Gothic"/>
              </a:defRPr>
            </a:pPr>
            <a:r>
              <a:rPr sz="2250" b="0">
                <a:solidFill>
                  <a:srgbClr val="17364A"/>
                </a:solidFill>
                <a:latin typeface="Malgun Gothic"/>
                <a:ea typeface="Malgun Gothic"/>
                <a:cs typeface="Malgun Gothic"/>
              </a:rPr>
              <a:t>수정 전 신규 16개 중</a:t>
            </a:r>
          </a:p>
          <a:p xmlns:a="http://schemas.openxmlformats.org/drawingml/2006/main">
            <a:pPr>
              <a:defRPr sz="2250" b="0">
                <a:solidFill>
                  <a:srgbClr val="17364A"/>
                </a:solidFill>
                <a:latin typeface="Malgun Gothic"/>
                <a:ea typeface="Malgun Gothic"/>
                <a:cs typeface="Malgun Gothic"/>
              </a:defRPr>
            </a:pPr>
            <a:r>
              <a:rPr sz="2250" b="0">
                <a:solidFill>
                  <a:srgbClr val="17364A"/>
                </a:solidFill>
                <a:latin typeface="Malgun Gothic"/>
                <a:ea typeface="Malgun Gothic"/>
                <a:cs typeface="Malgun Gothic"/>
              </a:rPr>
              <a:t>15실패 · 1통과</a:t>
            </a:r>
          </a:p>
        </p:txBody>
      </p:sp>
      <p:sp>
        <p:nvSpPr>
          <p:cNvPr id="9" name="">
            <a:extLst xmlns:a="http://schemas.openxmlformats.org/drawingml/2006/main">
              <a:ext uri="{FF2B5EF4-FFF2-40B4-BE49-F238E27FC236}">
                <a16:creationId xmlns:a16="http://schemas.microsoft.com/office/drawing/2014/main" id="{1D07C029-4F56-47BE-9164-890197172120}"/>
              </a:ext>
            </a:extLst>
          </p:cNvPr>
          <p:cNvSpPr>
            <a:spLocks xmlns:a="http://schemas.openxmlformats.org/drawingml/2006/main" noGrp="1"/>
          </p:cNvSpPr>
          <p:nvPr/>
        </p:nvSpPr>
        <p:spPr>
          <a:xfrm xmlns:a="http://schemas.openxmlformats.org/drawingml/2006/main">
            <a:off x="6838950" y="3714750"/>
            <a:ext cx="4619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64A"/>
                </a:solidFill>
                <a:latin typeface="Malgun Gothic"/>
                <a:ea typeface="Malgun Gothic"/>
                <a:cs typeface="Malgun Gothic"/>
              </a:defRPr>
            </a:pPr>
            <a:r>
              <a:rPr sz="2250" b="0">
                <a:solidFill>
                  <a:srgbClr val="17364A"/>
                </a:solidFill>
                <a:latin typeface="Malgun Gothic"/>
                <a:ea typeface="Malgun Gothic"/>
                <a:cs typeface="Malgun Gothic"/>
              </a:rPr>
              <a:t>수정 후 신규 16개</a:t>
            </a:r>
          </a:p>
          <a:p xmlns:a="http://schemas.openxmlformats.org/drawingml/2006/main">
            <a:pPr>
              <a:defRPr sz="2250" b="0">
                <a:solidFill>
                  <a:srgbClr val="17364A"/>
                </a:solidFill>
                <a:latin typeface="Malgun Gothic"/>
                <a:ea typeface="Malgun Gothic"/>
                <a:cs typeface="Malgun Gothic"/>
              </a:defRPr>
            </a:pPr>
            <a:r>
              <a:rPr sz="2250" b="0">
                <a:solidFill>
                  <a:srgbClr val="17364A"/>
                </a:solidFill>
                <a:latin typeface="Malgun Gothic"/>
                <a:ea typeface="Malgun Gothic"/>
                <a:cs typeface="Malgun Gothic"/>
              </a:rPr>
              <a:t>+ 기존 8개 모두 통과</a:t>
            </a:r>
          </a:p>
        </p:txBody>
      </p:sp>
      <p:sp>
        <p:nvSpPr>
          <p:cNvPr id="10" name="">
            <a:extLst xmlns:a="http://schemas.openxmlformats.org/drawingml/2006/main">
              <a:ext uri="{FF2B5EF4-FFF2-40B4-BE49-F238E27FC236}">
                <a16:creationId xmlns:a16="http://schemas.microsoft.com/office/drawing/2014/main" id="{7A7ADBF4-BC36-4B21-8517-F926D259AB47}"/>
              </a:ext>
            </a:extLst>
          </p:cNvPr>
          <p:cNvSpPr>
            <a:spLocks xmlns:a="http://schemas.openxmlformats.org/drawingml/2006/main" noGrp="1"/>
          </p:cNvSpPr>
          <p:nvPr/>
        </p:nvSpPr>
        <p:spPr>
          <a:xfrm xmlns:a="http://schemas.openxmlformats.org/drawingml/2006/main">
            <a:off x="723900" y="547687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검증 값에 10,000을 더해도 학습 통계는 변하지 않아야 한다.</a:t>
            </a:r>
          </a:p>
        </p:txBody>
      </p:sp>
    </p:spTree>
    <p:extLst>
      <p:ext uri="{BB962C8B-B14F-4D97-AF65-F5344CB8AC3E}">
        <p14:creationId xmlns:p14="http://schemas.microsoft.com/office/powerpoint/2010/main" val="9864824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F550C06-D699-44F9-B791-954FBE654ABC}"/>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비교 설계의 발견</a:t>
            </a:r>
          </a:p>
        </p:txBody>
      </p:sp>
      <p:sp>
        <p:nvSpPr>
          <p:cNvPr id="2" name="">
            <a:extLst xmlns:a="http://schemas.openxmlformats.org/drawingml/2006/main">
              <a:ext uri="{FF2B5EF4-FFF2-40B4-BE49-F238E27FC236}">
                <a16:creationId xmlns:a16="http://schemas.microsoft.com/office/drawing/2014/main" id="{B5276D89-BB61-4332-8053-8212E2ABBD4D}"/>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같은 seed라도 초기 가중치는 같지 않았다</a:t>
            </a:r>
          </a:p>
        </p:txBody>
      </p:sp>
      <p:sp>
        <p:nvSpPr>
          <p:cNvPr id="3" name="">
            <a:extLst xmlns:a="http://schemas.openxmlformats.org/drawingml/2006/main">
              <a:ext uri="{FF2B5EF4-FFF2-40B4-BE49-F238E27FC236}">
                <a16:creationId xmlns:a16="http://schemas.microsoft.com/office/drawing/2014/main" id="{082958E6-5522-4C6E-B821-D5E338F27A13}"/>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E02와 Dropout 0.3인 E08의 학습 전 Dense 배열 비교</a:t>
            </a:r>
          </a:p>
        </p:txBody>
      </p:sp>
      <p:sp>
        <p:nvSpPr>
          <p:cNvPr id="4" name="">
            <a:extLst xmlns:a="http://schemas.openxmlformats.org/drawingml/2006/main">
              <a:ext uri="{FF2B5EF4-FFF2-40B4-BE49-F238E27FC236}">
                <a16:creationId xmlns:a16="http://schemas.microsoft.com/office/drawing/2014/main" id="{D8173906-B431-436D-A867-563E6CEF477E}"/>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F3C1ECD3-FAF7-4AC1-AC17-13F375B6EA9A}"/>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06</a:t>
            </a:r>
          </a:p>
        </p:txBody>
      </p:sp>
      <p:graphicFrame>
        <p:nvGraphicFramePr>
          <p:cNvPr id="14" name=""/>
          <p:cNvGraphicFramePr/>
          <p:nvPr/>
        </p:nvGraphicFramePr>
        <p:xfrm>
          <a:off xmlns:a="http://schemas.openxmlformats.org/drawingml/2006/main" x="619125" y="2333625"/>
          <a:ext xmlns:a="http://schemas.openxmlformats.org/drawingml/2006/main" cx="10953750" cy="2371725"/>
        </p:xfrm>
        <a:graphic xmlns:a="http://schemas.openxmlformats.org/drawingml/2006/main">
          <a:graphicData uri="http://schemas.openxmlformats.org/drawingml/2006/table">
            <a:tbl>
              <a:tblPr/>
              <a:tblGrid>
                <a:gridCol w="1809750"/>
                <a:gridCol w="2857500"/>
                <a:gridCol w="3143250"/>
                <a:gridCol w="3143250"/>
              </a:tblGrid>
              <a:tr h="592931">
                <a:tc>
                  <a:txBody>
                    <a:bodyPr/>
                    <a:lstStyle/>
                    <a:p>
                      <a:r>
                        <a:rPr sz="1875" b="1">
                          <a:solidFill>
                            <a:srgbClr val="FFFFFF"/>
                          </a:solidFill>
                          <a:latin typeface="Malgun Gothic"/>
                          <a:ea typeface="Malgun Gothic"/>
                          <a:cs typeface="Malgun Gothic"/>
                        </a:rPr>
                        <a:t>seed</a:t>
                      </a:r>
                    </a:p>
                  </a:txBody>
                  <a:tcPr marL="91440" marR="91440" marT="45720" marB="45720">
                    <a:solidFill>
                      <a:srgbClr val="17364A"/>
                    </a:solidFill>
                  </a:tcPr>
                </a:tc>
                <a:tc>
                  <a:txBody>
                    <a:bodyPr/>
                    <a:lstStyle/>
                    <a:p>
                      <a:r>
                        <a:rPr sz="1875" b="1">
                          <a:solidFill>
                            <a:srgbClr val="FFFFFF"/>
                          </a:solidFill>
                          <a:latin typeface="Malgun Gothic"/>
                          <a:ea typeface="Malgun Gothic"/>
                          <a:cs typeface="Malgun Gothic"/>
                        </a:rPr>
                        <a:t>첫 층 최대 차이</a:t>
                      </a:r>
                    </a:p>
                  </a:txBody>
                  <a:tcPr marL="91440" marR="91440" marT="45720" marB="45720">
                    <a:solidFill>
                      <a:srgbClr val="17364A"/>
                    </a:solidFill>
                  </a:tcPr>
                </a:tc>
                <a:tc>
                  <a:txBody>
                    <a:bodyPr/>
                    <a:lstStyle/>
                    <a:p>
                      <a:r>
                        <a:rPr sz="1875" b="1">
                          <a:solidFill>
                            <a:srgbClr val="FFFFFF"/>
                          </a:solidFill>
                          <a:latin typeface="Malgun Gothic"/>
                          <a:ea typeface="Malgun Gothic"/>
                          <a:cs typeface="Malgun Gothic"/>
                        </a:rPr>
                        <a:t>둘째 층 최대 차이</a:t>
                      </a:r>
                    </a:p>
                  </a:txBody>
                  <a:tcPr marL="91440" marR="91440" marT="45720" marB="45720">
                    <a:solidFill>
                      <a:srgbClr val="17364A"/>
                    </a:solidFill>
                  </a:tcPr>
                </a:tc>
                <a:tc>
                  <a:txBody>
                    <a:bodyPr/>
                    <a:lstStyle/>
                    <a:p>
                      <a:r>
                        <a:rPr sz="1875" b="1">
                          <a:solidFill>
                            <a:srgbClr val="FFFFFF"/>
                          </a:solidFill>
                          <a:latin typeface="Malgun Gothic"/>
                          <a:ea typeface="Malgun Gothic"/>
                          <a:cs typeface="Malgun Gothic"/>
                        </a:rPr>
                        <a:t>출력층 최대 차이</a:t>
                      </a:r>
                    </a:p>
                  </a:txBody>
                  <a:tcPr marL="91440" marR="91440" marT="45720" marB="45720">
                    <a:solidFill>
                      <a:srgbClr val="17364A"/>
                    </a:solidFill>
                  </a:tcPr>
                </a:tc>
              </a:tr>
              <a:tr h="592931">
                <a:tc>
                  <a:txBody>
                    <a:bodyPr/>
                    <a:lstStyle/>
                    <a:p>
                      <a:r>
                        <a:rPr sz="1875" b="0">
                          <a:solidFill>
                            <a:srgbClr val="17364A"/>
                          </a:solidFill>
                          <a:latin typeface="Malgun Gothic"/>
                          <a:ea typeface="Malgun Gothic"/>
                          <a:cs typeface="Malgun Gothic"/>
                        </a:rPr>
                        <a:t>2026</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0.348673</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0.551879</a:t>
                      </a:r>
                    </a:p>
                  </a:txBody>
                  <a:tcPr marL="91440" marR="91440" marT="45720" marB="45720">
                    <a:solidFill>
                      <a:srgbClr val="FFFFFF"/>
                    </a:solidFill>
                  </a:tcPr>
                </a:tc>
              </a:tr>
              <a:tr h="592931">
                <a:tc>
                  <a:txBody>
                    <a:bodyPr/>
                    <a:lstStyle/>
                    <a:p>
                      <a:r>
                        <a:rPr sz="1875" b="0">
                          <a:solidFill>
                            <a:srgbClr val="17364A"/>
                          </a:solidFill>
                          <a:latin typeface="Malgun Gothic"/>
                          <a:ea typeface="Malgun Gothic"/>
                          <a:cs typeface="Malgun Gothic"/>
                        </a:rPr>
                        <a:t>2027</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0</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0.349673</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0.558990</a:t>
                      </a:r>
                    </a:p>
                  </a:txBody>
                  <a:tcPr marL="91440" marR="91440" marT="45720" marB="45720">
                    <a:solidFill>
                      <a:srgbClr val="F0F5F7"/>
                    </a:solidFill>
                  </a:tcPr>
                </a:tc>
              </a:tr>
              <a:tr h="592931">
                <a:tc>
                  <a:txBody>
                    <a:bodyPr/>
                    <a:lstStyle/>
                    <a:p>
                      <a:r>
                        <a:rPr sz="1875" b="0">
                          <a:solidFill>
                            <a:srgbClr val="17364A"/>
                          </a:solidFill>
                          <a:latin typeface="Malgun Gothic"/>
                          <a:ea typeface="Malgun Gothic"/>
                          <a:cs typeface="Malgun Gothic"/>
                        </a:rPr>
                        <a:t>2028</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0.351655</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0.568069</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E6A406D-7B80-4197-8B20-1CD94725C6C7}"/>
              </a:ext>
            </a:extLst>
          </p:cNvPr>
          <p:cNvSpPr>
            <a:spLocks xmlns:a="http://schemas.openxmlformats.org/drawingml/2006/main" noGrp="1"/>
          </p:cNvSpPr>
          <p:nvPr/>
        </p:nvSpPr>
        <p:spPr>
          <a:xfrm xmlns:a="http://schemas.openxmlformats.org/drawingml/2006/main">
            <a:off x="714375" y="51244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86236"/>
                </a:solidFill>
                <a:latin typeface="Malgun Gothic"/>
                <a:ea typeface="Malgun Gothic"/>
                <a:cs typeface="Malgun Gothic"/>
              </a:defRPr>
            </a:pPr>
            <a:r>
              <a:rPr sz="2325" b="1">
                <a:solidFill>
                  <a:srgbClr val="B86236"/>
                </a:solidFill>
                <a:latin typeface="Malgun Gothic"/>
                <a:ea typeface="Malgun Gothic"/>
                <a:cs typeface="Malgun Gothic"/>
              </a:rPr>
              <a:t>“Dropout만의 효과”라고 단정할 수 없는 초기값 차이</a:t>
            </a:r>
          </a:p>
        </p:txBody>
      </p:sp>
      <p:sp>
        <p:nvSpPr>
          <p:cNvPr id="8" name="">
            <a:extLst xmlns:a="http://schemas.openxmlformats.org/drawingml/2006/main">
              <a:ext uri="{FF2B5EF4-FFF2-40B4-BE49-F238E27FC236}">
                <a16:creationId xmlns:a16="http://schemas.microsoft.com/office/drawing/2014/main" id="{C863E434-D8C5-44C3-9CD4-269716589F93}"/>
              </a:ext>
            </a:extLst>
          </p:cNvPr>
          <p:cNvSpPr>
            <a:spLocks xmlns:a="http://schemas.openxmlformats.org/drawingml/2006/main" noGrp="1"/>
          </p:cNvSpPr>
          <p:nvPr/>
        </p:nvSpPr>
        <p:spPr>
          <a:xfrm xmlns:a="http://schemas.openxmlformats.org/drawingml/2006/main">
            <a:off x="714375" y="58197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64A"/>
                </a:solidFill>
                <a:latin typeface="Malgun Gothic"/>
                <a:ea typeface="Malgun Gothic"/>
                <a:cs typeface="Malgun Gothic"/>
              </a:defRPr>
            </a:pPr>
            <a:r>
              <a:rPr sz="1875" b="0">
                <a:solidFill>
                  <a:srgbClr val="17364A"/>
                </a:solidFill>
                <a:latin typeface="Malgun Gothic"/>
                <a:ea typeface="Malgun Gothic"/>
                <a:cs typeface="Malgun Gothic"/>
              </a:rPr>
              <a:t>추가 계획: 모든 Dense 초기값을 E02와 같게 복사한 E08W</a:t>
            </a:r>
          </a:p>
        </p:txBody>
      </p:sp>
    </p:spTree>
    <p:extLst>
      <p:ext uri="{BB962C8B-B14F-4D97-AF65-F5344CB8AC3E}">
        <p14:creationId xmlns:p14="http://schemas.microsoft.com/office/powerpoint/2010/main" val="20820563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F68AFA-CA56-413E-819C-605832D9AA5E}"/>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추가 대조 E08W</a:t>
            </a:r>
          </a:p>
        </p:txBody>
      </p:sp>
      <p:sp>
        <p:nvSpPr>
          <p:cNvPr id="2" name="">
            <a:extLst xmlns:a="http://schemas.openxmlformats.org/drawingml/2006/main">
              <a:ext uri="{FF2B5EF4-FFF2-40B4-BE49-F238E27FC236}">
                <a16:creationId xmlns:a16="http://schemas.microsoft.com/office/drawing/2014/main" id="{65633127-F40D-4B84-9DBE-FF9837884E86}"/>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초기 가중치를 맞춘 Dropout을 따로 비교했다</a:t>
            </a:r>
          </a:p>
        </p:txBody>
      </p:sp>
      <p:sp>
        <p:nvSpPr>
          <p:cNvPr id="3" name="">
            <a:extLst xmlns:a="http://schemas.openxmlformats.org/drawingml/2006/main">
              <a:ext uri="{FF2B5EF4-FFF2-40B4-BE49-F238E27FC236}">
                <a16:creationId xmlns:a16="http://schemas.microsoft.com/office/drawing/2014/main" id="{84C4E035-634E-48DC-9716-6378E69FC97F}"/>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각 seed의 E02 Dense 가중치·편향을 완전히 동일하게 복사</a:t>
            </a:r>
          </a:p>
        </p:txBody>
      </p:sp>
      <p:sp>
        <p:nvSpPr>
          <p:cNvPr id="4" name="">
            <a:extLst xmlns:a="http://schemas.openxmlformats.org/drawingml/2006/main">
              <a:ext uri="{FF2B5EF4-FFF2-40B4-BE49-F238E27FC236}">
                <a16:creationId xmlns:a16="http://schemas.microsoft.com/office/drawing/2014/main" id="{65D30150-0FC2-4408-8BEF-357CD8D702E0}"/>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FB64FC31-735B-47AE-B776-738E2094554C}"/>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07</a:t>
            </a:r>
          </a:p>
        </p:txBody>
      </p:sp>
      <p:graphicFrame>
        <p:nvGraphicFramePr>
          <p:cNvPr id="13" name="Chart"/>
          <p:cNvGraphicFramePr/>
          <p:nvPr/>
        </p:nvGraphicFramePr>
        <p:xfrm>
          <a:off xmlns:a="http://schemas.openxmlformats.org/drawingml/2006/main" x="666750" y="2286000"/>
          <a:ext xmlns:a="http://schemas.openxmlformats.org/drawingml/2006/main" cx="10715625" cy="3371850"/>
        </p:xfrm>
        <a:graphic xmlns:a="http://schemas.openxmlformats.org/drawingml/2006/main">
          <a:graphicData uri="http://schemas.openxmlformats.org/drawingml/2006/chart">
            <c:chart xmlns:r="http://schemas.openxmlformats.org/officeDocument/2006/relationships" xmlns:c="http://schemas.openxmlformats.org/drawingml/2006/chart" r:id="Rd4a341a20fe246b5"/>
          </a:graphicData>
        </a:graphic>
      </p:graphicFrame>
      <p:sp>
        <p:nvSpPr>
          <p:cNvPr id="7" name="">
            <a:extLst xmlns:a="http://schemas.openxmlformats.org/drawingml/2006/main">
              <a:ext uri="{FF2B5EF4-FFF2-40B4-BE49-F238E27FC236}">
                <a16:creationId xmlns:a16="http://schemas.microsoft.com/office/drawing/2014/main" id="{5CDC8BCB-C53B-4634-915C-72B1E8660BF7}"/>
              </a:ext>
            </a:extLst>
          </p:cNvPr>
          <p:cNvSpPr>
            <a:spLocks xmlns:a="http://schemas.openxmlformats.org/drawingml/2006/main" noGrp="1"/>
          </p:cNvSpPr>
          <p:nvPr/>
        </p:nvSpPr>
        <p:spPr>
          <a:xfrm xmlns:a="http://schemas.openxmlformats.org/drawingml/2006/main">
            <a:off x="714375" y="58769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E08W 평균 F1 0.8740 / E02 대비 -3.06%p</a:t>
            </a:r>
          </a:p>
        </p:txBody>
      </p:sp>
    </p:spTree>
    <p:extLst>
      <p:ext uri="{BB962C8B-B14F-4D97-AF65-F5344CB8AC3E}">
        <p14:creationId xmlns:p14="http://schemas.microsoft.com/office/powerpoint/2010/main" val="14468406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55DABD-5092-425C-8C52-3835E5041439}"/>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반복 실험</a:t>
            </a:r>
          </a:p>
        </p:txBody>
      </p:sp>
      <p:sp>
        <p:nvSpPr>
          <p:cNvPr id="2" name="">
            <a:extLst xmlns:a="http://schemas.openxmlformats.org/drawingml/2006/main">
              <a:ext uri="{FF2B5EF4-FFF2-40B4-BE49-F238E27FC236}">
                <a16:creationId xmlns:a16="http://schemas.microsoft.com/office/drawing/2014/main" id="{BA7C646C-8E1C-4ED4-B4E8-321E6C55F695}"/>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7조건 반복 21회와 대조 3회를 모두 보고했다</a:t>
            </a:r>
          </a:p>
        </p:txBody>
      </p:sp>
      <p:sp>
        <p:nvSpPr>
          <p:cNvPr id="3" name="">
            <a:extLst xmlns:a="http://schemas.openxmlformats.org/drawingml/2006/main">
              <a:ext uri="{FF2B5EF4-FFF2-40B4-BE49-F238E27FC236}">
                <a16:creationId xmlns:a16="http://schemas.microsoft.com/office/drawing/2014/main" id="{8C329FDC-701F-4861-86CE-35F3189BB141}"/>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같은 사람 분할 · seed 2026 / 2027 / 2028</a:t>
            </a:r>
          </a:p>
        </p:txBody>
      </p:sp>
      <p:sp>
        <p:nvSpPr>
          <p:cNvPr id="4" name="">
            <a:extLst xmlns:a="http://schemas.openxmlformats.org/drawingml/2006/main">
              <a:ext uri="{FF2B5EF4-FFF2-40B4-BE49-F238E27FC236}">
                <a16:creationId xmlns:a16="http://schemas.microsoft.com/office/drawing/2014/main" id="{1537DACF-7F9B-4E56-B497-2E1EC2CDC195}"/>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273ABB4C-87EE-4A3E-A5E6-D30918859AD7}"/>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08</a:t>
            </a:r>
          </a:p>
        </p:txBody>
      </p:sp>
      <p:graphicFrame>
        <p:nvGraphicFramePr>
          <p:cNvPr id="13" name=""/>
          <p:cNvGraphicFramePr/>
          <p:nvPr/>
        </p:nvGraphicFramePr>
        <p:xfrm>
          <a:off xmlns:a="http://schemas.openxmlformats.org/drawingml/2006/main" x="619125" y="2105025"/>
          <a:ext xmlns:a="http://schemas.openxmlformats.org/drawingml/2006/main" cx="10953750" cy="3686175"/>
        </p:xfrm>
        <a:graphic xmlns:a="http://schemas.openxmlformats.org/drawingml/2006/main">
          <a:graphicData uri="http://schemas.openxmlformats.org/drawingml/2006/table">
            <a:tbl>
              <a:tblPr/>
              <a:tblGrid>
                <a:gridCol w="3238500"/>
                <a:gridCol w="2667000"/>
                <a:gridCol w="2333625"/>
                <a:gridCol w="2714625"/>
              </a:tblGrid>
              <a:tr h="409575">
                <a:tc>
                  <a:txBody>
                    <a:bodyPr/>
                    <a:lstStyle/>
                    <a:p>
                      <a:r>
                        <a:rPr sz="1800" b="1">
                          <a:solidFill>
                            <a:srgbClr val="FFFFFF"/>
                          </a:solidFill>
                          <a:latin typeface="Malgun Gothic"/>
                          <a:ea typeface="Malgun Gothic"/>
                          <a:cs typeface="Malgun Gothic"/>
                        </a:rPr>
                        <a:t>조건</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Macro F1 평균</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표본 SD</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Accuracy 평균</a:t>
                      </a:r>
                    </a:p>
                  </a:txBody>
                  <a:tcPr marL="91440" marR="91440" marT="45720" marB="45720">
                    <a:solidFill>
                      <a:srgbClr val="17364A"/>
                    </a:solidFill>
                  </a:tcPr>
                </a:tc>
              </a:tr>
              <a:tr h="409575">
                <a:tc>
                  <a:txBody>
                    <a:bodyPr/>
                    <a:lstStyle/>
                    <a:p>
                      <a:r>
                        <a:rPr sz="1800" b="0">
                          <a:solidFill>
                            <a:srgbClr val="17364A"/>
                          </a:solidFill>
                          <a:latin typeface="Malgun Gothic"/>
                          <a:ea typeface="Malgun Gothic"/>
                          <a:cs typeface="Malgun Gothic"/>
                        </a:rPr>
                        <a:t>E02 특징 기준</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0.9046</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0.0123</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0.9061</a:t>
                      </a:r>
                    </a:p>
                  </a:txBody>
                  <a:tcPr marL="91440" marR="91440" marT="45720" marB="45720">
                    <a:solidFill>
                      <a:srgbClr val="FFFFFF"/>
                    </a:solidFill>
                  </a:tcPr>
                </a:tc>
              </a:tr>
              <a:tr h="409575">
                <a:tc>
                  <a:txBody>
                    <a:bodyPr/>
                    <a:lstStyle/>
                    <a:p>
                      <a:r>
                        <a:rPr sz="1800" b="0">
                          <a:solidFill>
                            <a:srgbClr val="17364A"/>
                          </a:solidFill>
                          <a:latin typeface="Malgun Gothic"/>
                          <a:ea typeface="Malgun Gothic"/>
                          <a:cs typeface="Malgun Gothic"/>
                        </a:rPr>
                        <a:t>E03 시계열</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0.8635</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0.0140</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0.8657</a:t>
                      </a:r>
                    </a:p>
                  </a:txBody>
                  <a:tcPr marL="91440" marR="91440" marT="45720" marB="45720">
                    <a:solidFill>
                      <a:srgbClr val="F0F5F7"/>
                    </a:solidFill>
                  </a:tcPr>
                </a:tc>
              </a:tr>
              <a:tr h="409575">
                <a:tc>
                  <a:txBody>
                    <a:bodyPr/>
                    <a:lstStyle/>
                    <a:p>
                      <a:r>
                        <a:rPr sz="1800" b="0">
                          <a:solidFill>
                            <a:srgbClr val="17364A"/>
                          </a:solidFill>
                          <a:latin typeface="Malgun Gothic"/>
                          <a:ea typeface="Malgun Gothic"/>
                          <a:cs typeface="Malgun Gothic"/>
                        </a:rPr>
                        <a:t>E07 추가 표준화 없음</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0.9034</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0.0160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0.9044</a:t>
                      </a:r>
                    </a:p>
                  </a:txBody>
                  <a:tcPr marL="91440" marR="91440" marT="45720" marB="45720">
                    <a:solidFill>
                      <a:srgbClr val="FFFFFF"/>
                    </a:solidFill>
                  </a:tcPr>
                </a:tc>
              </a:tr>
              <a:tr h="409575">
                <a:tc>
                  <a:txBody>
                    <a:bodyPr/>
                    <a:lstStyle/>
                    <a:p>
                      <a:r>
                        <a:rPr sz="1800" b="0">
                          <a:solidFill>
                            <a:srgbClr val="17364A"/>
                          </a:solidFill>
                          <a:latin typeface="Malgun Gothic"/>
                          <a:ea typeface="Malgun Gothic"/>
                          <a:cs typeface="Malgun Gothic"/>
                        </a:rPr>
                        <a:t>E08 Dropout 0.3</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0.8690</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0.0327</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0.8719</a:t>
                      </a:r>
                    </a:p>
                  </a:txBody>
                  <a:tcPr marL="91440" marR="91440" marT="45720" marB="45720">
                    <a:solidFill>
                      <a:srgbClr val="F0F5F7"/>
                    </a:solidFill>
                  </a:tcPr>
                </a:tc>
              </a:tr>
              <a:tr h="409575">
                <a:tc>
                  <a:txBody>
                    <a:bodyPr/>
                    <a:lstStyle/>
                    <a:p>
                      <a:r>
                        <a:rPr sz="1800" b="0">
                          <a:solidFill>
                            <a:srgbClr val="17364A"/>
                          </a:solidFill>
                          <a:latin typeface="Malgun Gothic"/>
                          <a:ea typeface="Malgun Gothic"/>
                          <a:cs typeface="Malgun Gothic"/>
                        </a:rPr>
                        <a:t>E09 LR 0.0003</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0.8931</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0.0178</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0.8948</a:t>
                      </a:r>
                    </a:p>
                  </a:txBody>
                  <a:tcPr marL="91440" marR="91440" marT="45720" marB="45720">
                    <a:solidFill>
                      <a:srgbClr val="FFFFFF"/>
                    </a:solidFill>
                  </a:tcPr>
                </a:tc>
              </a:tr>
              <a:tr h="409575">
                <a:tc>
                  <a:txBody>
                    <a:bodyPr/>
                    <a:lstStyle/>
                    <a:p>
                      <a:r>
                        <a:rPr sz="1800" b="0">
                          <a:solidFill>
                            <a:srgbClr val="17364A"/>
                          </a:solidFill>
                          <a:latin typeface="Malgun Gothic"/>
                          <a:ea typeface="Malgun Gothic"/>
                          <a:cs typeface="Malgun Gothic"/>
                        </a:rPr>
                        <a:t>E10 LR 0.003</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0.9021</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0.0106</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0.9033</a:t>
                      </a:r>
                    </a:p>
                  </a:txBody>
                  <a:tcPr marL="91440" marR="91440" marT="45720" marB="45720">
                    <a:solidFill>
                      <a:srgbClr val="F0F5F7"/>
                    </a:solidFill>
                  </a:tcPr>
                </a:tc>
              </a:tr>
              <a:tr h="409575">
                <a:tc>
                  <a:txBody>
                    <a:bodyPr/>
                    <a:lstStyle/>
                    <a:p>
                      <a:r>
                        <a:rPr sz="1800" b="0">
                          <a:solidFill>
                            <a:srgbClr val="17364A"/>
                          </a:solidFill>
                          <a:latin typeface="Malgun Gothic"/>
                          <a:ea typeface="Malgun Gothic"/>
                          <a:cs typeface="Malgun Gothic"/>
                        </a:rPr>
                        <a:t>E11 PCA 95%</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0.8771</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0.0209</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0.8792</a:t>
                      </a:r>
                    </a:p>
                  </a:txBody>
                  <a:tcPr marL="91440" marR="91440" marT="45720" marB="45720">
                    <a:solidFill>
                      <a:srgbClr val="FFFFFF"/>
                    </a:solidFill>
                  </a:tcPr>
                </a:tc>
              </a:tr>
              <a:tr h="409575">
                <a:tc>
                  <a:txBody>
                    <a:bodyPr/>
                    <a:lstStyle/>
                    <a:p>
                      <a:r>
                        <a:rPr sz="1800" b="0">
                          <a:solidFill>
                            <a:srgbClr val="17364A"/>
                          </a:solidFill>
                          <a:latin typeface="Malgun Gothic"/>
                          <a:ea typeface="Malgun Gothic"/>
                          <a:cs typeface="Malgun Gothic"/>
                        </a:rPr>
                        <a:t>E08W 초기값 일치</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0.8740</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0.0321</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0.8768</a:t>
                      </a:r>
                    </a:p>
                  </a:txBody>
                  <a:tcPr marL="91440" marR="91440" marT="45720" marB="45720">
                    <a:solidFill>
                      <a:srgbClr val="F0F5F7"/>
                    </a:solidFill>
                  </a:tcPr>
                </a:tc>
              </a:tr>
            </a:tbl>
          </a:graphicData>
        </a:graphic>
      </p:graphicFrame>
      <p:sp>
        <p:nvSpPr>
          <p:cNvPr id="7" name="">
            <a:extLst xmlns:a="http://schemas.openxmlformats.org/drawingml/2006/main">
              <a:ext uri="{FF2B5EF4-FFF2-40B4-BE49-F238E27FC236}">
                <a16:creationId xmlns:a16="http://schemas.microsoft.com/office/drawing/2014/main" id="{8DE9E66F-E034-4CF5-B943-8B0431F05C23}"/>
              </a:ext>
            </a:extLst>
          </p:cNvPr>
          <p:cNvSpPr>
            <a:spLocks xmlns:a="http://schemas.openxmlformats.org/drawingml/2006/main" noGrp="1"/>
          </p:cNvSpPr>
          <p:nvPr/>
        </p:nvSpPr>
        <p:spPr>
          <a:xfrm xmlns:a="http://schemas.openxmlformats.org/drawingml/2006/main">
            <a:off x="714375" y="59626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Malgun Gothic"/>
                <a:ea typeface="Malgun Gothic"/>
                <a:cs typeface="Malgun Gothic"/>
              </a:defRPr>
            </a:pPr>
            <a:r>
              <a:rPr sz="1800" b="0">
                <a:solidFill>
                  <a:srgbClr val="596B77"/>
                </a:solidFill>
                <a:latin typeface="Malgun Gothic"/>
                <a:ea typeface="Malgun Gothic"/>
                <a:cs typeface="Malgun Gothic"/>
              </a:rPr>
              <a:t>SD는 학습 seed 변동이다. 새 사람에 대한 신뢰구간이 아니다.</a:t>
            </a:r>
          </a:p>
        </p:txBody>
      </p:sp>
    </p:spTree>
    <p:extLst>
      <p:ext uri="{BB962C8B-B14F-4D97-AF65-F5344CB8AC3E}">
        <p14:creationId xmlns:p14="http://schemas.microsoft.com/office/powerpoint/2010/main" val="11437503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5944120-3D0F-4859-83D1-3FA981936244}"/>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해석의 수정</a:t>
            </a:r>
          </a:p>
        </p:txBody>
      </p:sp>
      <p:sp>
        <p:nvSpPr>
          <p:cNvPr id="2" name="">
            <a:extLst xmlns:a="http://schemas.openxmlformats.org/drawingml/2006/main">
              <a:ext uri="{FF2B5EF4-FFF2-40B4-BE49-F238E27FC236}">
                <a16:creationId xmlns:a16="http://schemas.microsoft.com/office/drawing/2014/main" id="{031D0F9B-C488-4B51-80F6-57368336C08F}"/>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한 번의 1등을 항상 우수한 조건으로 일반화하지 않았다</a:t>
            </a:r>
          </a:p>
        </p:txBody>
      </p:sp>
      <p:sp>
        <p:nvSpPr>
          <p:cNvPr id="3" name="">
            <a:extLst xmlns:a="http://schemas.openxmlformats.org/drawingml/2006/main">
              <a:ext uri="{FF2B5EF4-FFF2-40B4-BE49-F238E27FC236}">
                <a16:creationId xmlns:a16="http://schemas.microsoft.com/office/drawing/2014/main" id="{07224F46-8F0B-4814-A083-69873E75E77F}"/>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seed별로 기존 7조건의 순위가 달라짐</a:t>
            </a:r>
          </a:p>
        </p:txBody>
      </p:sp>
      <p:sp>
        <p:nvSpPr>
          <p:cNvPr id="4" name="">
            <a:extLst xmlns:a="http://schemas.openxmlformats.org/drawingml/2006/main">
              <a:ext uri="{FF2B5EF4-FFF2-40B4-BE49-F238E27FC236}">
                <a16:creationId xmlns:a16="http://schemas.microsoft.com/office/drawing/2014/main" id="{B9A51E65-9E10-42F0-BC1A-DFC020A59AFE}"/>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60F3AB02-6D8B-4181-9945-496B848B54B2}"/>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09</a:t>
            </a:r>
          </a:p>
        </p:txBody>
      </p:sp>
      <p:graphicFrame>
        <p:nvGraphicFramePr>
          <p:cNvPr id="14" name=""/>
          <p:cNvGraphicFramePr/>
          <p:nvPr/>
        </p:nvGraphicFramePr>
        <p:xfrm>
          <a:off xmlns:a="http://schemas.openxmlformats.org/drawingml/2006/main" x="619125" y="2362200"/>
          <a:ext xmlns:a="http://schemas.openxmlformats.org/drawingml/2006/main" cx="10953750" cy="2238375"/>
        </p:xfrm>
        <a:graphic xmlns:a="http://schemas.openxmlformats.org/drawingml/2006/main">
          <a:graphicData uri="http://schemas.openxmlformats.org/drawingml/2006/table">
            <a:tbl>
              <a:tblPr/>
              <a:tblGrid>
                <a:gridCol w="1524000"/>
                <a:gridCol w="3524250"/>
                <a:gridCol w="2952750"/>
                <a:gridCol w="2952750"/>
              </a:tblGrid>
              <a:tr h="559594">
                <a:tc>
                  <a:txBody>
                    <a:bodyPr/>
                    <a:lstStyle/>
                    <a:p>
                      <a:r>
                        <a:rPr sz="2025" b="1">
                          <a:solidFill>
                            <a:srgbClr val="FFFFFF"/>
                          </a:solidFill>
                          <a:latin typeface="Malgun Gothic"/>
                          <a:ea typeface="Malgun Gothic"/>
                          <a:cs typeface="Malgun Gothic"/>
                        </a:rPr>
                        <a:t>seed</a:t>
                      </a:r>
                    </a:p>
                  </a:txBody>
                  <a:tcPr marL="91440" marR="91440" marT="45720" marB="45720">
                    <a:solidFill>
                      <a:srgbClr val="17364A"/>
                    </a:solidFill>
                  </a:tcPr>
                </a:tc>
                <a:tc>
                  <a:txBody>
                    <a:bodyPr/>
                    <a:lstStyle/>
                    <a:p>
                      <a:r>
                        <a:rPr sz="2025" b="1">
                          <a:solidFill>
                            <a:srgbClr val="FFFFFF"/>
                          </a:solidFill>
                          <a:latin typeface="Malgun Gothic"/>
                          <a:ea typeface="Malgun Gothic"/>
                          <a:cs typeface="Malgun Gothic"/>
                        </a:rPr>
                        <a:t>가장 높은 조건</a:t>
                      </a:r>
                    </a:p>
                  </a:txBody>
                  <a:tcPr marL="91440" marR="91440" marT="45720" marB="45720">
                    <a:solidFill>
                      <a:srgbClr val="17364A"/>
                    </a:solidFill>
                  </a:tcPr>
                </a:tc>
                <a:tc>
                  <a:txBody>
                    <a:bodyPr/>
                    <a:lstStyle/>
                    <a:p>
                      <a:r>
                        <a:rPr sz="2025" b="1">
                          <a:solidFill>
                            <a:srgbClr val="FFFFFF"/>
                          </a:solidFill>
                          <a:latin typeface="Malgun Gothic"/>
                          <a:ea typeface="Malgun Gothic"/>
                          <a:cs typeface="Malgun Gothic"/>
                        </a:rPr>
                        <a:t>최고 Macro F1</a:t>
                      </a:r>
                    </a:p>
                  </a:txBody>
                  <a:tcPr marL="91440" marR="91440" marT="45720" marB="45720">
                    <a:solidFill>
                      <a:srgbClr val="17364A"/>
                    </a:solidFill>
                  </a:tcPr>
                </a:tc>
                <a:tc>
                  <a:txBody>
                    <a:bodyPr/>
                    <a:lstStyle/>
                    <a:p>
                      <a:r>
                        <a:rPr sz="2025" b="1">
                          <a:solidFill>
                            <a:srgbClr val="FFFFFF"/>
                          </a:solidFill>
                          <a:latin typeface="Malgun Gothic"/>
                          <a:ea typeface="Malgun Gothic"/>
                          <a:cs typeface="Malgun Gothic"/>
                        </a:rPr>
                        <a:t>E02 Macro F1</a:t>
                      </a:r>
                    </a:p>
                  </a:txBody>
                  <a:tcPr marL="91440" marR="91440" marT="45720" marB="45720">
                    <a:solidFill>
                      <a:srgbClr val="17364A"/>
                    </a:solidFill>
                  </a:tcPr>
                </a:tc>
              </a:tr>
              <a:tr h="559594">
                <a:tc>
                  <a:txBody>
                    <a:bodyPr/>
                    <a:lstStyle/>
                    <a:p>
                      <a:r>
                        <a:rPr sz="2025" b="0">
                          <a:solidFill>
                            <a:srgbClr val="17364A"/>
                          </a:solidFill>
                          <a:latin typeface="Malgun Gothic"/>
                          <a:ea typeface="Malgun Gothic"/>
                          <a:cs typeface="Malgun Gothic"/>
                        </a:rPr>
                        <a:t>2026</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E02</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0.9138</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0.9138</a:t>
                      </a:r>
                    </a:p>
                  </a:txBody>
                  <a:tcPr marL="91440" marR="91440" marT="45720" marB="45720">
                    <a:solidFill>
                      <a:srgbClr val="FFFFFF"/>
                    </a:solidFill>
                  </a:tcPr>
                </a:tc>
              </a:tr>
              <a:tr h="559594">
                <a:tc>
                  <a:txBody>
                    <a:bodyPr/>
                    <a:lstStyle/>
                    <a:p>
                      <a:r>
                        <a:rPr sz="2025" b="0">
                          <a:solidFill>
                            <a:srgbClr val="17364A"/>
                          </a:solidFill>
                          <a:latin typeface="Malgun Gothic"/>
                          <a:ea typeface="Malgun Gothic"/>
                          <a:cs typeface="Malgun Gothic"/>
                        </a:rPr>
                        <a:t>2027</a:t>
                      </a:r>
                    </a:p>
                  </a:txBody>
                  <a:tcPr marL="91440" marR="91440" marT="45720" marB="45720">
                    <a:solidFill>
                      <a:srgbClr val="F0F5F7"/>
                    </a:solidFill>
                  </a:tcPr>
                </a:tc>
                <a:tc>
                  <a:txBody>
                    <a:bodyPr/>
                    <a:lstStyle/>
                    <a:p>
                      <a:r>
                        <a:rPr sz="2025" b="0">
                          <a:solidFill>
                            <a:srgbClr val="17364A"/>
                          </a:solidFill>
                          <a:latin typeface="Malgun Gothic"/>
                          <a:ea typeface="Malgun Gothic"/>
                          <a:cs typeface="Malgun Gothic"/>
                        </a:rPr>
                        <a:t>E10</a:t>
                      </a:r>
                    </a:p>
                  </a:txBody>
                  <a:tcPr marL="91440" marR="91440" marT="45720" marB="45720">
                    <a:solidFill>
                      <a:srgbClr val="F0F5F7"/>
                    </a:solidFill>
                  </a:tcPr>
                </a:tc>
                <a:tc>
                  <a:txBody>
                    <a:bodyPr/>
                    <a:lstStyle/>
                    <a:p>
                      <a:r>
                        <a:rPr sz="2025" b="0">
                          <a:solidFill>
                            <a:srgbClr val="17364A"/>
                          </a:solidFill>
                          <a:latin typeface="Malgun Gothic"/>
                          <a:ea typeface="Malgun Gothic"/>
                          <a:cs typeface="Malgun Gothic"/>
                        </a:rPr>
                        <a:t>0.9083</a:t>
                      </a:r>
                    </a:p>
                  </a:txBody>
                  <a:tcPr marL="91440" marR="91440" marT="45720" marB="45720">
                    <a:solidFill>
                      <a:srgbClr val="F0F5F7"/>
                    </a:solidFill>
                  </a:tcPr>
                </a:tc>
                <a:tc>
                  <a:txBody>
                    <a:bodyPr/>
                    <a:lstStyle/>
                    <a:p>
                      <a:r>
                        <a:rPr sz="2025" b="0">
                          <a:solidFill>
                            <a:srgbClr val="17364A"/>
                          </a:solidFill>
                          <a:latin typeface="Malgun Gothic"/>
                          <a:ea typeface="Malgun Gothic"/>
                          <a:cs typeface="Malgun Gothic"/>
                        </a:rPr>
                        <a:t>0.8906</a:t>
                      </a:r>
                    </a:p>
                  </a:txBody>
                  <a:tcPr marL="91440" marR="91440" marT="45720" marB="45720">
                    <a:solidFill>
                      <a:srgbClr val="F0F5F7"/>
                    </a:solidFill>
                  </a:tcPr>
                </a:tc>
              </a:tr>
              <a:tr h="559594">
                <a:tc>
                  <a:txBody>
                    <a:bodyPr/>
                    <a:lstStyle/>
                    <a:p>
                      <a:r>
                        <a:rPr sz="2025" b="0">
                          <a:solidFill>
                            <a:srgbClr val="17364A"/>
                          </a:solidFill>
                          <a:latin typeface="Malgun Gothic"/>
                          <a:ea typeface="Malgun Gothic"/>
                          <a:cs typeface="Malgun Gothic"/>
                        </a:rPr>
                        <a:t>2028</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E07</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0.9182</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0.9094</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073590E3-7AA1-4B21-B79D-2D3025E9A7A1}"/>
              </a:ext>
            </a:extLst>
          </p:cNvPr>
          <p:cNvSpPr>
            <a:spLocks xmlns:a="http://schemas.openxmlformats.org/drawingml/2006/main" noGrp="1"/>
          </p:cNvSpPr>
          <p:nvPr/>
        </p:nvSpPr>
        <p:spPr>
          <a:xfrm xmlns:a="http://schemas.openxmlformats.org/drawingml/2006/main">
            <a:off x="704850" y="50673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86236"/>
                </a:solidFill>
                <a:latin typeface="Malgun Gothic"/>
                <a:ea typeface="Malgun Gothic"/>
                <a:cs typeface="Malgun Gothic"/>
              </a:defRPr>
            </a:pPr>
            <a:r>
              <a:rPr sz="2250" b="1">
                <a:solidFill>
                  <a:srgbClr val="B86236"/>
                </a:solidFill>
                <a:latin typeface="Malgun Gothic"/>
                <a:ea typeface="Malgun Gothic"/>
                <a:cs typeface="Malgun Gothic"/>
              </a:rPr>
              <a:t>과장된 해석의 예: “기본 조건이 항상 가장 좋다”</a:t>
            </a:r>
          </a:p>
        </p:txBody>
      </p:sp>
      <p:sp>
        <p:nvSpPr>
          <p:cNvPr id="8" name="">
            <a:extLst xmlns:a="http://schemas.openxmlformats.org/drawingml/2006/main">
              <a:ext uri="{FF2B5EF4-FFF2-40B4-BE49-F238E27FC236}">
                <a16:creationId xmlns:a16="http://schemas.microsoft.com/office/drawing/2014/main" id="{DFE018A0-B94E-4C40-A69C-190E19BBFCA3}"/>
              </a:ext>
            </a:extLst>
          </p:cNvPr>
          <p:cNvSpPr>
            <a:spLocks xmlns:a="http://schemas.openxmlformats.org/drawingml/2006/main" noGrp="1"/>
          </p:cNvSpPr>
          <p:nvPr/>
        </p:nvSpPr>
        <p:spPr>
          <a:xfrm xmlns:a="http://schemas.openxmlformats.org/drawingml/2006/main">
            <a:off x="704850" y="57816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77"/>
                </a:solidFill>
                <a:latin typeface="Malgun Gothic"/>
                <a:ea typeface="Malgun Gothic"/>
                <a:cs typeface="Malgun Gothic"/>
              </a:defRPr>
            </a:pPr>
            <a:r>
              <a:rPr sz="2100" b="1">
                <a:solidFill>
                  <a:srgbClr val="176C77"/>
                </a:solidFill>
                <a:latin typeface="Malgun Gothic"/>
                <a:ea typeface="Malgun Gothic"/>
                <a:cs typeface="Malgun Gothic"/>
              </a:rPr>
              <a:t>수정한 결론: 평균·변동·대응 차이를 함께 보고한다.</a:t>
            </a:r>
          </a:p>
        </p:txBody>
      </p:sp>
    </p:spTree>
    <p:extLst>
      <p:ext uri="{BB962C8B-B14F-4D97-AF65-F5344CB8AC3E}">
        <p14:creationId xmlns:p14="http://schemas.microsoft.com/office/powerpoint/2010/main" val="148828558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53EDEA-164A-4E4C-8FCE-EA581C24237F}"/>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자료와 평가 단위</a:t>
            </a:r>
          </a:p>
        </p:txBody>
      </p:sp>
      <p:sp>
        <p:nvSpPr>
          <p:cNvPr id="2" name="">
            <a:extLst xmlns:a="http://schemas.openxmlformats.org/drawingml/2006/main">
              <a:ext uri="{FF2B5EF4-FFF2-40B4-BE49-F238E27FC236}">
                <a16:creationId xmlns:a16="http://schemas.microsoft.com/office/drawing/2014/main" id="{4EB1256F-7C2B-490E-B604-A493E62528C5}"/>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검증 창 1,775개는 독립된 사람 1,775명이 아니다</a:t>
            </a:r>
          </a:p>
        </p:txBody>
      </p:sp>
      <p:sp>
        <p:nvSpPr>
          <p:cNvPr id="3" name="">
            <a:extLst xmlns:a="http://schemas.openxmlformats.org/drawingml/2006/main">
              <a:ext uri="{FF2B5EF4-FFF2-40B4-BE49-F238E27FC236}">
                <a16:creationId xmlns:a16="http://schemas.microsoft.com/office/drawing/2014/main" id="{4E3AA369-7D45-4F26-88D5-60E6BA83053D}"/>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검증 사람은 1 · 6 · 14 · 21 · 23</a:t>
            </a:r>
          </a:p>
        </p:txBody>
      </p:sp>
      <p:sp>
        <p:nvSpPr>
          <p:cNvPr id="4" name="">
            <a:extLst xmlns:a="http://schemas.openxmlformats.org/drawingml/2006/main">
              <a:ext uri="{FF2B5EF4-FFF2-40B4-BE49-F238E27FC236}">
                <a16:creationId xmlns:a16="http://schemas.microsoft.com/office/drawing/2014/main" id="{CCE73EE5-1793-4870-8D4F-22F261F8919E}"/>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E74E54CB-4A64-4FF9-81AF-ABE95B208873}"/>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10</a:t>
            </a:r>
          </a:p>
        </p:txBody>
      </p:sp>
      <p:sp>
        <p:nvSpPr>
          <p:cNvPr id="6" name="">
            <a:extLst xmlns:a="http://schemas.openxmlformats.org/drawingml/2006/main">
              <a:ext uri="{FF2B5EF4-FFF2-40B4-BE49-F238E27FC236}">
                <a16:creationId xmlns:a16="http://schemas.microsoft.com/office/drawing/2014/main" id="{E970B6A0-6021-40A7-B8AD-3958526C251C}"/>
              </a:ext>
            </a:extLst>
          </p:cNvPr>
          <p:cNvSpPr>
            <a:spLocks xmlns:a="http://schemas.openxmlformats.org/drawingml/2006/main" noGrp="1"/>
          </p:cNvSpPr>
          <p:nvPr/>
        </p:nvSpPr>
        <p:spPr>
          <a:xfrm xmlns:a="http://schemas.openxmlformats.org/drawingml/2006/main">
            <a:off x="685800" y="2428875"/>
            <a:ext cx="5238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6C77"/>
                </a:solidFill>
                <a:latin typeface="Malgun Gothic"/>
                <a:ea typeface="Malgun Gothic"/>
                <a:cs typeface="Malgun Gothic"/>
              </a:defRPr>
            </a:pPr>
            <a:r>
              <a:rPr sz="3600" b="1">
                <a:solidFill>
                  <a:srgbClr val="176C77"/>
                </a:solidFill>
                <a:latin typeface="Malgun Gothic"/>
                <a:ea typeface="Malgun Gothic"/>
                <a:cs typeface="Malgun Gothic"/>
              </a:rPr>
              <a:t>16명 / 5,577창</a:t>
            </a:r>
          </a:p>
        </p:txBody>
      </p:sp>
      <p:sp>
        <p:nvSpPr>
          <p:cNvPr id="7" name="">
            <a:extLst xmlns:a="http://schemas.openxmlformats.org/drawingml/2006/main">
              <a:ext uri="{FF2B5EF4-FFF2-40B4-BE49-F238E27FC236}">
                <a16:creationId xmlns:a16="http://schemas.microsoft.com/office/drawing/2014/main" id="{C61569E1-7BD2-405E-90E4-B356FA23BC4B}"/>
              </a:ext>
            </a:extLst>
          </p:cNvPr>
          <p:cNvSpPr>
            <a:spLocks xmlns:a="http://schemas.openxmlformats.org/drawingml/2006/main" noGrp="1"/>
          </p:cNvSpPr>
          <p:nvPr/>
        </p:nvSpPr>
        <p:spPr>
          <a:xfrm xmlns:a="http://schemas.openxmlformats.org/drawingml/2006/main">
            <a:off x="6772275" y="2428875"/>
            <a:ext cx="495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B86236"/>
                </a:solidFill>
                <a:latin typeface="Malgun Gothic"/>
                <a:ea typeface="Malgun Gothic"/>
                <a:cs typeface="Malgun Gothic"/>
              </a:defRPr>
            </a:pPr>
            <a:r>
              <a:rPr sz="3600" b="1">
                <a:solidFill>
                  <a:srgbClr val="B86236"/>
                </a:solidFill>
                <a:latin typeface="Malgun Gothic"/>
                <a:ea typeface="Malgun Gothic"/>
                <a:cs typeface="Malgun Gothic"/>
              </a:rPr>
              <a:t>5명 / 1,775창</a:t>
            </a:r>
          </a:p>
        </p:txBody>
      </p:sp>
      <p:sp>
        <p:nvSpPr>
          <p:cNvPr id="8" name="">
            <a:extLst xmlns:a="http://schemas.openxmlformats.org/drawingml/2006/main">
              <a:ext uri="{FF2B5EF4-FFF2-40B4-BE49-F238E27FC236}">
                <a16:creationId xmlns:a16="http://schemas.microsoft.com/office/drawing/2014/main" id="{68C4EAA7-F618-4CAF-8AD5-18E9976BD7A5}"/>
              </a:ext>
            </a:extLst>
          </p:cNvPr>
          <p:cNvSpPr>
            <a:spLocks xmlns:a="http://schemas.openxmlformats.org/drawingml/2006/main" noGrp="1"/>
          </p:cNvSpPr>
          <p:nvPr/>
        </p:nvSpPr>
        <p:spPr>
          <a:xfrm xmlns:a="http://schemas.openxmlformats.org/drawingml/2006/main">
            <a:off x="733425" y="3524250"/>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64A"/>
                </a:solidFill>
                <a:latin typeface="Malgun Gothic"/>
                <a:ea typeface="Malgun Gothic"/>
                <a:cs typeface="Malgun Gothic"/>
              </a:defRPr>
            </a:pPr>
            <a:r>
              <a:rPr sz="2175" b="0">
                <a:solidFill>
                  <a:srgbClr val="17364A"/>
                </a:solidFill>
                <a:latin typeface="Malgun Gothic"/>
                <a:ea typeface="Malgun Gothic"/>
                <a:cs typeface="Malgun Gothic"/>
              </a:rPr>
              <a:t>학습 통계·가중치 갱신</a:t>
            </a:r>
          </a:p>
        </p:txBody>
      </p:sp>
      <p:sp>
        <p:nvSpPr>
          <p:cNvPr id="9" name="">
            <a:extLst xmlns:a="http://schemas.openxmlformats.org/drawingml/2006/main">
              <a:ext uri="{FF2B5EF4-FFF2-40B4-BE49-F238E27FC236}">
                <a16:creationId xmlns:a16="http://schemas.microsoft.com/office/drawing/2014/main" id="{B5652E8E-CB8E-4114-90F3-8756C6CA5F8F}"/>
              </a:ext>
            </a:extLst>
          </p:cNvPr>
          <p:cNvSpPr>
            <a:spLocks xmlns:a="http://schemas.openxmlformats.org/drawingml/2006/main" noGrp="1"/>
          </p:cNvSpPr>
          <p:nvPr/>
        </p:nvSpPr>
        <p:spPr>
          <a:xfrm xmlns:a="http://schemas.openxmlformats.org/drawingml/2006/main">
            <a:off x="6810375" y="35242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64A"/>
                </a:solidFill>
                <a:latin typeface="Malgun Gothic"/>
                <a:ea typeface="Malgun Gothic"/>
                <a:cs typeface="Malgun Gothic"/>
              </a:defRPr>
            </a:pPr>
            <a:r>
              <a:rPr sz="2175" b="0">
                <a:solidFill>
                  <a:srgbClr val="17364A"/>
                </a:solidFill>
                <a:latin typeface="Malgun Gothic"/>
                <a:ea typeface="Malgun Gothic"/>
                <a:cs typeface="Malgun Gothic"/>
              </a:rPr>
              <a:t>조기 종료·조건 비교</a:t>
            </a:r>
          </a:p>
        </p:txBody>
      </p:sp>
      <p:sp>
        <p:nvSpPr>
          <p:cNvPr id="10" name="">
            <a:extLst xmlns:a="http://schemas.openxmlformats.org/drawingml/2006/main">
              <a:ext uri="{FF2B5EF4-FFF2-40B4-BE49-F238E27FC236}">
                <a16:creationId xmlns:a16="http://schemas.microsoft.com/office/drawing/2014/main" id="{2876078C-3B10-40E4-9C68-7231BBE04E90}"/>
              </a:ext>
            </a:extLst>
          </p:cNvPr>
          <p:cNvSpPr>
            <a:spLocks xmlns:a="http://schemas.openxmlformats.org/drawingml/2006/main" noGrp="1"/>
          </p:cNvSpPr>
          <p:nvPr/>
        </p:nvSpPr>
        <p:spPr>
          <a:xfrm xmlns:a="http://schemas.openxmlformats.org/drawingml/2006/main">
            <a:off x="714375" y="4629150"/>
            <a:ext cx="106203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64A"/>
                </a:solidFill>
                <a:latin typeface="Malgun Gothic"/>
                <a:ea typeface="Malgun Gothic"/>
                <a:cs typeface="Malgun Gothic"/>
              </a:defRPr>
            </a:pPr>
            <a:r>
              <a:rPr sz="2325" b="0">
                <a:solidFill>
                  <a:srgbClr val="17364A"/>
                </a:solidFill>
                <a:latin typeface="Malgun Gothic"/>
                <a:ea typeface="Malgun Gothic"/>
                <a:cs typeface="Malgun Gothic"/>
              </a:rPr>
              <a:t>같은 사람의 중첩 창은 같은 분할에 유지</a:t>
            </a:r>
          </a:p>
          <a:p xmlns:a="http://schemas.openxmlformats.org/drawingml/2006/main">
            <a:pPr>
              <a:defRPr sz="2325" b="0">
                <a:solidFill>
                  <a:srgbClr val="17364A"/>
                </a:solidFill>
                <a:latin typeface="Malgun Gothic"/>
                <a:ea typeface="Malgun Gothic"/>
                <a:cs typeface="Malgun Gothic"/>
              </a:defRPr>
            </a:pPr>
            <a:r>
              <a:rPr sz="2325" b="0">
                <a:solidFill>
                  <a:srgbClr val="17364A"/>
                </a:solidFill>
                <a:latin typeface="Malgun Gothic"/>
                <a:ea typeface="Malgun Gothic"/>
                <a:cs typeface="Malgun Gothic"/>
              </a:rPr>
              <a:t>공식 test 9명은 읽거나 평가하지 않음</a:t>
            </a:r>
          </a:p>
        </p:txBody>
      </p:sp>
    </p:spTree>
    <p:extLst>
      <p:ext uri="{BB962C8B-B14F-4D97-AF65-F5344CB8AC3E}">
        <p14:creationId xmlns:p14="http://schemas.microsoft.com/office/powerpoint/2010/main" val="351470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019233A-3CBB-45BA-81EE-89F93C68285B}"/>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수학 검증</a:t>
            </a:r>
          </a:p>
        </p:txBody>
      </p:sp>
      <p:sp>
        <p:nvSpPr>
          <p:cNvPr id="2" name="">
            <a:extLst xmlns:a="http://schemas.openxmlformats.org/drawingml/2006/main">
              <a:ext uri="{FF2B5EF4-FFF2-40B4-BE49-F238E27FC236}">
                <a16:creationId xmlns:a16="http://schemas.microsoft.com/office/drawing/2014/main" id="{E7D71CC6-F5D3-4BC6-AF57-5591788FEB73}"/>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ReLU의 비미분점에서는 검사 해석도 달라져야 한다</a:t>
            </a:r>
          </a:p>
        </p:txBody>
      </p:sp>
      <p:sp>
        <p:nvSpPr>
          <p:cNvPr id="3" name="">
            <a:extLst xmlns:a="http://schemas.openxmlformats.org/drawingml/2006/main">
              <a:ext uri="{FF2B5EF4-FFF2-40B4-BE49-F238E27FC236}">
                <a16:creationId xmlns:a16="http://schemas.microsoft.com/office/drawing/2014/main" id="{F2841142-0769-49B4-B079-C23884910955}"/>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3 → 4 ReLU → 6 logits / 배치 8 / float64</a:t>
            </a:r>
          </a:p>
        </p:txBody>
      </p:sp>
      <p:sp>
        <p:nvSpPr>
          <p:cNvPr id="4" name="">
            <a:extLst xmlns:a="http://schemas.openxmlformats.org/drawingml/2006/main">
              <a:ext uri="{FF2B5EF4-FFF2-40B4-BE49-F238E27FC236}">
                <a16:creationId xmlns:a16="http://schemas.microsoft.com/office/drawing/2014/main" id="{3D0514FD-DF34-4547-96E0-42D8F48D3550}"/>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4A424E23-EB05-46A2-B4BE-4D8358D127F0}"/>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11</a:t>
            </a:r>
          </a:p>
        </p:txBody>
      </p:sp>
      <p:sp>
        <p:nvSpPr>
          <p:cNvPr id="6" name="">
            <a:extLst xmlns:a="http://schemas.openxmlformats.org/drawingml/2006/main">
              <a:ext uri="{FF2B5EF4-FFF2-40B4-BE49-F238E27FC236}">
                <a16:creationId xmlns:a16="http://schemas.microsoft.com/office/drawing/2014/main" id="{5830BFEC-D01F-418B-9146-B6B490C1F472}"/>
              </a:ext>
            </a:extLst>
          </p:cNvPr>
          <p:cNvSpPr>
            <a:spLocks xmlns:a="http://schemas.openxmlformats.org/drawingml/2006/main" noGrp="1"/>
          </p:cNvSpPr>
          <p:nvPr/>
        </p:nvSpPr>
        <p:spPr>
          <a:xfrm xmlns:a="http://schemas.openxmlformats.org/drawingml/2006/main">
            <a:off x="704850" y="221932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76C77"/>
                </a:solidFill>
                <a:latin typeface="Malgun Gothic"/>
                <a:ea typeface="Malgun Gothic"/>
                <a:cs typeface="Malgun Gothic"/>
              </a:defRPr>
            </a:pPr>
            <a:r>
              <a:rPr sz="3375" b="1">
                <a:solidFill>
                  <a:srgbClr val="176C77"/>
                </a:solidFill>
                <a:latin typeface="Malgun Gothic"/>
                <a:ea typeface="Malgun Gothic"/>
                <a:cs typeface="Malgun Gothic"/>
              </a:rPr>
              <a:t>46개 × 3종 h = 138회</a:t>
            </a:r>
          </a:p>
        </p:txBody>
      </p:sp>
      <p:sp>
        <p:nvSpPr>
          <p:cNvPr id="7" name="">
            <a:extLst xmlns:a="http://schemas.openxmlformats.org/drawingml/2006/main">
              <a:ext uri="{FF2B5EF4-FFF2-40B4-BE49-F238E27FC236}">
                <a16:creationId xmlns:a16="http://schemas.microsoft.com/office/drawing/2014/main" id="{E4E26879-0BE8-4165-89E9-F05FD7519C82}"/>
              </a:ext>
            </a:extLst>
          </p:cNvPr>
          <p:cNvSpPr>
            <a:spLocks xmlns:a="http://schemas.openxmlformats.org/drawingml/2006/main" noGrp="1"/>
          </p:cNvSpPr>
          <p:nvPr/>
        </p:nvSpPr>
        <p:spPr>
          <a:xfrm xmlns:a="http://schemas.openxmlformats.org/drawingml/2006/main">
            <a:off x="742950" y="3171825"/>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64A"/>
                </a:solidFill>
                <a:latin typeface="Malgun Gothic"/>
                <a:ea typeface="Malgun Gothic"/>
                <a:cs typeface="Malgun Gothic"/>
              </a:defRPr>
            </a:pPr>
            <a:r>
              <a:rPr sz="2250" b="0">
                <a:solidFill>
                  <a:srgbClr val="17364A"/>
                </a:solidFill>
                <a:latin typeface="Malgun Gothic"/>
                <a:ea typeface="Malgun Gothic"/>
                <a:cs typeface="Malgun Gothic"/>
              </a:rPr>
              <a:t>NumPy ↔ TensorFlow 최대 절대 오차 4.16×10⁻¹⁷</a:t>
            </a:r>
          </a:p>
        </p:txBody>
      </p:sp>
      <p:graphicFrame>
        <p:nvGraphicFramePr>
          <p:cNvPr id="17" name=""/>
          <p:cNvGraphicFramePr/>
          <p:nvPr/>
        </p:nvGraphicFramePr>
        <p:xfrm>
          <a:off xmlns:a="http://schemas.openxmlformats.org/drawingml/2006/main" x="619125" y="4143375"/>
          <a:ext xmlns:a="http://schemas.openxmlformats.org/drawingml/2006/main" cx="10953750" cy="1438275"/>
        </p:xfrm>
        <a:graphic xmlns:a="http://schemas.openxmlformats.org/drawingml/2006/main">
          <a:graphicData uri="http://schemas.openxmlformats.org/drawingml/2006/table">
            <a:tbl>
              <a:tblPr/>
              <a:tblGrid>
                <a:gridCol w="5810250"/>
                <a:gridCol w="2190750"/>
                <a:gridCol w="2952750"/>
              </a:tblGrid>
              <a:tr h="479425">
                <a:tc>
                  <a:txBody>
                    <a:bodyPr/>
                    <a:lstStyle/>
                    <a:p>
                      <a:r>
                        <a:rPr sz="1875" b="1">
                          <a:solidFill>
                            <a:srgbClr val="FFFFFF"/>
                          </a:solidFill>
                          <a:latin typeface="Malgun Gothic"/>
                          <a:ea typeface="Malgun Gothic"/>
                          <a:cs typeface="Malgun Gothic"/>
                        </a:rPr>
                        <a:t>의도적 대조</a:t>
                      </a:r>
                    </a:p>
                  </a:txBody>
                  <a:tcPr marL="91440" marR="91440" marT="45720" marB="45720">
                    <a:solidFill>
                      <a:srgbClr val="17364A"/>
                    </a:solidFill>
                  </a:tcPr>
                </a:tc>
                <a:tc>
                  <a:txBody>
                    <a:bodyPr/>
                    <a:lstStyle/>
                    <a:p>
                      <a:r>
                        <a:rPr sz="1875" b="1">
                          <a:solidFill>
                            <a:srgbClr val="FFFFFF"/>
                          </a:solidFill>
                          <a:latin typeface="Malgun Gothic"/>
                          <a:ea typeface="Malgun Gothic"/>
                          <a:cs typeface="Malgun Gothic"/>
                        </a:rPr>
                        <a:t>관찰</a:t>
                      </a:r>
                    </a:p>
                  </a:txBody>
                  <a:tcPr marL="91440" marR="91440" marT="45720" marB="45720">
                    <a:solidFill>
                      <a:srgbClr val="17364A"/>
                    </a:solidFill>
                  </a:tcPr>
                </a:tc>
                <a:tc>
                  <a:txBody>
                    <a:bodyPr/>
                    <a:lstStyle/>
                    <a:p>
                      <a:r>
                        <a:rPr sz="1875" b="1">
                          <a:solidFill>
                            <a:srgbClr val="FFFFFF"/>
                          </a:solidFill>
                          <a:latin typeface="Malgun Gothic"/>
                          <a:ea typeface="Malgun Gothic"/>
                          <a:cs typeface="Malgun Gothic"/>
                        </a:rPr>
                        <a:t>판단</a:t>
                      </a:r>
                    </a:p>
                  </a:txBody>
                  <a:tcPr marL="91440" marR="91440" marT="45720" marB="45720">
                    <a:solidFill>
                      <a:srgbClr val="17364A"/>
                    </a:solidFill>
                  </a:tcPr>
                </a:tc>
              </a:tr>
              <a:tr h="479425">
                <a:tc>
                  <a:txBody>
                    <a:bodyPr/>
                    <a:lstStyle/>
                    <a:p>
                      <a:r>
                        <a:rPr sz="1875" b="0">
                          <a:solidFill>
                            <a:srgbClr val="17364A"/>
                          </a:solidFill>
                          <a:latin typeface="Malgun Gothic"/>
                          <a:ea typeface="Malgun Gothic"/>
                          <a:cs typeface="Malgun Gothic"/>
                        </a:rPr>
                        <a:t>평균 손실 미분에서 /B 누락</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기울기 8배</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잘못된 미분 검출</a:t>
                      </a:r>
                    </a:p>
                  </a:txBody>
                  <a:tcPr marL="91440" marR="91440" marT="45720" marB="45720">
                    <a:solidFill>
                      <a:srgbClr val="FFFFFF"/>
                    </a:solidFill>
                  </a:tcPr>
                </a:tc>
              </a:tr>
              <a:tr h="479425">
                <a:tc>
                  <a:txBody>
                    <a:bodyPr/>
                    <a:lstStyle/>
                    <a:p>
                      <a:r>
                        <a:rPr sz="1875" b="0">
                          <a:solidFill>
                            <a:srgbClr val="17364A"/>
                          </a:solidFill>
                          <a:latin typeface="Malgun Gothic"/>
                          <a:ea typeface="Malgun Gothic"/>
                          <a:cs typeface="Malgun Gothic"/>
                        </a:rPr>
                        <a:t>ReLU(0) 중심차분 vs TF</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0.5 vs 0</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비미분점의 선택 차이</a:t>
                      </a:r>
                    </a:p>
                  </a:txBody>
                  <a:tcPr marL="91440" marR="91440" marT="45720" marB="45720">
                    <a:solidFill>
                      <a:srgbClr val="F0F5F7"/>
                    </a:solidFill>
                  </a:tcPr>
                </a:tc>
              </a:tr>
            </a:tbl>
          </a:graphicData>
        </a:graphic>
      </p:graphicFrame>
      <p:sp>
        <p:nvSpPr>
          <p:cNvPr id="9" name="">
            <a:extLst xmlns:a="http://schemas.openxmlformats.org/drawingml/2006/main">
              <a:ext uri="{FF2B5EF4-FFF2-40B4-BE49-F238E27FC236}">
                <a16:creationId xmlns:a16="http://schemas.microsoft.com/office/drawing/2014/main" id="{08FB8A57-7AB4-4092-8F1B-3E65338D4091}"/>
              </a:ext>
            </a:extLst>
          </p:cNvPr>
          <p:cNvSpPr>
            <a:spLocks xmlns:a="http://schemas.openxmlformats.org/drawingml/2006/main" noGrp="1"/>
          </p:cNvSpPr>
          <p:nvPr/>
        </p:nvSpPr>
        <p:spPr>
          <a:xfrm xmlns:a="http://schemas.openxmlformats.org/drawingml/2006/main">
            <a:off x="714375" y="5848350"/>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64A"/>
                </a:solidFill>
                <a:latin typeface="Malgun Gothic"/>
                <a:ea typeface="Malgun Gothic"/>
                <a:cs typeface="Malgun Gothic"/>
              </a:defRPr>
            </a:pPr>
            <a:r>
              <a:rPr sz="1875" b="0">
                <a:solidFill>
                  <a:srgbClr val="17364A"/>
                </a:solidFill>
                <a:latin typeface="Malgun Gothic"/>
                <a:ea typeface="Malgun Gothic"/>
                <a:cs typeface="Malgun Gothic"/>
              </a:rPr>
              <a:t>수치 차이가 있다는 사실만으로 라이브러리 버그를 주장하지 않는다.</a:t>
            </a:r>
          </a:p>
        </p:txBody>
      </p:sp>
    </p:spTree>
    <p:extLst>
      <p:ext uri="{BB962C8B-B14F-4D97-AF65-F5344CB8AC3E}">
        <p14:creationId xmlns:p14="http://schemas.microsoft.com/office/powerpoint/2010/main" val="28256526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1188F81-8531-4276-8193-E22E081CB6B3}"/>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수치 안정성</a:t>
            </a:r>
          </a:p>
        </p:txBody>
      </p:sp>
      <p:sp>
        <p:nvSpPr>
          <p:cNvPr id="2" name="">
            <a:extLst xmlns:a="http://schemas.openxmlformats.org/drawingml/2006/main">
              <a:ext uri="{FF2B5EF4-FFF2-40B4-BE49-F238E27FC236}">
                <a16:creationId xmlns:a16="http://schemas.microsoft.com/office/drawing/2014/main" id="{9D51DEDC-F275-45D8-9C6C-AC8BAB3A206C}"/>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확률이 유한해도 로그 손실은 무한대가 될 수 있다</a:t>
            </a:r>
          </a:p>
        </p:txBody>
      </p:sp>
      <p:sp>
        <p:nvSpPr>
          <p:cNvPr id="3" name="">
            <a:extLst xmlns:a="http://schemas.openxmlformats.org/drawingml/2006/main">
              <a:ext uri="{FF2B5EF4-FFF2-40B4-BE49-F238E27FC236}">
                <a16:creationId xmlns:a16="http://schemas.microsoft.com/office/drawing/2014/main" id="{DC65E6F5-316B-4753-91F6-9C580C9CAC14}"/>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큰 logits를 이용한 의도적 대조</a:t>
            </a:r>
          </a:p>
        </p:txBody>
      </p:sp>
      <p:sp>
        <p:nvSpPr>
          <p:cNvPr id="4" name="">
            <a:extLst xmlns:a="http://schemas.openxmlformats.org/drawingml/2006/main">
              <a:ext uri="{FF2B5EF4-FFF2-40B4-BE49-F238E27FC236}">
                <a16:creationId xmlns:a16="http://schemas.microsoft.com/office/drawing/2014/main" id="{F28D3A5C-E1D9-4CF6-8288-DDD0316F3B19}"/>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E680DBFF-777A-4CC6-BAE5-6AA63E4D5376}"/>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12</a:t>
            </a:r>
          </a:p>
        </p:txBody>
      </p:sp>
      <p:sp>
        <p:nvSpPr>
          <p:cNvPr id="6" name="">
            <a:extLst xmlns:a="http://schemas.openxmlformats.org/drawingml/2006/main">
              <a:ext uri="{FF2B5EF4-FFF2-40B4-BE49-F238E27FC236}">
                <a16:creationId xmlns:a16="http://schemas.microsoft.com/office/drawing/2014/main" id="{050662D2-BD94-45E1-92A7-58EAE78BF44A}"/>
              </a:ext>
            </a:extLst>
          </p:cNvPr>
          <p:cNvSpPr>
            <a:spLocks xmlns:a="http://schemas.openxmlformats.org/drawingml/2006/main" noGrp="1"/>
          </p:cNvSpPr>
          <p:nvPr/>
        </p:nvSpPr>
        <p:spPr>
          <a:xfrm xmlns:a="http://schemas.openxmlformats.org/drawingml/2006/main">
            <a:off x="638175" y="22479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naive softmax</a:t>
            </a:r>
          </a:p>
        </p:txBody>
      </p:sp>
      <p:sp>
        <p:nvSpPr>
          <p:cNvPr id="7" name="">
            <a:extLst xmlns:a="http://schemas.openxmlformats.org/drawingml/2006/main">
              <a:ext uri="{FF2B5EF4-FFF2-40B4-BE49-F238E27FC236}">
                <a16:creationId xmlns:a16="http://schemas.microsoft.com/office/drawing/2014/main" id="{928D97EB-6FA6-4272-84B2-106B5670E74C}"/>
              </a:ext>
            </a:extLst>
          </p:cNvPr>
          <p:cNvSpPr>
            <a:spLocks xmlns:a="http://schemas.openxmlformats.org/drawingml/2006/main" noGrp="1"/>
          </p:cNvSpPr>
          <p:nvPr/>
        </p:nvSpPr>
        <p:spPr>
          <a:xfrm xmlns:a="http://schemas.openxmlformats.org/drawingml/2006/main">
            <a:off x="3429000" y="224790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exp overflow로 비유한 확률 4개 발생</a:t>
            </a:r>
          </a:p>
        </p:txBody>
      </p:sp>
      <p:sp>
        <p:nvSpPr>
          <p:cNvPr id="8" name="">
            <a:extLst xmlns:a="http://schemas.openxmlformats.org/drawingml/2006/main">
              <a:ext uri="{FF2B5EF4-FFF2-40B4-BE49-F238E27FC236}">
                <a16:creationId xmlns:a16="http://schemas.microsoft.com/office/drawing/2014/main" id="{E947E4A0-BEA1-41E8-B979-48466C053441}"/>
              </a:ext>
            </a:extLst>
          </p:cNvPr>
          <p:cNvSpPr>
            <a:spLocks xmlns:a="http://schemas.openxmlformats.org/drawingml/2006/main" noGrp="1"/>
          </p:cNvSpPr>
          <p:nvPr/>
        </p:nvSpPr>
        <p:spPr>
          <a:xfrm xmlns:a="http://schemas.openxmlformats.org/drawingml/2006/main">
            <a:off x="638175" y="31432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최댓값 빼기</a:t>
            </a:r>
          </a:p>
        </p:txBody>
      </p:sp>
      <p:sp>
        <p:nvSpPr>
          <p:cNvPr id="9" name="">
            <a:extLst xmlns:a="http://schemas.openxmlformats.org/drawingml/2006/main">
              <a:ext uri="{FF2B5EF4-FFF2-40B4-BE49-F238E27FC236}">
                <a16:creationId xmlns:a16="http://schemas.microsoft.com/office/drawing/2014/main" id="{67819C57-F5D0-4EF5-9D48-DC95B7BDE54C}"/>
              </a:ext>
            </a:extLst>
          </p:cNvPr>
          <p:cNvSpPr>
            <a:spLocks xmlns:a="http://schemas.openxmlformats.org/drawingml/2006/main" noGrp="1"/>
          </p:cNvSpPr>
          <p:nvPr/>
        </p:nvSpPr>
        <p:spPr>
          <a:xfrm xmlns:a="http://schemas.openxmlformats.org/drawingml/2006/main">
            <a:off x="3429000" y="314325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확률 합 1.0, 모든 값 유한</a:t>
            </a:r>
          </a:p>
        </p:txBody>
      </p:sp>
      <p:sp>
        <p:nvSpPr>
          <p:cNvPr id="10" name="">
            <a:extLst xmlns:a="http://schemas.openxmlformats.org/drawingml/2006/main">
              <a:ext uri="{FF2B5EF4-FFF2-40B4-BE49-F238E27FC236}">
                <a16:creationId xmlns:a16="http://schemas.microsoft.com/office/drawing/2014/main" id="{789E6D82-4ABD-48E9-A9C2-BF8626A590EA}"/>
              </a:ext>
            </a:extLst>
          </p:cNvPr>
          <p:cNvSpPr>
            <a:spLocks xmlns:a="http://schemas.openxmlformats.org/drawingml/2006/main" noGrp="1"/>
          </p:cNvSpPr>
          <p:nvPr/>
        </p:nvSpPr>
        <p:spPr>
          <a:xfrm xmlns:a="http://schemas.openxmlformats.org/drawingml/2006/main">
            <a:off x="638175" y="40386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그래도 남는 문제</a:t>
            </a:r>
          </a:p>
        </p:txBody>
      </p:sp>
      <p:sp>
        <p:nvSpPr>
          <p:cNvPr id="11" name="">
            <a:extLst xmlns:a="http://schemas.openxmlformats.org/drawingml/2006/main">
              <a:ext uri="{FF2B5EF4-FFF2-40B4-BE49-F238E27FC236}">
                <a16:creationId xmlns:a16="http://schemas.microsoft.com/office/drawing/2014/main" id="{26F0A22F-F151-46D3-9D4F-979A0D213B89}"/>
              </a:ext>
            </a:extLst>
          </p:cNvPr>
          <p:cNvSpPr>
            <a:spLocks xmlns:a="http://schemas.openxmlformats.org/drawingml/2006/main" noGrp="1"/>
          </p:cNvSpPr>
          <p:nvPr/>
        </p:nvSpPr>
        <p:spPr>
          <a:xfrm xmlns:a="http://schemas.openxmlformats.org/drawingml/2006/main">
            <a:off x="3429000" y="403860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작은 정답 확률이 0으로 underflow</a:t>
            </a:r>
          </a:p>
        </p:txBody>
      </p:sp>
      <p:sp>
        <p:nvSpPr>
          <p:cNvPr id="12" name="">
            <a:extLst xmlns:a="http://schemas.openxmlformats.org/drawingml/2006/main">
              <a:ext uri="{FF2B5EF4-FFF2-40B4-BE49-F238E27FC236}">
                <a16:creationId xmlns:a16="http://schemas.microsoft.com/office/drawing/2014/main" id="{30229695-C5C8-44CA-8021-E93C06FE27D9}"/>
              </a:ext>
            </a:extLst>
          </p:cNvPr>
          <p:cNvSpPr>
            <a:spLocks xmlns:a="http://schemas.openxmlformats.org/drawingml/2006/main" noGrp="1"/>
          </p:cNvSpPr>
          <p:nvPr/>
        </p:nvSpPr>
        <p:spPr>
          <a:xfrm xmlns:a="http://schemas.openxmlformats.org/drawingml/2006/main">
            <a:off x="638175" y="49339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logits 기반 손실</a:t>
            </a:r>
          </a:p>
        </p:txBody>
      </p:sp>
      <p:sp>
        <p:nvSpPr>
          <p:cNvPr id="13" name="">
            <a:extLst xmlns:a="http://schemas.openxmlformats.org/drawingml/2006/main">
              <a:ext uri="{FF2B5EF4-FFF2-40B4-BE49-F238E27FC236}">
                <a16:creationId xmlns:a16="http://schemas.microsoft.com/office/drawing/2014/main" id="{B4AE29A7-F824-4593-9EE1-7B73FF50DF29}"/>
              </a:ext>
            </a:extLst>
          </p:cNvPr>
          <p:cNvSpPr>
            <a:spLocks xmlns:a="http://schemas.openxmlformats.org/drawingml/2006/main" noGrp="1"/>
          </p:cNvSpPr>
          <p:nvPr/>
        </p:nvSpPr>
        <p:spPr>
          <a:xfrm xmlns:a="http://schemas.openxmlformats.org/drawingml/2006/main">
            <a:off x="3429000" y="493395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logsumexp로 계산 → 2002.440190</a:t>
            </a:r>
          </a:p>
        </p:txBody>
      </p:sp>
    </p:spTree>
    <p:extLst>
      <p:ext uri="{BB962C8B-B14F-4D97-AF65-F5344CB8AC3E}">
        <p14:creationId xmlns:p14="http://schemas.microsoft.com/office/powerpoint/2010/main" val="9576428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DCF7E30-F24A-48F5-8832-5DE63DF8FE78}"/>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결론 · 다음 단계</a:t>
            </a:r>
          </a:p>
        </p:txBody>
      </p:sp>
      <p:sp>
        <p:nvSpPr>
          <p:cNvPr id="2" name="">
            <a:extLst xmlns:a="http://schemas.openxmlformats.org/drawingml/2006/main">
              <a:ext uri="{FF2B5EF4-FFF2-40B4-BE49-F238E27FC236}">
                <a16:creationId xmlns:a16="http://schemas.microsoft.com/office/drawing/2014/main" id="{FD161872-A6E7-4380-8F80-9D1C6AE29472}"/>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수정한 주장마다 재현 가능한 근거를 연결했다</a:t>
            </a:r>
          </a:p>
        </p:txBody>
      </p:sp>
      <p:sp>
        <p:nvSpPr>
          <p:cNvPr id="3" name="">
            <a:extLst xmlns:a="http://schemas.openxmlformats.org/drawingml/2006/main">
              <a:ext uri="{FF2B5EF4-FFF2-40B4-BE49-F238E27FC236}">
                <a16:creationId xmlns:a16="http://schemas.microsoft.com/office/drawing/2014/main" id="{14B3157F-8A2A-4718-9FEB-A6EFA13104A5}"/>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코드 결함 수정과 실험 해석의 수정까지 기록</a:t>
            </a:r>
          </a:p>
        </p:txBody>
      </p:sp>
      <p:sp>
        <p:nvSpPr>
          <p:cNvPr id="4" name="">
            <a:extLst xmlns:a="http://schemas.openxmlformats.org/drawingml/2006/main">
              <a:ext uri="{FF2B5EF4-FFF2-40B4-BE49-F238E27FC236}">
                <a16:creationId xmlns:a16="http://schemas.microsoft.com/office/drawing/2014/main" id="{B38836AC-EC16-4CE8-B734-68CB94BDE7F5}"/>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3901478C-803C-4A56-92F6-1ABCE8F1BA99}"/>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13</a:t>
            </a:r>
          </a:p>
        </p:txBody>
      </p:sp>
      <p:sp>
        <p:nvSpPr>
          <p:cNvPr id="6" name="">
            <a:extLst xmlns:a="http://schemas.openxmlformats.org/drawingml/2006/main">
              <a:ext uri="{FF2B5EF4-FFF2-40B4-BE49-F238E27FC236}">
                <a16:creationId xmlns:a16="http://schemas.microsoft.com/office/drawing/2014/main" id="{544DA788-B775-4C4E-A190-4906EE4C8BD3}"/>
              </a:ext>
            </a:extLst>
          </p:cNvPr>
          <p:cNvSpPr>
            <a:spLocks xmlns:a="http://schemas.openxmlformats.org/drawingml/2006/main" noGrp="1"/>
          </p:cNvSpPr>
          <p:nvPr/>
        </p:nvSpPr>
        <p:spPr>
          <a:xfrm xmlns:a="http://schemas.openxmlformats.org/drawingml/2006/main">
            <a:off x="638175" y="22479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입력 계약</a:t>
            </a:r>
          </a:p>
        </p:txBody>
      </p:sp>
      <p:sp>
        <p:nvSpPr>
          <p:cNvPr id="7" name="">
            <a:extLst xmlns:a="http://schemas.openxmlformats.org/drawingml/2006/main">
              <a:ext uri="{FF2B5EF4-FFF2-40B4-BE49-F238E27FC236}">
                <a16:creationId xmlns:a16="http://schemas.microsoft.com/office/drawing/2014/main" id="{56482AB9-EDF3-4598-B2AB-6EC02F43EA78}"/>
              </a:ext>
            </a:extLst>
          </p:cNvPr>
          <p:cNvSpPr>
            <a:spLocks xmlns:a="http://schemas.openxmlformats.org/drawingml/2006/main" noGrp="1"/>
          </p:cNvSpPr>
          <p:nvPr/>
        </p:nvSpPr>
        <p:spPr>
          <a:xfrm xmlns:a="http://schemas.openxmlformats.org/drawingml/2006/main">
            <a:off x="3429000" y="224790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잘못된 분할·정렬을 차단 / 전체 검사 24통과</a:t>
            </a:r>
          </a:p>
        </p:txBody>
      </p:sp>
      <p:sp>
        <p:nvSpPr>
          <p:cNvPr id="8" name="">
            <a:extLst xmlns:a="http://schemas.openxmlformats.org/drawingml/2006/main">
              <a:ext uri="{FF2B5EF4-FFF2-40B4-BE49-F238E27FC236}">
                <a16:creationId xmlns:a16="http://schemas.microsoft.com/office/drawing/2014/main" id="{034B92D5-01E6-4D4B-A0F5-F2A2E84702F7}"/>
              </a:ext>
            </a:extLst>
          </p:cNvPr>
          <p:cNvSpPr>
            <a:spLocks xmlns:a="http://schemas.openxmlformats.org/drawingml/2006/main" noGrp="1"/>
          </p:cNvSpPr>
          <p:nvPr/>
        </p:nvSpPr>
        <p:spPr>
          <a:xfrm xmlns:a="http://schemas.openxmlformats.org/drawingml/2006/main">
            <a:off x="638175" y="31432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정상 결과 유지</a:t>
            </a:r>
          </a:p>
        </p:txBody>
      </p:sp>
      <p:sp>
        <p:nvSpPr>
          <p:cNvPr id="9" name="">
            <a:extLst xmlns:a="http://schemas.openxmlformats.org/drawingml/2006/main">
              <a:ext uri="{FF2B5EF4-FFF2-40B4-BE49-F238E27FC236}">
                <a16:creationId xmlns:a16="http://schemas.microsoft.com/office/drawing/2014/main" id="{18B5B6DA-0412-499C-91E0-43A808A69D1D}"/>
              </a:ext>
            </a:extLst>
          </p:cNvPr>
          <p:cNvSpPr>
            <a:spLocks xmlns:a="http://schemas.openxmlformats.org/drawingml/2006/main" noGrp="1"/>
          </p:cNvSpPr>
          <p:nvPr/>
        </p:nvSpPr>
        <p:spPr>
          <a:xfrm xmlns:a="http://schemas.openxmlformats.org/drawingml/2006/main">
            <a:off x="3429000" y="314325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기존 7조건 재학습 예측 완전 일치</a:t>
            </a:r>
          </a:p>
        </p:txBody>
      </p:sp>
      <p:sp>
        <p:nvSpPr>
          <p:cNvPr id="10" name="">
            <a:extLst xmlns:a="http://schemas.openxmlformats.org/drawingml/2006/main">
              <a:ext uri="{FF2B5EF4-FFF2-40B4-BE49-F238E27FC236}">
                <a16:creationId xmlns:a16="http://schemas.microsoft.com/office/drawing/2014/main" id="{6BED6BE2-1E3D-4077-87D2-739B019127D0}"/>
              </a:ext>
            </a:extLst>
          </p:cNvPr>
          <p:cNvSpPr>
            <a:spLocks xmlns:a="http://schemas.openxmlformats.org/drawingml/2006/main" noGrp="1"/>
          </p:cNvSpPr>
          <p:nvPr/>
        </p:nvSpPr>
        <p:spPr>
          <a:xfrm xmlns:a="http://schemas.openxmlformats.org/drawingml/2006/main">
            <a:off x="638175" y="40386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비교 근거 보강</a:t>
            </a:r>
          </a:p>
        </p:txBody>
      </p:sp>
      <p:sp>
        <p:nvSpPr>
          <p:cNvPr id="11" name="">
            <a:extLst xmlns:a="http://schemas.openxmlformats.org/drawingml/2006/main">
              <a:ext uri="{FF2B5EF4-FFF2-40B4-BE49-F238E27FC236}">
                <a16:creationId xmlns:a16="http://schemas.microsoft.com/office/drawing/2014/main" id="{EA6C47D1-03C4-4D14-8321-55C08E6E35E2}"/>
              </a:ext>
            </a:extLst>
          </p:cNvPr>
          <p:cNvSpPr>
            <a:spLocks xmlns:a="http://schemas.openxmlformats.org/drawingml/2006/main" noGrp="1"/>
          </p:cNvSpPr>
          <p:nvPr/>
        </p:nvSpPr>
        <p:spPr>
          <a:xfrm xmlns:a="http://schemas.openxmlformats.org/drawingml/2006/main">
            <a:off x="3429000" y="403860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21회 반복 + 초기값 일치 대조 3회</a:t>
            </a:r>
          </a:p>
        </p:txBody>
      </p:sp>
      <p:sp>
        <p:nvSpPr>
          <p:cNvPr id="12" name="">
            <a:extLst xmlns:a="http://schemas.openxmlformats.org/drawingml/2006/main">
              <a:ext uri="{FF2B5EF4-FFF2-40B4-BE49-F238E27FC236}">
                <a16:creationId xmlns:a16="http://schemas.microsoft.com/office/drawing/2014/main" id="{1FB1CEFA-C66F-48ED-BD9D-3641A33C9C60}"/>
              </a:ext>
            </a:extLst>
          </p:cNvPr>
          <p:cNvSpPr>
            <a:spLocks xmlns:a="http://schemas.openxmlformats.org/drawingml/2006/main" noGrp="1"/>
          </p:cNvSpPr>
          <p:nvPr/>
        </p:nvSpPr>
        <p:spPr>
          <a:xfrm xmlns:a="http://schemas.openxmlformats.org/drawingml/2006/main">
            <a:off x="638175" y="49339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남은 검증</a:t>
            </a:r>
          </a:p>
        </p:txBody>
      </p:sp>
      <p:sp>
        <p:nvSpPr>
          <p:cNvPr id="13" name="">
            <a:extLst xmlns:a="http://schemas.openxmlformats.org/drawingml/2006/main">
              <a:ext uri="{FF2B5EF4-FFF2-40B4-BE49-F238E27FC236}">
                <a16:creationId xmlns:a16="http://schemas.microsoft.com/office/drawing/2014/main" id="{3D29F1D2-ACA1-4621-B232-632F61C28267}"/>
              </a:ext>
            </a:extLst>
          </p:cNvPr>
          <p:cNvSpPr>
            <a:spLocks xmlns:a="http://schemas.openxmlformats.org/drawingml/2006/main" noGrp="1"/>
          </p:cNvSpPr>
          <p:nvPr/>
        </p:nvSpPr>
        <p:spPr>
          <a:xfrm xmlns:a="http://schemas.openxmlformats.org/drawingml/2006/main">
            <a:off x="3429000" y="493395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팀 통합 · 다른 사람 분할 · 공식 test · 시연</a:t>
            </a:r>
          </a:p>
        </p:txBody>
      </p:sp>
    </p:spTree>
    <p:extLst>
      <p:ext uri="{BB962C8B-B14F-4D97-AF65-F5344CB8AC3E}">
        <p14:creationId xmlns:p14="http://schemas.microsoft.com/office/powerpoint/2010/main" val="15912801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31B0A0A-32AF-4321-A9ED-DA334699110B}"/>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보충 1</a:t>
            </a:r>
          </a:p>
        </p:txBody>
      </p:sp>
      <p:sp>
        <p:nvSpPr>
          <p:cNvPr id="2" name="">
            <a:extLst xmlns:a="http://schemas.openxmlformats.org/drawingml/2006/main">
              <a:ext uri="{FF2B5EF4-FFF2-40B4-BE49-F238E27FC236}">
                <a16:creationId xmlns:a16="http://schemas.microsoft.com/office/drawing/2014/main" id="{082D0797-6D1C-47B5-80CB-0EBA95CABD80}"/>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역전파는 배열 크기와 손실 정의로 검산한다</a:t>
            </a:r>
          </a:p>
        </p:txBody>
      </p:sp>
      <p:sp>
        <p:nvSpPr>
          <p:cNvPr id="3" name="">
            <a:extLst xmlns:a="http://schemas.openxmlformats.org/drawingml/2006/main">
              <a:ext uri="{FF2B5EF4-FFF2-40B4-BE49-F238E27FC236}">
                <a16:creationId xmlns:a16="http://schemas.microsoft.com/office/drawing/2014/main" id="{DABB2E98-BD19-4673-8FA9-7D16635E6EDD}"/>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E02: 561 → 128 → 64 → 6 / 배치 평균 손실</a:t>
            </a:r>
          </a:p>
        </p:txBody>
      </p:sp>
      <p:sp>
        <p:nvSpPr>
          <p:cNvPr id="4" name="">
            <a:extLst xmlns:a="http://schemas.openxmlformats.org/drawingml/2006/main">
              <a:ext uri="{FF2B5EF4-FFF2-40B4-BE49-F238E27FC236}">
                <a16:creationId xmlns:a16="http://schemas.microsoft.com/office/drawing/2014/main" id="{5CE1E516-6981-4D55-905A-99DE46B2C1FE}"/>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8864F1DC-0E55-4125-8B86-98531FAA460F}"/>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14</a:t>
            </a:r>
          </a:p>
        </p:txBody>
      </p:sp>
      <p:sp>
        <p:nvSpPr>
          <p:cNvPr id="6" name="">
            <a:extLst xmlns:a="http://schemas.openxmlformats.org/drawingml/2006/main">
              <a:ext uri="{FF2B5EF4-FFF2-40B4-BE49-F238E27FC236}">
                <a16:creationId xmlns:a16="http://schemas.microsoft.com/office/drawing/2014/main" id="{FEFA4CB0-825F-41DD-8C73-028FA31FD07F}"/>
              </a:ext>
            </a:extLst>
          </p:cNvPr>
          <p:cNvSpPr>
            <a:spLocks xmlns:a="http://schemas.openxmlformats.org/drawingml/2006/main" noGrp="1"/>
          </p:cNvSpPr>
          <p:nvPr/>
        </p:nvSpPr>
        <p:spPr>
          <a:xfrm xmlns:a="http://schemas.openxmlformats.org/drawingml/2006/main">
            <a:off x="723900" y="23241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6C77"/>
                </a:solidFill>
                <a:latin typeface="Malgun Gothic"/>
                <a:ea typeface="Malgun Gothic"/>
                <a:cs typeface="Malgun Gothic"/>
              </a:defRPr>
            </a:pPr>
            <a:r>
              <a:rPr sz="3000" b="1">
                <a:solidFill>
                  <a:srgbClr val="176C77"/>
                </a:solidFill>
                <a:latin typeface="Malgun Gothic"/>
                <a:ea typeface="Malgun Gothic"/>
                <a:cs typeface="Malgun Gothic"/>
              </a:rPr>
              <a:t>D₃ = (P − Y) / B</a:t>
            </a:r>
          </a:p>
        </p:txBody>
      </p:sp>
      <p:sp>
        <p:nvSpPr>
          <p:cNvPr id="7" name="">
            <a:extLst xmlns:a="http://schemas.openxmlformats.org/drawingml/2006/main">
              <a:ext uri="{FF2B5EF4-FFF2-40B4-BE49-F238E27FC236}">
                <a16:creationId xmlns:a16="http://schemas.microsoft.com/office/drawing/2014/main" id="{62770A28-FEB5-40EC-BE3A-B351BB94BE77}"/>
              </a:ext>
            </a:extLst>
          </p:cNvPr>
          <p:cNvSpPr>
            <a:spLocks xmlns:a="http://schemas.openxmlformats.org/drawingml/2006/main" noGrp="1"/>
          </p:cNvSpPr>
          <p:nvPr/>
        </p:nvSpPr>
        <p:spPr>
          <a:xfrm xmlns:a="http://schemas.openxmlformats.org/drawingml/2006/main">
            <a:off x="733425" y="31718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7364A"/>
                </a:solidFill>
                <a:latin typeface="Malgun Gothic"/>
                <a:ea typeface="Malgun Gothic"/>
                <a:cs typeface="Malgun Gothic"/>
              </a:defRPr>
            </a:pPr>
            <a:r>
              <a:rPr sz="2850" b="0">
                <a:solidFill>
                  <a:srgbClr val="17364A"/>
                </a:solidFill>
                <a:latin typeface="Malgun Gothic"/>
                <a:ea typeface="Malgun Gothic"/>
                <a:cs typeface="Malgun Gothic"/>
              </a:rPr>
              <a:t>∂L/∂W₃ = H₂ᵀ D₃</a:t>
            </a:r>
          </a:p>
        </p:txBody>
      </p:sp>
      <p:sp>
        <p:nvSpPr>
          <p:cNvPr id="8" name="">
            <a:extLst xmlns:a="http://schemas.openxmlformats.org/drawingml/2006/main">
              <a:ext uri="{FF2B5EF4-FFF2-40B4-BE49-F238E27FC236}">
                <a16:creationId xmlns:a16="http://schemas.microsoft.com/office/drawing/2014/main" id="{6D17B50D-CD3C-4D3E-8693-F4E5A77A94DE}"/>
              </a:ext>
            </a:extLst>
          </p:cNvPr>
          <p:cNvSpPr>
            <a:spLocks xmlns:a="http://schemas.openxmlformats.org/drawingml/2006/main" noGrp="1"/>
          </p:cNvSpPr>
          <p:nvPr/>
        </p:nvSpPr>
        <p:spPr>
          <a:xfrm xmlns:a="http://schemas.openxmlformats.org/drawingml/2006/main">
            <a:off x="733425" y="40100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7364A"/>
                </a:solidFill>
                <a:latin typeface="Malgun Gothic"/>
                <a:ea typeface="Malgun Gothic"/>
                <a:cs typeface="Malgun Gothic"/>
              </a:defRPr>
            </a:pPr>
            <a:r>
              <a:rPr sz="2850" b="0">
                <a:solidFill>
                  <a:srgbClr val="17364A"/>
                </a:solidFill>
                <a:latin typeface="Malgun Gothic"/>
                <a:ea typeface="Malgun Gothic"/>
                <a:cs typeface="Malgun Gothic"/>
              </a:rPr>
              <a:t>D₂ = (D₃W₃ᵀ) ⊙ 1[A₂ &gt; 0]</a:t>
            </a:r>
          </a:p>
        </p:txBody>
      </p:sp>
      <p:sp>
        <p:nvSpPr>
          <p:cNvPr id="9" name="">
            <a:extLst xmlns:a="http://schemas.openxmlformats.org/drawingml/2006/main">
              <a:ext uri="{FF2B5EF4-FFF2-40B4-BE49-F238E27FC236}">
                <a16:creationId xmlns:a16="http://schemas.microsoft.com/office/drawing/2014/main" id="{E29CB81F-6DA3-46D1-A4BB-8880DC02CDF8}"/>
              </a:ext>
            </a:extLst>
          </p:cNvPr>
          <p:cNvSpPr>
            <a:spLocks xmlns:a="http://schemas.openxmlformats.org/drawingml/2006/main" noGrp="1"/>
          </p:cNvSpPr>
          <p:nvPr/>
        </p:nvSpPr>
        <p:spPr>
          <a:xfrm xmlns:a="http://schemas.openxmlformats.org/drawingml/2006/main">
            <a:off x="742950" y="50196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64A"/>
                </a:solidFill>
                <a:latin typeface="Malgun Gothic"/>
                <a:ea typeface="Malgun Gothic"/>
                <a:cs typeface="Malgun Gothic"/>
              </a:defRPr>
            </a:pPr>
            <a:r>
              <a:rPr sz="2175" b="0">
                <a:solidFill>
                  <a:srgbClr val="17364A"/>
                </a:solidFill>
                <a:latin typeface="Malgun Gothic"/>
                <a:ea typeface="Malgun Gothic"/>
                <a:cs typeface="Malgun Gothic"/>
              </a:rPr>
              <a:t>편향 기울기: 배치 축 합 / 1/B는 한 번만 적용</a:t>
            </a:r>
          </a:p>
        </p:txBody>
      </p:sp>
      <p:sp>
        <p:nvSpPr>
          <p:cNvPr id="10" name="">
            <a:extLst xmlns:a="http://schemas.openxmlformats.org/drawingml/2006/main">
              <a:ext uri="{FF2B5EF4-FFF2-40B4-BE49-F238E27FC236}">
                <a16:creationId xmlns:a16="http://schemas.microsoft.com/office/drawing/2014/main" id="{F655559E-9346-42E7-847A-7F505A75FE21}"/>
              </a:ext>
            </a:extLst>
          </p:cNvPr>
          <p:cNvSpPr>
            <a:spLocks xmlns:a="http://schemas.openxmlformats.org/drawingml/2006/main" noGrp="1"/>
          </p:cNvSpPr>
          <p:nvPr/>
        </p:nvSpPr>
        <p:spPr>
          <a:xfrm xmlns:a="http://schemas.openxmlformats.org/drawingml/2006/main">
            <a:off x="742950" y="585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역전파는 기울기 계산, Adam은 그 기울기를 사용하는 갱신 규칙</a:t>
            </a:r>
          </a:p>
        </p:txBody>
      </p:sp>
    </p:spTree>
    <p:extLst>
      <p:ext uri="{BB962C8B-B14F-4D97-AF65-F5344CB8AC3E}">
        <p14:creationId xmlns:p14="http://schemas.microsoft.com/office/powerpoint/2010/main" val="162683521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934CEC-30E6-450C-B17A-AF6D91EE4DCE}"/>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보충 2</a:t>
            </a:r>
          </a:p>
        </p:txBody>
      </p:sp>
      <p:sp>
        <p:nvSpPr>
          <p:cNvPr id="2" name="">
            <a:extLst xmlns:a="http://schemas.openxmlformats.org/drawingml/2006/main">
              <a:ext uri="{FF2B5EF4-FFF2-40B4-BE49-F238E27FC236}">
                <a16:creationId xmlns:a16="http://schemas.microsoft.com/office/drawing/2014/main" id="{B11F5647-D418-4072-847C-0FBF261E9959}"/>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사람별 성능을 함께 보아 집계의 차이를 드러냈다</a:t>
            </a:r>
          </a:p>
        </p:txBody>
      </p:sp>
      <p:sp>
        <p:nvSpPr>
          <p:cNvPr id="3" name="">
            <a:extLst xmlns:a="http://schemas.openxmlformats.org/drawingml/2006/main">
              <a:ext uri="{FF2B5EF4-FFF2-40B4-BE49-F238E27FC236}">
                <a16:creationId xmlns:a16="http://schemas.microsoft.com/office/drawing/2014/main" id="{D1B953DF-5C71-475E-890D-864D19B3C1B3}"/>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E02 · 같은 검증 사람 5명 · 세 seed 모두 표시</a:t>
            </a:r>
          </a:p>
        </p:txBody>
      </p:sp>
      <p:sp>
        <p:nvSpPr>
          <p:cNvPr id="4" name="">
            <a:extLst xmlns:a="http://schemas.openxmlformats.org/drawingml/2006/main">
              <a:ext uri="{FF2B5EF4-FFF2-40B4-BE49-F238E27FC236}">
                <a16:creationId xmlns:a16="http://schemas.microsoft.com/office/drawing/2014/main" id="{B1C3AA72-40F6-4593-939C-B2F6C01499B0}"/>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1D5CE73D-48BB-4C2E-A391-2123CF8D603E}"/>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15</a:t>
            </a:r>
          </a:p>
        </p:txBody>
      </p:sp>
      <p:graphicFrame>
        <p:nvGraphicFramePr>
          <p:cNvPr id="13" name="Chart"/>
          <p:cNvGraphicFramePr/>
          <p:nvPr/>
        </p:nvGraphicFramePr>
        <p:xfrm>
          <a:off xmlns:a="http://schemas.openxmlformats.org/drawingml/2006/main" x="704850" y="2171700"/>
          <a:ext xmlns:a="http://schemas.openxmlformats.org/drawingml/2006/main" cx="10572750" cy="3514725"/>
        </p:xfrm>
        <a:graphic xmlns:a="http://schemas.openxmlformats.org/drawingml/2006/main">
          <a:graphicData uri="http://schemas.openxmlformats.org/drawingml/2006/chart">
            <c:chart xmlns:r="http://schemas.openxmlformats.org/officeDocument/2006/relationships" xmlns:c="http://schemas.openxmlformats.org/drawingml/2006/chart" r:id="Rd2df431c305c4650"/>
          </a:graphicData>
        </a:graphic>
      </p:graphicFrame>
      <p:sp>
        <p:nvSpPr>
          <p:cNvPr id="7" name="">
            <a:extLst xmlns:a="http://schemas.openxmlformats.org/drawingml/2006/main">
              <a:ext uri="{FF2B5EF4-FFF2-40B4-BE49-F238E27FC236}">
                <a16:creationId xmlns:a16="http://schemas.microsoft.com/office/drawing/2014/main" id="{314BE8DC-A34C-4183-BCB3-328AD010564C}"/>
              </a:ext>
            </a:extLst>
          </p:cNvPr>
          <p:cNvSpPr>
            <a:spLocks xmlns:a="http://schemas.openxmlformats.org/drawingml/2006/main" noGrp="1"/>
          </p:cNvSpPr>
          <p:nvPr/>
        </p:nvSpPr>
        <p:spPr>
          <a:xfrm xmlns:a="http://schemas.openxmlformats.org/drawingml/2006/main">
            <a:off x="714375" y="5953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64A"/>
                </a:solidFill>
                <a:latin typeface="Malgun Gothic"/>
                <a:ea typeface="Malgun Gothic"/>
                <a:cs typeface="Malgun Gothic"/>
              </a:defRPr>
            </a:pPr>
            <a:r>
              <a:rPr sz="1875" b="0">
                <a:solidFill>
                  <a:srgbClr val="17364A"/>
                </a:solidFill>
                <a:latin typeface="Malgun Gothic"/>
                <a:ea typeface="Malgun Gothic"/>
                <a:cs typeface="Malgun Gothic"/>
              </a:rPr>
              <a:t>전체 창의 Macro F1과 사람별 F1의 단순 평균은 같은 집계가 아니다.</a:t>
            </a:r>
          </a:p>
        </p:txBody>
      </p:sp>
    </p:spTree>
    <p:extLst>
      <p:ext uri="{BB962C8B-B14F-4D97-AF65-F5344CB8AC3E}">
        <p14:creationId xmlns:p14="http://schemas.microsoft.com/office/powerpoint/2010/main" val="210629671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312D74-864A-415E-AD26-241503F3A02F}"/>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보충 3</a:t>
            </a:r>
          </a:p>
        </p:txBody>
      </p:sp>
      <p:sp>
        <p:nvSpPr>
          <p:cNvPr id="2" name="">
            <a:extLst xmlns:a="http://schemas.openxmlformats.org/drawingml/2006/main">
              <a:ext uri="{FF2B5EF4-FFF2-40B4-BE49-F238E27FC236}">
                <a16:creationId xmlns:a16="http://schemas.microsoft.com/office/drawing/2014/main" id="{ACE47A92-FDFE-49C3-BB1F-E6EC1F478009}"/>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최선 epoch와 종료 epoch는 다르다</a:t>
            </a:r>
          </a:p>
        </p:txBody>
      </p:sp>
      <p:sp>
        <p:nvSpPr>
          <p:cNvPr id="3" name="">
            <a:extLst xmlns:a="http://schemas.openxmlformats.org/drawingml/2006/main">
              <a:ext uri="{FF2B5EF4-FFF2-40B4-BE49-F238E27FC236}">
                <a16:creationId xmlns:a16="http://schemas.microsoft.com/office/drawing/2014/main" id="{0A098F7F-1CEF-4857-B582-855FA7C4A530}"/>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선택 지표를 결과에 따라 바꾸지 않기</a:t>
            </a:r>
          </a:p>
        </p:txBody>
      </p:sp>
      <p:sp>
        <p:nvSpPr>
          <p:cNvPr id="4" name="">
            <a:extLst xmlns:a="http://schemas.openxmlformats.org/drawingml/2006/main">
              <a:ext uri="{FF2B5EF4-FFF2-40B4-BE49-F238E27FC236}">
                <a16:creationId xmlns:a16="http://schemas.microsoft.com/office/drawing/2014/main" id="{76DE9F0A-98C7-4164-A2C0-0F9A48A05CE4}"/>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1CE03E42-384D-457B-A7C6-E0C43341B807}"/>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16</a:t>
            </a:r>
          </a:p>
        </p:txBody>
      </p:sp>
      <p:graphicFrame>
        <p:nvGraphicFramePr>
          <p:cNvPr id="13" name=""/>
          <p:cNvGraphicFramePr/>
          <p:nvPr/>
        </p:nvGraphicFramePr>
        <p:xfrm>
          <a:off xmlns:a="http://schemas.openxmlformats.org/drawingml/2006/main" x="619125" y="2162175"/>
          <a:ext xmlns:a="http://schemas.openxmlformats.org/drawingml/2006/main" cx="10953750" cy="3257550"/>
        </p:xfrm>
        <a:graphic xmlns:a="http://schemas.openxmlformats.org/drawingml/2006/main">
          <a:graphicData uri="http://schemas.openxmlformats.org/drawingml/2006/table">
            <a:tbl>
              <a:tblPr/>
              <a:tblGrid>
                <a:gridCol w="3048000"/>
                <a:gridCol w="2286000"/>
                <a:gridCol w="2762250"/>
                <a:gridCol w="2857500"/>
              </a:tblGrid>
              <a:tr h="465364">
                <a:tc>
                  <a:txBody>
                    <a:bodyPr/>
                    <a:lstStyle/>
                    <a:p>
                      <a:r>
                        <a:rPr sz="1875" b="1">
                          <a:solidFill>
                            <a:srgbClr val="FFFFFF"/>
                          </a:solidFill>
                          <a:latin typeface="Malgun Gothic"/>
                          <a:ea typeface="Malgun Gothic"/>
                          <a:cs typeface="Malgun Gothic"/>
                        </a:rPr>
                        <a:t>조건 seed</a:t>
                      </a:r>
                    </a:p>
                  </a:txBody>
                  <a:tcPr marL="91440" marR="91440" marT="45720" marB="45720">
                    <a:solidFill>
                      <a:srgbClr val="17364A"/>
                    </a:solidFill>
                  </a:tcPr>
                </a:tc>
                <a:tc>
                  <a:txBody>
                    <a:bodyPr/>
                    <a:lstStyle/>
                    <a:p>
                      <a:r>
                        <a:rPr sz="1875" b="1">
                          <a:solidFill>
                            <a:srgbClr val="FFFFFF"/>
                          </a:solidFill>
                          <a:latin typeface="Malgun Gothic"/>
                          <a:ea typeface="Malgun Gothic"/>
                          <a:cs typeface="Malgun Gothic"/>
                        </a:rPr>
                        <a:t>최선/실행</a:t>
                      </a:r>
                    </a:p>
                  </a:txBody>
                  <a:tcPr marL="91440" marR="91440" marT="45720" marB="45720">
                    <a:solidFill>
                      <a:srgbClr val="17364A"/>
                    </a:solidFill>
                  </a:tcPr>
                </a:tc>
                <a:tc>
                  <a:txBody>
                    <a:bodyPr/>
                    <a:lstStyle/>
                    <a:p>
                      <a:r>
                        <a:rPr sz="1875" b="1">
                          <a:solidFill>
                            <a:srgbClr val="FFFFFF"/>
                          </a:solidFill>
                          <a:latin typeface="Malgun Gothic"/>
                          <a:ea typeface="Malgun Gothic"/>
                          <a:cs typeface="Malgun Gothic"/>
                        </a:rPr>
                        <a:t>val loss</a:t>
                      </a:r>
                    </a:p>
                  </a:txBody>
                  <a:tcPr marL="91440" marR="91440" marT="45720" marB="45720">
                    <a:solidFill>
                      <a:srgbClr val="17364A"/>
                    </a:solidFill>
                  </a:tcPr>
                </a:tc>
                <a:tc>
                  <a:txBody>
                    <a:bodyPr/>
                    <a:lstStyle/>
                    <a:p>
                      <a:r>
                        <a:rPr sz="1875" b="1">
                          <a:solidFill>
                            <a:srgbClr val="FFFFFF"/>
                          </a:solidFill>
                          <a:latin typeface="Malgun Gothic"/>
                          <a:ea typeface="Malgun Gothic"/>
                          <a:cs typeface="Malgun Gothic"/>
                        </a:rPr>
                        <a:t>Macro F1</a:t>
                      </a:r>
                    </a:p>
                  </a:txBody>
                  <a:tcPr marL="91440" marR="91440" marT="45720" marB="45720">
                    <a:solidFill>
                      <a:srgbClr val="17364A"/>
                    </a:solidFill>
                  </a:tcPr>
                </a:tc>
              </a:tr>
              <a:tr h="465364">
                <a:tc>
                  <a:txBody>
                    <a:bodyPr/>
                    <a:lstStyle/>
                    <a:p>
                      <a:r>
                        <a:rPr sz="1875" b="0">
                          <a:solidFill>
                            <a:srgbClr val="17364A"/>
                          </a:solidFill>
                          <a:latin typeface="Malgun Gothic"/>
                          <a:ea typeface="Malgun Gothic"/>
                          <a:cs typeface="Malgun Gothic"/>
                        </a:rPr>
                        <a:t>E02 2026</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2/8</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0.2847</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0.9138</a:t>
                      </a:r>
                    </a:p>
                  </a:txBody>
                  <a:tcPr marL="91440" marR="91440" marT="45720" marB="45720">
                    <a:solidFill>
                      <a:srgbClr val="FFFFFF"/>
                    </a:solidFill>
                  </a:tcPr>
                </a:tc>
              </a:tr>
              <a:tr h="465364">
                <a:tc>
                  <a:txBody>
                    <a:bodyPr/>
                    <a:lstStyle/>
                    <a:p>
                      <a:r>
                        <a:rPr sz="1875" b="0">
                          <a:solidFill>
                            <a:srgbClr val="17364A"/>
                          </a:solidFill>
                          <a:latin typeface="Malgun Gothic"/>
                          <a:ea typeface="Malgun Gothic"/>
                          <a:cs typeface="Malgun Gothic"/>
                        </a:rPr>
                        <a:t>E02 2027</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4/10</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0.4349</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0.8906</a:t>
                      </a:r>
                    </a:p>
                  </a:txBody>
                  <a:tcPr marL="91440" marR="91440" marT="45720" marB="45720">
                    <a:solidFill>
                      <a:srgbClr val="F0F5F7"/>
                    </a:solidFill>
                  </a:tcPr>
                </a:tc>
              </a:tr>
              <a:tr h="465364">
                <a:tc>
                  <a:txBody>
                    <a:bodyPr/>
                    <a:lstStyle/>
                    <a:p>
                      <a:r>
                        <a:rPr sz="1875" b="0">
                          <a:solidFill>
                            <a:srgbClr val="17364A"/>
                          </a:solidFill>
                          <a:latin typeface="Malgun Gothic"/>
                          <a:ea typeface="Malgun Gothic"/>
                          <a:cs typeface="Malgun Gothic"/>
                        </a:rPr>
                        <a:t>E02 2028</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2/8</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0.3068</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0.9094</a:t>
                      </a:r>
                    </a:p>
                  </a:txBody>
                  <a:tcPr marL="91440" marR="91440" marT="45720" marB="45720">
                    <a:solidFill>
                      <a:srgbClr val="FFFFFF"/>
                    </a:solidFill>
                  </a:tcPr>
                </a:tc>
              </a:tr>
              <a:tr h="465364">
                <a:tc>
                  <a:txBody>
                    <a:bodyPr/>
                    <a:lstStyle/>
                    <a:p>
                      <a:r>
                        <a:rPr sz="1875" b="0">
                          <a:solidFill>
                            <a:srgbClr val="17364A"/>
                          </a:solidFill>
                          <a:latin typeface="Malgun Gothic"/>
                          <a:ea typeface="Malgun Gothic"/>
                          <a:cs typeface="Malgun Gothic"/>
                        </a:rPr>
                        <a:t>E07 2026</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2/8</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0.2651</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0.8864</a:t>
                      </a:r>
                    </a:p>
                  </a:txBody>
                  <a:tcPr marL="91440" marR="91440" marT="45720" marB="45720">
                    <a:solidFill>
                      <a:srgbClr val="F0F5F7"/>
                    </a:solidFill>
                  </a:tcPr>
                </a:tc>
              </a:tr>
              <a:tr h="465364">
                <a:tc>
                  <a:txBody>
                    <a:bodyPr/>
                    <a:lstStyle/>
                    <a:p>
                      <a:r>
                        <a:rPr sz="1875" b="0">
                          <a:solidFill>
                            <a:srgbClr val="17364A"/>
                          </a:solidFill>
                          <a:latin typeface="Malgun Gothic"/>
                          <a:ea typeface="Malgun Gothic"/>
                          <a:cs typeface="Malgun Gothic"/>
                        </a:rPr>
                        <a:t>E07 2027</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8/14</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0.3314</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0.9056</a:t>
                      </a:r>
                    </a:p>
                  </a:txBody>
                  <a:tcPr marL="91440" marR="91440" marT="45720" marB="45720">
                    <a:solidFill>
                      <a:srgbClr val="FFFFFF"/>
                    </a:solidFill>
                  </a:tcPr>
                </a:tc>
              </a:tr>
              <a:tr h="465364">
                <a:tc>
                  <a:txBody>
                    <a:bodyPr/>
                    <a:lstStyle/>
                    <a:p>
                      <a:r>
                        <a:rPr sz="1875" b="0">
                          <a:solidFill>
                            <a:srgbClr val="17364A"/>
                          </a:solidFill>
                          <a:latin typeface="Malgun Gothic"/>
                          <a:ea typeface="Malgun Gothic"/>
                          <a:cs typeface="Malgun Gothic"/>
                        </a:rPr>
                        <a:t>E07 2028</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9/15</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0.2821</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0.9182</a:t>
                      </a:r>
                    </a:p>
                  </a:txBody>
                  <a:tcPr marL="91440" marR="91440" marT="45720" marB="45720">
                    <a:solidFill>
                      <a:srgbClr val="F0F5F7"/>
                    </a:solidFill>
                  </a:tcPr>
                </a:tc>
              </a:tr>
            </a:tbl>
          </a:graphicData>
        </a:graphic>
      </p:graphicFrame>
      <p:sp>
        <p:nvSpPr>
          <p:cNvPr id="7" name="">
            <a:extLst xmlns:a="http://schemas.openxmlformats.org/drawingml/2006/main">
              <a:ext uri="{FF2B5EF4-FFF2-40B4-BE49-F238E27FC236}">
                <a16:creationId xmlns:a16="http://schemas.microsoft.com/office/drawing/2014/main" id="{0CD65F80-3DFE-42B3-8C3B-AAC44533A05C}"/>
              </a:ext>
            </a:extLst>
          </p:cNvPr>
          <p:cNvSpPr>
            <a:spLocks xmlns:a="http://schemas.openxmlformats.org/drawingml/2006/main" noGrp="1"/>
          </p:cNvSpPr>
          <p:nvPr/>
        </p:nvSpPr>
        <p:spPr>
          <a:xfrm xmlns:a="http://schemas.openxmlformats.org/drawingml/2006/main">
            <a:off x="723900" y="58578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64A"/>
                </a:solidFill>
                <a:latin typeface="Malgun Gothic"/>
                <a:ea typeface="Malgun Gothic"/>
                <a:cs typeface="Malgun Gothic"/>
              </a:defRPr>
            </a:pPr>
            <a:r>
              <a:rPr sz="1950" b="0">
                <a:solidFill>
                  <a:srgbClr val="17364A"/>
                </a:solidFill>
                <a:latin typeface="Malgun Gothic"/>
                <a:ea typeface="Malgun Gothic"/>
                <a:cs typeface="Malgun Gothic"/>
              </a:rPr>
              <a:t>교차엔트로피는 정답 확률을, F1은 argmax 예측을 평가한다.</a:t>
            </a:r>
          </a:p>
        </p:txBody>
      </p:sp>
    </p:spTree>
    <p:extLst>
      <p:ext uri="{BB962C8B-B14F-4D97-AF65-F5344CB8AC3E}">
        <p14:creationId xmlns:p14="http://schemas.microsoft.com/office/powerpoint/2010/main" val="38483955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8969CFA-1B7C-4FCA-9419-11A0490EB46D}"/>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보충 4</a:t>
            </a:r>
          </a:p>
        </p:txBody>
      </p:sp>
      <p:sp>
        <p:nvSpPr>
          <p:cNvPr id="2" name="">
            <a:extLst xmlns:a="http://schemas.openxmlformats.org/drawingml/2006/main">
              <a:ext uri="{FF2B5EF4-FFF2-40B4-BE49-F238E27FC236}">
                <a16:creationId xmlns:a16="http://schemas.microsoft.com/office/drawing/2014/main" id="{C65E80ED-B800-4260-8041-25840BEDEBD0}"/>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재학습 재현과 재로딩 재현을 나눠 검증했다</a:t>
            </a:r>
          </a:p>
        </p:txBody>
      </p:sp>
      <p:sp>
        <p:nvSpPr>
          <p:cNvPr id="3" name="">
            <a:extLst xmlns:a="http://schemas.openxmlformats.org/drawingml/2006/main">
              <a:ext uri="{FF2B5EF4-FFF2-40B4-BE49-F238E27FC236}">
                <a16:creationId xmlns:a16="http://schemas.microsoft.com/office/drawing/2014/main" id="{077870F9-65FD-4FAF-9F71-7E4644ADBA14}"/>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서로 다른 실패 가능성을 검사</a:t>
            </a:r>
          </a:p>
        </p:txBody>
      </p:sp>
      <p:sp>
        <p:nvSpPr>
          <p:cNvPr id="4" name="">
            <a:extLst xmlns:a="http://schemas.openxmlformats.org/drawingml/2006/main">
              <a:ext uri="{FF2B5EF4-FFF2-40B4-BE49-F238E27FC236}">
                <a16:creationId xmlns:a16="http://schemas.microsoft.com/office/drawing/2014/main" id="{85D13503-1461-4C71-9251-AFACC4CD9591}"/>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743B2A73-CA65-4465-8BA3-D9CFB3C0BB21}"/>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17</a:t>
            </a:r>
          </a:p>
        </p:txBody>
      </p:sp>
      <p:sp>
        <p:nvSpPr>
          <p:cNvPr id="6" name="">
            <a:extLst xmlns:a="http://schemas.openxmlformats.org/drawingml/2006/main">
              <a:ext uri="{FF2B5EF4-FFF2-40B4-BE49-F238E27FC236}">
                <a16:creationId xmlns:a16="http://schemas.microsoft.com/office/drawing/2014/main" id="{8CBEEB4E-7AE2-42FD-AE4D-93EFADD24134}"/>
              </a:ext>
            </a:extLst>
          </p:cNvPr>
          <p:cNvSpPr>
            <a:spLocks xmlns:a="http://schemas.openxmlformats.org/drawingml/2006/main" noGrp="1"/>
          </p:cNvSpPr>
          <p:nvPr/>
        </p:nvSpPr>
        <p:spPr>
          <a:xfrm xmlns:a="http://schemas.openxmlformats.org/drawingml/2006/main">
            <a:off x="638175" y="22383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재학습 대조</a:t>
            </a:r>
          </a:p>
        </p:txBody>
      </p:sp>
      <p:sp>
        <p:nvSpPr>
          <p:cNvPr id="7" name="">
            <a:extLst xmlns:a="http://schemas.openxmlformats.org/drawingml/2006/main">
              <a:ext uri="{FF2B5EF4-FFF2-40B4-BE49-F238E27FC236}">
                <a16:creationId xmlns:a16="http://schemas.microsoft.com/office/drawing/2014/main" id="{4BCB75B9-A4DB-4555-A4EA-C477A80EFDFE}"/>
              </a:ext>
            </a:extLst>
          </p:cNvPr>
          <p:cNvSpPr>
            <a:spLocks xmlns:a="http://schemas.openxmlformats.org/drawingml/2006/main" noGrp="1"/>
          </p:cNvSpPr>
          <p:nvPr/>
        </p:nvSpPr>
        <p:spPr>
          <a:xfrm xmlns:a="http://schemas.openxmlformats.org/drawingml/2006/main">
            <a:off x="3429000" y="223837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기존 7조건 × 1,775개 예측을 이전 기록과 비교</a:t>
            </a:r>
          </a:p>
        </p:txBody>
      </p:sp>
      <p:sp>
        <p:nvSpPr>
          <p:cNvPr id="8" name="">
            <a:extLst xmlns:a="http://schemas.openxmlformats.org/drawingml/2006/main">
              <a:ext uri="{FF2B5EF4-FFF2-40B4-BE49-F238E27FC236}">
                <a16:creationId xmlns:a16="http://schemas.microsoft.com/office/drawing/2014/main" id="{E62B9ADC-B901-4636-B8B1-1365988FD2C7}"/>
              </a:ext>
            </a:extLst>
          </p:cNvPr>
          <p:cNvSpPr>
            <a:spLocks xmlns:a="http://schemas.openxmlformats.org/drawingml/2006/main" noGrp="1"/>
          </p:cNvSpPr>
          <p:nvPr/>
        </p:nvSpPr>
        <p:spPr>
          <a:xfrm xmlns:a="http://schemas.openxmlformats.org/drawingml/2006/main">
            <a:off x="638175" y="31337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재로딩 대조</a:t>
            </a:r>
          </a:p>
        </p:txBody>
      </p:sp>
      <p:sp>
        <p:nvSpPr>
          <p:cNvPr id="9" name="">
            <a:extLst xmlns:a="http://schemas.openxmlformats.org/drawingml/2006/main">
              <a:ext uri="{FF2B5EF4-FFF2-40B4-BE49-F238E27FC236}">
                <a16:creationId xmlns:a16="http://schemas.microsoft.com/office/drawing/2014/main" id="{6D65931A-7DA2-4797-923F-9E6C358200F6}"/>
              </a:ext>
            </a:extLst>
          </p:cNvPr>
          <p:cNvSpPr>
            <a:spLocks xmlns:a="http://schemas.openxmlformats.org/drawingml/2006/main" noGrp="1"/>
          </p:cNvSpPr>
          <p:nvPr/>
        </p:nvSpPr>
        <p:spPr>
          <a:xfrm xmlns:a="http://schemas.openxmlformats.org/drawingml/2006/main">
            <a:off x="3429000" y="313372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새 모델 24개를 원본 검증 입력에서 재평가</a:t>
            </a:r>
          </a:p>
        </p:txBody>
      </p:sp>
      <p:sp>
        <p:nvSpPr>
          <p:cNvPr id="10" name="">
            <a:extLst xmlns:a="http://schemas.openxmlformats.org/drawingml/2006/main">
              <a:ext uri="{FF2B5EF4-FFF2-40B4-BE49-F238E27FC236}">
                <a16:creationId xmlns:a16="http://schemas.microsoft.com/office/drawing/2014/main" id="{AB07ADF6-2702-405E-B160-3F0254FE4529}"/>
              </a:ext>
            </a:extLst>
          </p:cNvPr>
          <p:cNvSpPr>
            <a:spLocks xmlns:a="http://schemas.openxmlformats.org/drawingml/2006/main" noGrp="1"/>
          </p:cNvSpPr>
          <p:nvPr/>
        </p:nvSpPr>
        <p:spPr>
          <a:xfrm xmlns:a="http://schemas.openxmlformats.org/drawingml/2006/main">
            <a:off x="638175" y="40290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파일 식별</a:t>
            </a:r>
          </a:p>
        </p:txBody>
      </p:sp>
      <p:sp>
        <p:nvSpPr>
          <p:cNvPr id="11" name="">
            <a:extLst xmlns:a="http://schemas.openxmlformats.org/drawingml/2006/main">
              <a:ext uri="{FF2B5EF4-FFF2-40B4-BE49-F238E27FC236}">
                <a16:creationId xmlns:a16="http://schemas.microsoft.com/office/drawing/2014/main" id="{4706299C-8258-4332-B5E5-7FE0787DECAA}"/>
              </a:ext>
            </a:extLst>
          </p:cNvPr>
          <p:cNvSpPr>
            <a:spLocks xmlns:a="http://schemas.openxmlformats.org/drawingml/2006/main" noGrp="1"/>
          </p:cNvSpPr>
          <p:nvPr/>
        </p:nvSpPr>
        <p:spPr>
          <a:xfrm xmlns:a="http://schemas.openxmlformats.org/drawingml/2006/main">
            <a:off x="3429000" y="402907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모델·전처리 해시 / 설정·분할·표본 ID 보관</a:t>
            </a:r>
          </a:p>
        </p:txBody>
      </p:sp>
      <p:sp>
        <p:nvSpPr>
          <p:cNvPr id="12" name="">
            <a:extLst xmlns:a="http://schemas.openxmlformats.org/drawingml/2006/main">
              <a:ext uri="{FF2B5EF4-FFF2-40B4-BE49-F238E27FC236}">
                <a16:creationId xmlns:a16="http://schemas.microsoft.com/office/drawing/2014/main" id="{BC2F00E7-9DC9-44DF-9220-349EB9D5392F}"/>
              </a:ext>
            </a:extLst>
          </p:cNvPr>
          <p:cNvSpPr>
            <a:spLocks xmlns:a="http://schemas.openxmlformats.org/drawingml/2006/main" noGrp="1"/>
          </p:cNvSpPr>
          <p:nvPr/>
        </p:nvSpPr>
        <p:spPr>
          <a:xfrm xmlns:a="http://schemas.openxmlformats.org/drawingml/2006/main">
            <a:off x="638175" y="49244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범위</a:t>
            </a:r>
          </a:p>
        </p:txBody>
      </p:sp>
      <p:sp>
        <p:nvSpPr>
          <p:cNvPr id="13" name="">
            <a:extLst xmlns:a="http://schemas.openxmlformats.org/drawingml/2006/main">
              <a:ext uri="{FF2B5EF4-FFF2-40B4-BE49-F238E27FC236}">
                <a16:creationId xmlns:a16="http://schemas.microsoft.com/office/drawing/2014/main" id="{FE4628DD-E466-42B7-9239-7245E45E5DE6}"/>
              </a:ext>
            </a:extLst>
          </p:cNvPr>
          <p:cNvSpPr>
            <a:spLocks xmlns:a="http://schemas.openxmlformats.org/drawingml/2006/main" noGrp="1"/>
          </p:cNvSpPr>
          <p:nvPr/>
        </p:nvSpPr>
        <p:spPr>
          <a:xfrm xmlns:a="http://schemas.openxmlformats.org/drawingml/2006/main">
            <a:off x="3429000" y="492442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현재 환경의 추론·평가 / 정확한 학습 재개는 별도</a:t>
            </a:r>
          </a:p>
        </p:txBody>
      </p:sp>
    </p:spTree>
    <p:extLst>
      <p:ext uri="{BB962C8B-B14F-4D97-AF65-F5344CB8AC3E}">
        <p14:creationId xmlns:p14="http://schemas.microsoft.com/office/powerpoint/2010/main" val="190020120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ADAE68-D3DA-4AB2-BAA0-28CCB4EBD619}"/>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보충 5</a:t>
            </a:r>
          </a:p>
        </p:txBody>
      </p:sp>
      <p:sp>
        <p:nvSpPr>
          <p:cNvPr id="2" name="">
            <a:extLst xmlns:a="http://schemas.openxmlformats.org/drawingml/2006/main">
              <a:ext uri="{FF2B5EF4-FFF2-40B4-BE49-F238E27FC236}">
                <a16:creationId xmlns:a16="http://schemas.microsoft.com/office/drawing/2014/main" id="{A88CBAD8-B0C7-4444-96BD-98322FEA6C5F}"/>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검사가 잡는 범위와 잡지 못하는 범위</a:t>
            </a:r>
          </a:p>
        </p:txBody>
      </p:sp>
      <p:sp>
        <p:nvSpPr>
          <p:cNvPr id="3" name="">
            <a:extLst xmlns:a="http://schemas.openxmlformats.org/drawingml/2006/main">
              <a:ext uri="{FF2B5EF4-FFF2-40B4-BE49-F238E27FC236}">
                <a16:creationId xmlns:a16="http://schemas.microsoft.com/office/drawing/2014/main" id="{96AD5344-B6EA-4D14-B483-7C9C62EA04EB}"/>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테스트 통과를 오류 부재의 증명으로 바꾸지 않기</a:t>
            </a:r>
          </a:p>
        </p:txBody>
      </p:sp>
      <p:sp>
        <p:nvSpPr>
          <p:cNvPr id="4" name="">
            <a:extLst xmlns:a="http://schemas.openxmlformats.org/drawingml/2006/main">
              <a:ext uri="{FF2B5EF4-FFF2-40B4-BE49-F238E27FC236}">
                <a16:creationId xmlns:a16="http://schemas.microsoft.com/office/drawing/2014/main" id="{9DAB2268-18E0-4D40-BBAF-4F66D348262D}"/>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0094AEC9-F1A9-4A46-9705-57F70381E6EF}"/>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18</a:t>
            </a:r>
          </a:p>
        </p:txBody>
      </p:sp>
      <p:graphicFrame>
        <p:nvGraphicFramePr>
          <p:cNvPr id="13" name=""/>
          <p:cNvGraphicFramePr/>
          <p:nvPr/>
        </p:nvGraphicFramePr>
        <p:xfrm>
          <a:off xmlns:a="http://schemas.openxmlformats.org/drawingml/2006/main" x="619125" y="2276475"/>
          <a:ext xmlns:a="http://schemas.openxmlformats.org/drawingml/2006/main" cx="10953750" cy="2876550"/>
        </p:xfrm>
        <a:graphic xmlns:a="http://schemas.openxmlformats.org/drawingml/2006/main">
          <a:graphicData uri="http://schemas.openxmlformats.org/drawingml/2006/table">
            <a:tbl>
              <a:tblPr/>
              <a:tblGrid>
                <a:gridCol w="2571750"/>
                <a:gridCol w="4191000"/>
                <a:gridCol w="4191000"/>
              </a:tblGrid>
              <a:tr h="575310">
                <a:tc>
                  <a:txBody>
                    <a:bodyPr/>
                    <a:lstStyle/>
                    <a:p>
                      <a:r>
                        <a:rPr sz="1725" b="1">
                          <a:solidFill>
                            <a:srgbClr val="FFFFFF"/>
                          </a:solidFill>
                          <a:latin typeface="Malgun Gothic"/>
                          <a:ea typeface="Malgun Gothic"/>
                          <a:cs typeface="Malgun Gothic"/>
                        </a:rPr>
                        <a:t>방어 장치</a:t>
                      </a:r>
                    </a:p>
                  </a:txBody>
                  <a:tcPr marL="91440" marR="91440" marT="45720" marB="45720">
                    <a:solidFill>
                      <a:srgbClr val="17364A"/>
                    </a:solidFill>
                  </a:tcPr>
                </a:tc>
                <a:tc>
                  <a:txBody>
                    <a:bodyPr/>
                    <a:lstStyle/>
                    <a:p>
                      <a:r>
                        <a:rPr sz="1725" b="1">
                          <a:solidFill>
                            <a:srgbClr val="FFFFFF"/>
                          </a:solidFill>
                          <a:latin typeface="Malgun Gothic"/>
                          <a:ea typeface="Malgun Gothic"/>
                          <a:cs typeface="Malgun Gothic"/>
                        </a:rPr>
                        <a:t>확인하는 것</a:t>
                      </a:r>
                    </a:p>
                  </a:txBody>
                  <a:tcPr marL="91440" marR="91440" marT="45720" marB="45720">
                    <a:solidFill>
                      <a:srgbClr val="17364A"/>
                    </a:solidFill>
                  </a:tcPr>
                </a:tc>
                <a:tc>
                  <a:txBody>
                    <a:bodyPr/>
                    <a:lstStyle/>
                    <a:p>
                      <a:r>
                        <a:rPr sz="1725" b="1">
                          <a:solidFill>
                            <a:srgbClr val="FFFFFF"/>
                          </a:solidFill>
                          <a:latin typeface="Malgun Gothic"/>
                          <a:ea typeface="Malgun Gothic"/>
                          <a:cs typeface="Malgun Gothic"/>
                        </a:rPr>
                        <a:t>추가 확인이 필요한 것</a:t>
                      </a:r>
                    </a:p>
                  </a:txBody>
                  <a:tcPr marL="91440" marR="91440" marT="45720" marB="45720">
                    <a:solidFill>
                      <a:srgbClr val="17364A"/>
                    </a:solidFill>
                  </a:tcPr>
                </a:tc>
              </a:tr>
              <a:tr h="575310">
                <a:tc>
                  <a:txBody>
                    <a:bodyPr/>
                    <a:lstStyle/>
                    <a:p>
                      <a:r>
                        <a:rPr sz="1725" b="0">
                          <a:solidFill>
                            <a:srgbClr val="17364A"/>
                          </a:solidFill>
                          <a:latin typeface="Malgun Gothic"/>
                          <a:ea typeface="Malgun Gothic"/>
                          <a:cs typeface="Malgun Gothic"/>
                        </a:rPr>
                        <a:t>분할 검사</a:t>
                      </a:r>
                    </a:p>
                  </a:txBody>
                  <a:tcPr marL="91440" marR="91440" marT="45720" marB="45720">
                    <a:solidFill>
                      <a:srgbClr val="FFFFFF"/>
                    </a:solidFill>
                  </a:tcPr>
                </a:tc>
                <a:tc>
                  <a:txBody>
                    <a:bodyPr/>
                    <a:lstStyle/>
                    <a:p>
                      <a:r>
                        <a:rPr sz="1725" b="0">
                          <a:solidFill>
                            <a:srgbClr val="17364A"/>
                          </a:solidFill>
                          <a:latin typeface="Malgun Gothic"/>
                          <a:ea typeface="Malgun Gothic"/>
                          <a:cs typeface="Malgun Gothic"/>
                        </a:rPr>
                        <a:t>자료형·범위·중복·사람 겹침</a:t>
                      </a:r>
                    </a:p>
                  </a:txBody>
                  <a:tcPr marL="91440" marR="91440" marT="45720" marB="45720">
                    <a:solidFill>
                      <a:srgbClr val="FFFFFF"/>
                    </a:solidFill>
                  </a:tcPr>
                </a:tc>
                <a:tc>
                  <a:txBody>
                    <a:bodyPr/>
                    <a:lstStyle/>
                    <a:p>
                      <a:r>
                        <a:rPr sz="1725" b="0">
                          <a:solidFill>
                            <a:srgbClr val="17364A"/>
                          </a:solidFill>
                          <a:latin typeface="Malgun Gothic"/>
                          <a:ea typeface="Malgun Gothic"/>
                          <a:cs typeface="Malgun Gothic"/>
                        </a:rPr>
                        <a:t>ID가 실제 누구를 의미하는지</a:t>
                      </a:r>
                    </a:p>
                  </a:txBody>
                  <a:tcPr marL="91440" marR="91440" marT="45720" marB="45720">
                    <a:solidFill>
                      <a:srgbClr val="FFFFFF"/>
                    </a:solidFill>
                  </a:tcPr>
                </a:tc>
              </a:tr>
              <a:tr h="575310">
                <a:tc>
                  <a:txBody>
                    <a:bodyPr/>
                    <a:lstStyle/>
                    <a:p>
                      <a:r>
                        <a:rPr sz="1725" b="0">
                          <a:solidFill>
                            <a:srgbClr val="17364A"/>
                          </a:solidFill>
                          <a:latin typeface="Malgun Gothic"/>
                          <a:ea typeface="Malgun Gothic"/>
                          <a:cs typeface="Malgun Gothic"/>
                        </a:rPr>
                        <a:t>원본 재변환</a:t>
                      </a:r>
                    </a:p>
                  </a:txBody>
                  <a:tcPr marL="91440" marR="91440" marT="45720" marB="45720">
                    <a:solidFill>
                      <a:srgbClr val="F0F5F7"/>
                    </a:solidFill>
                  </a:tcPr>
                </a:tc>
                <a:tc>
                  <a:txBody>
                    <a:bodyPr/>
                    <a:lstStyle/>
                    <a:p>
                      <a:r>
                        <a:rPr sz="1725" b="0">
                          <a:solidFill>
                            <a:srgbClr val="17364A"/>
                          </a:solidFill>
                          <a:latin typeface="Malgun Gothic"/>
                          <a:ea typeface="Malgun Gothic"/>
                          <a:cs typeface="Malgun Gothic"/>
                        </a:rPr>
                        <a:t>전처리 결과와 입력 일치</a:t>
                      </a:r>
                    </a:p>
                  </a:txBody>
                  <a:tcPr marL="91440" marR="91440" marT="45720" marB="45720">
                    <a:solidFill>
                      <a:srgbClr val="F0F5F7"/>
                    </a:solidFill>
                  </a:tcPr>
                </a:tc>
                <a:tc>
                  <a:txBody>
                    <a:bodyPr/>
                    <a:lstStyle/>
                    <a:p>
                      <a:r>
                        <a:rPr sz="1725" b="0">
                          <a:solidFill>
                            <a:srgbClr val="17364A"/>
                          </a:solidFill>
                          <a:latin typeface="Malgun Gothic"/>
                          <a:ea typeface="Malgun Gothic"/>
                          <a:cs typeface="Malgun Gothic"/>
                        </a:rPr>
                        <a:t>원본·ID가 함께 잘못된 경우</a:t>
                      </a:r>
                    </a:p>
                  </a:txBody>
                  <a:tcPr marL="91440" marR="91440" marT="45720" marB="45720">
                    <a:solidFill>
                      <a:srgbClr val="F0F5F7"/>
                    </a:solidFill>
                  </a:tcPr>
                </a:tc>
              </a:tr>
              <a:tr h="575310">
                <a:tc>
                  <a:txBody>
                    <a:bodyPr/>
                    <a:lstStyle/>
                    <a:p>
                      <a:r>
                        <a:rPr sz="1725" b="0">
                          <a:solidFill>
                            <a:srgbClr val="17364A"/>
                          </a:solidFill>
                          <a:latin typeface="Malgun Gothic"/>
                          <a:ea typeface="Malgun Gothic"/>
                          <a:cs typeface="Malgun Gothic"/>
                        </a:rPr>
                        <a:t>138회 미분 비교</a:t>
                      </a:r>
                    </a:p>
                  </a:txBody>
                  <a:tcPr marL="91440" marR="91440" marT="45720" marB="45720">
                    <a:solidFill>
                      <a:srgbClr val="FFFFFF"/>
                    </a:solidFill>
                  </a:tcPr>
                </a:tc>
                <a:tc>
                  <a:txBody>
                    <a:bodyPr/>
                    <a:lstStyle/>
                    <a:p>
                      <a:r>
                        <a:rPr sz="1725" b="0">
                          <a:solidFill>
                            <a:srgbClr val="17364A"/>
                          </a:solidFill>
                          <a:latin typeface="Malgun Gothic"/>
                          <a:ea typeface="Malgun Gothic"/>
                          <a:cs typeface="Malgun Gothic"/>
                        </a:rPr>
                        <a:t>작은 ReLU 네트워크의 기울기</a:t>
                      </a:r>
                    </a:p>
                  </a:txBody>
                  <a:tcPr marL="91440" marR="91440" marT="45720" marB="45720">
                    <a:solidFill>
                      <a:srgbClr val="FFFFFF"/>
                    </a:solidFill>
                  </a:tcPr>
                </a:tc>
                <a:tc>
                  <a:txBody>
                    <a:bodyPr/>
                    <a:lstStyle/>
                    <a:p>
                      <a:r>
                        <a:rPr sz="1725" b="0">
                          <a:solidFill>
                            <a:srgbClr val="17364A"/>
                          </a:solidFill>
                          <a:latin typeface="Malgun Gothic"/>
                          <a:ea typeface="Malgun Gothic"/>
                          <a:cs typeface="Malgun Gothic"/>
                        </a:rPr>
                        <a:t>모든 입력과 모든 비미분점</a:t>
                      </a:r>
                    </a:p>
                  </a:txBody>
                  <a:tcPr marL="91440" marR="91440" marT="45720" marB="45720">
                    <a:solidFill>
                      <a:srgbClr val="FFFFFF"/>
                    </a:solidFill>
                  </a:tcPr>
                </a:tc>
              </a:tr>
              <a:tr h="575310">
                <a:tc>
                  <a:txBody>
                    <a:bodyPr/>
                    <a:lstStyle/>
                    <a:p>
                      <a:r>
                        <a:rPr sz="1725" b="0">
                          <a:solidFill>
                            <a:srgbClr val="17364A"/>
                          </a:solidFill>
                          <a:latin typeface="Malgun Gothic"/>
                          <a:ea typeface="Malgun Gothic"/>
                          <a:cs typeface="Malgun Gothic"/>
                        </a:rPr>
                        <a:t>24모델 재로딩</a:t>
                      </a:r>
                    </a:p>
                  </a:txBody>
                  <a:tcPr marL="91440" marR="91440" marT="45720" marB="45720">
                    <a:solidFill>
                      <a:srgbClr val="F0F5F7"/>
                    </a:solidFill>
                  </a:tcPr>
                </a:tc>
                <a:tc>
                  <a:txBody>
                    <a:bodyPr/>
                    <a:lstStyle/>
                    <a:p>
                      <a:r>
                        <a:rPr sz="1725" b="0">
                          <a:solidFill>
                            <a:srgbClr val="17364A"/>
                          </a:solidFill>
                          <a:latin typeface="Malgun Gothic"/>
                          <a:ea typeface="Malgun Gothic"/>
                          <a:cs typeface="Malgun Gothic"/>
                        </a:rPr>
                        <a:t>현재 환경의 전체 검증 예측</a:t>
                      </a:r>
                    </a:p>
                  </a:txBody>
                  <a:tcPr marL="91440" marR="91440" marT="45720" marB="45720">
                    <a:solidFill>
                      <a:srgbClr val="F0F5F7"/>
                    </a:solidFill>
                  </a:tcPr>
                </a:tc>
                <a:tc>
                  <a:txBody>
                    <a:bodyPr/>
                    <a:lstStyle/>
                    <a:p>
                      <a:r>
                        <a:rPr sz="1725" b="0">
                          <a:solidFill>
                            <a:srgbClr val="17364A"/>
                          </a:solidFill>
                          <a:latin typeface="Malgun Gothic"/>
                          <a:ea typeface="Malgun Gothic"/>
                          <a:cs typeface="Malgun Gothic"/>
                        </a:rPr>
                        <a:t>다른 장치·시연·학습 재개</a:t>
                      </a:r>
                    </a:p>
                  </a:txBody>
                  <a:tcPr marL="91440" marR="91440" marT="45720" marB="45720">
                    <a:solidFill>
                      <a:srgbClr val="F0F5F7"/>
                    </a:solidFill>
                  </a:tcPr>
                </a:tc>
              </a:tr>
            </a:tbl>
          </a:graphicData>
        </a:graphic>
      </p:graphicFrame>
      <p:sp>
        <p:nvSpPr>
          <p:cNvPr id="7" name="">
            <a:extLst xmlns:a="http://schemas.openxmlformats.org/drawingml/2006/main">
              <a:ext uri="{FF2B5EF4-FFF2-40B4-BE49-F238E27FC236}">
                <a16:creationId xmlns:a16="http://schemas.microsoft.com/office/drawing/2014/main" id="{09B220C4-5C8E-4DD2-B3F4-3DE714E28039}"/>
              </a:ext>
            </a:extLst>
          </p:cNvPr>
          <p:cNvSpPr>
            <a:spLocks xmlns:a="http://schemas.openxmlformats.org/drawingml/2006/main" noGrp="1"/>
          </p:cNvSpPr>
          <p:nvPr/>
        </p:nvSpPr>
        <p:spPr>
          <a:xfrm xmlns:a="http://schemas.openxmlformats.org/drawingml/2006/main">
            <a:off x="723900" y="57150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6C77"/>
                </a:solidFill>
                <a:latin typeface="Malgun Gothic"/>
                <a:ea typeface="Malgun Gothic"/>
                <a:cs typeface="Malgun Gothic"/>
              </a:defRPr>
            </a:pPr>
            <a:r>
              <a:rPr sz="2325" b="1">
                <a:solidFill>
                  <a:srgbClr val="176C77"/>
                </a:solidFill>
                <a:latin typeface="Malgun Gothic"/>
                <a:ea typeface="Malgun Gothic"/>
                <a:cs typeface="Malgun Gothic"/>
              </a:rPr>
              <a:t>주장 → 검증 근거 → 적용 범위 순서로 답한다.</a:t>
            </a:r>
          </a:p>
        </p:txBody>
      </p:sp>
    </p:spTree>
    <p:extLst>
      <p:ext uri="{BB962C8B-B14F-4D97-AF65-F5344CB8AC3E}">
        <p14:creationId xmlns:p14="http://schemas.microsoft.com/office/powerpoint/2010/main" val="146977340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2B9ABA1-3D93-4005-8F14-24A92DEAE453}"/>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보충 6</a:t>
            </a:r>
          </a:p>
        </p:txBody>
      </p:sp>
      <p:sp>
        <p:nvSpPr>
          <p:cNvPr id="2" name="">
            <a:extLst xmlns:a="http://schemas.openxmlformats.org/drawingml/2006/main">
              <a:ext uri="{FF2B5EF4-FFF2-40B4-BE49-F238E27FC236}">
                <a16:creationId xmlns:a16="http://schemas.microsoft.com/office/drawing/2014/main" id="{66F1AAD5-A4DA-4E86-8B8D-4B5B08716B8F}"/>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이번 결과로 말할 수 있는 결론을 좁혀 썼다</a:t>
            </a:r>
          </a:p>
        </p:txBody>
      </p:sp>
      <p:sp>
        <p:nvSpPr>
          <p:cNvPr id="3" name="">
            <a:extLst xmlns:a="http://schemas.openxmlformats.org/drawingml/2006/main">
              <a:ext uri="{FF2B5EF4-FFF2-40B4-BE49-F238E27FC236}">
                <a16:creationId xmlns:a16="http://schemas.microsoft.com/office/drawing/2014/main" id="{AB4852D9-4523-42D7-B2A5-16B1831D0099}"/>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성능과 검증 주장의 경계</a:t>
            </a:r>
          </a:p>
        </p:txBody>
      </p:sp>
      <p:sp>
        <p:nvSpPr>
          <p:cNvPr id="4" name="">
            <a:extLst xmlns:a="http://schemas.openxmlformats.org/drawingml/2006/main">
              <a:ext uri="{FF2B5EF4-FFF2-40B4-BE49-F238E27FC236}">
                <a16:creationId xmlns:a16="http://schemas.microsoft.com/office/drawing/2014/main" id="{68F55B36-D8D1-4288-B7B1-7A3753A759FD}"/>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901538C0-B0BC-4F10-946C-E1FADB926365}"/>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19</a:t>
            </a:r>
          </a:p>
        </p:txBody>
      </p:sp>
      <p:sp>
        <p:nvSpPr>
          <p:cNvPr id="6" name="">
            <a:extLst xmlns:a="http://schemas.openxmlformats.org/drawingml/2006/main">
              <a:ext uri="{FF2B5EF4-FFF2-40B4-BE49-F238E27FC236}">
                <a16:creationId xmlns:a16="http://schemas.microsoft.com/office/drawing/2014/main" id="{6D56813D-E763-4AA7-958D-512301B40D3E}"/>
              </a:ext>
            </a:extLst>
          </p:cNvPr>
          <p:cNvSpPr>
            <a:spLocks xmlns:a="http://schemas.openxmlformats.org/drawingml/2006/main" noGrp="1"/>
          </p:cNvSpPr>
          <p:nvPr/>
        </p:nvSpPr>
        <p:spPr>
          <a:xfrm xmlns:a="http://schemas.openxmlformats.org/drawingml/2006/main">
            <a:off x="638175" y="22383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PCA 95%</a:t>
            </a:r>
          </a:p>
        </p:txBody>
      </p:sp>
      <p:sp>
        <p:nvSpPr>
          <p:cNvPr id="7" name="">
            <a:extLst xmlns:a="http://schemas.openxmlformats.org/drawingml/2006/main">
              <a:ext uri="{FF2B5EF4-FFF2-40B4-BE49-F238E27FC236}">
                <a16:creationId xmlns:a16="http://schemas.microsoft.com/office/drawing/2014/main" id="{1707D2A1-564B-43ED-9C3C-1783A113504D}"/>
              </a:ext>
            </a:extLst>
          </p:cNvPr>
          <p:cNvSpPr>
            <a:spLocks xmlns:a="http://schemas.openxmlformats.org/drawingml/2006/main" noGrp="1"/>
          </p:cNvSpPr>
          <p:nvPr/>
        </p:nvSpPr>
        <p:spPr>
          <a:xfrm xmlns:a="http://schemas.openxmlformats.org/drawingml/2006/main">
            <a:off x="3429000" y="223837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설명분산 95% / 정확도 95%가 아님</a:t>
            </a:r>
          </a:p>
        </p:txBody>
      </p:sp>
      <p:sp>
        <p:nvSpPr>
          <p:cNvPr id="8" name="">
            <a:extLst xmlns:a="http://schemas.openxmlformats.org/drawingml/2006/main">
              <a:ext uri="{FF2B5EF4-FFF2-40B4-BE49-F238E27FC236}">
                <a16:creationId xmlns:a16="http://schemas.microsoft.com/office/drawing/2014/main" id="{CECCDA45-F2DC-494F-91EA-657ECFE0AF4B}"/>
              </a:ext>
            </a:extLst>
          </p:cNvPr>
          <p:cNvSpPr>
            <a:spLocks xmlns:a="http://schemas.openxmlformats.org/drawingml/2006/main" noGrp="1"/>
          </p:cNvSpPr>
          <p:nvPr/>
        </p:nvSpPr>
        <p:spPr>
          <a:xfrm xmlns:a="http://schemas.openxmlformats.org/drawingml/2006/main">
            <a:off x="638175" y="31337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seed SD</a:t>
            </a:r>
          </a:p>
        </p:txBody>
      </p:sp>
      <p:sp>
        <p:nvSpPr>
          <p:cNvPr id="9" name="">
            <a:extLst xmlns:a="http://schemas.openxmlformats.org/drawingml/2006/main">
              <a:ext uri="{FF2B5EF4-FFF2-40B4-BE49-F238E27FC236}">
                <a16:creationId xmlns:a16="http://schemas.microsoft.com/office/drawing/2014/main" id="{9B13E808-A83E-4601-A6C4-236A3971173E}"/>
              </a:ext>
            </a:extLst>
          </p:cNvPr>
          <p:cNvSpPr>
            <a:spLocks xmlns:a="http://schemas.openxmlformats.org/drawingml/2006/main" noGrp="1"/>
          </p:cNvSpPr>
          <p:nvPr/>
        </p:nvSpPr>
        <p:spPr>
          <a:xfrm xmlns:a="http://schemas.openxmlformats.org/drawingml/2006/main">
            <a:off x="3429000" y="313372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고정 사람 분할의 학습 변동 / 모집단 CI 아님</a:t>
            </a:r>
          </a:p>
        </p:txBody>
      </p:sp>
      <p:sp>
        <p:nvSpPr>
          <p:cNvPr id="10" name="">
            <a:extLst xmlns:a="http://schemas.openxmlformats.org/drawingml/2006/main">
              <a:ext uri="{FF2B5EF4-FFF2-40B4-BE49-F238E27FC236}">
                <a16:creationId xmlns:a16="http://schemas.microsoft.com/office/drawing/2014/main" id="{266B880E-CC7F-4135-97C7-C81256A606F8}"/>
              </a:ext>
            </a:extLst>
          </p:cNvPr>
          <p:cNvSpPr>
            <a:spLocks xmlns:a="http://schemas.openxmlformats.org/drawingml/2006/main" noGrp="1"/>
          </p:cNvSpPr>
          <p:nvPr/>
        </p:nvSpPr>
        <p:spPr>
          <a:xfrm xmlns:a="http://schemas.openxmlformats.org/drawingml/2006/main">
            <a:off x="638175" y="40290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최고 평균</a:t>
            </a:r>
          </a:p>
        </p:txBody>
      </p:sp>
      <p:sp>
        <p:nvSpPr>
          <p:cNvPr id="11" name="">
            <a:extLst xmlns:a="http://schemas.openxmlformats.org/drawingml/2006/main">
              <a:ext uri="{FF2B5EF4-FFF2-40B4-BE49-F238E27FC236}">
                <a16:creationId xmlns:a16="http://schemas.microsoft.com/office/drawing/2014/main" id="{999CA067-35E5-4596-949E-283B097C40C3}"/>
              </a:ext>
            </a:extLst>
          </p:cNvPr>
          <p:cNvSpPr>
            <a:spLocks xmlns:a="http://schemas.openxmlformats.org/drawingml/2006/main" noGrp="1"/>
          </p:cNvSpPr>
          <p:nvPr/>
        </p:nvSpPr>
        <p:spPr>
          <a:xfrm xmlns:a="http://schemas.openxmlformats.org/drawingml/2006/main">
            <a:off x="3429000" y="402907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현재 후보·분할·정책 아래 관찰 / 보편적 우월성 아님</a:t>
            </a:r>
          </a:p>
        </p:txBody>
      </p:sp>
      <p:sp>
        <p:nvSpPr>
          <p:cNvPr id="12" name="">
            <a:extLst xmlns:a="http://schemas.openxmlformats.org/drawingml/2006/main">
              <a:ext uri="{FF2B5EF4-FFF2-40B4-BE49-F238E27FC236}">
                <a16:creationId xmlns:a16="http://schemas.microsoft.com/office/drawing/2014/main" id="{3A364686-2254-47A8-A968-2603255D95A6}"/>
              </a:ext>
            </a:extLst>
          </p:cNvPr>
          <p:cNvSpPr>
            <a:spLocks xmlns:a="http://schemas.openxmlformats.org/drawingml/2006/main" noGrp="1"/>
          </p:cNvSpPr>
          <p:nvPr/>
        </p:nvSpPr>
        <p:spPr>
          <a:xfrm xmlns:a="http://schemas.openxmlformats.org/drawingml/2006/main">
            <a:off x="638175" y="49244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팀장 산출물</a:t>
            </a:r>
          </a:p>
        </p:txBody>
      </p:sp>
      <p:sp>
        <p:nvSpPr>
          <p:cNvPr id="13" name="">
            <a:extLst xmlns:a="http://schemas.openxmlformats.org/drawingml/2006/main">
              <a:ext uri="{FF2B5EF4-FFF2-40B4-BE49-F238E27FC236}">
                <a16:creationId xmlns:a16="http://schemas.microsoft.com/office/drawing/2014/main" id="{95DF95D4-1483-4AA2-B080-24CADD244329}"/>
              </a:ext>
            </a:extLst>
          </p:cNvPr>
          <p:cNvSpPr>
            <a:spLocks xmlns:a="http://schemas.openxmlformats.org/drawingml/2006/main" noGrp="1"/>
          </p:cNvSpPr>
          <p:nvPr/>
        </p:nvSpPr>
        <p:spPr>
          <a:xfrm xmlns:a="http://schemas.openxmlformats.org/drawingml/2006/main">
            <a:off x="3429000" y="492442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연결 규약·근거 준비 / 실제 팀 통합은 후속 검증</a:t>
            </a:r>
          </a:p>
        </p:txBody>
      </p:sp>
    </p:spTree>
    <p:extLst>
      <p:ext uri="{BB962C8B-B14F-4D97-AF65-F5344CB8AC3E}">
        <p14:creationId xmlns:p14="http://schemas.microsoft.com/office/powerpoint/2010/main" val="126519548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65D5AFD-835D-4FC6-93D4-A060AC3CB247}"/>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보충 7</a:t>
            </a:r>
          </a:p>
        </p:txBody>
      </p:sp>
      <p:sp>
        <p:nvSpPr>
          <p:cNvPr id="2" name="">
            <a:extLst xmlns:a="http://schemas.openxmlformats.org/drawingml/2006/main">
              <a:ext uri="{FF2B5EF4-FFF2-40B4-BE49-F238E27FC236}">
                <a16:creationId xmlns:a16="http://schemas.microsoft.com/office/drawing/2014/main" id="{215A0360-E968-4607-9A4D-080AC6FB5317}"/>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질문을 먼저 던지고 실제 증거로 설명한다</a:t>
            </a:r>
          </a:p>
        </p:txBody>
      </p:sp>
      <p:sp>
        <p:nvSpPr>
          <p:cNvPr id="3" name="">
            <a:extLst xmlns:a="http://schemas.openxmlformats.org/drawingml/2006/main">
              <a:ext uri="{FF2B5EF4-FFF2-40B4-BE49-F238E27FC236}">
                <a16:creationId xmlns:a16="http://schemas.microsoft.com/office/drawing/2014/main" id="{135A7CF0-2703-47C7-8C36-75772116A929}"/>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틀린 주장을 심어 놓는 대신 검증이 필요한 지점을 보여 주기</a:t>
            </a:r>
          </a:p>
        </p:txBody>
      </p:sp>
      <p:sp>
        <p:nvSpPr>
          <p:cNvPr id="4" name="">
            <a:extLst xmlns:a="http://schemas.openxmlformats.org/drawingml/2006/main">
              <a:ext uri="{FF2B5EF4-FFF2-40B4-BE49-F238E27FC236}">
                <a16:creationId xmlns:a16="http://schemas.microsoft.com/office/drawing/2014/main" id="{A588994E-C3E3-47EB-A51A-2120882F757D}"/>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구현 과정 심화  |  2026.09</a:t>
            </a:r>
          </a:p>
        </p:txBody>
      </p:sp>
      <p:sp>
        <p:nvSpPr>
          <p:cNvPr id="5" name="">
            <a:extLst xmlns:a="http://schemas.openxmlformats.org/drawingml/2006/main">
              <a:ext uri="{FF2B5EF4-FFF2-40B4-BE49-F238E27FC236}">
                <a16:creationId xmlns:a16="http://schemas.microsoft.com/office/drawing/2014/main" id="{00C193A5-625A-4001-B3D9-A5D7D129AD91}"/>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20</a:t>
            </a:r>
          </a:p>
        </p:txBody>
      </p:sp>
      <p:sp>
        <p:nvSpPr>
          <p:cNvPr id="6" name="">
            <a:extLst xmlns:a="http://schemas.openxmlformats.org/drawingml/2006/main">
              <a:ext uri="{FF2B5EF4-FFF2-40B4-BE49-F238E27FC236}">
                <a16:creationId xmlns:a16="http://schemas.microsoft.com/office/drawing/2014/main" id="{E96F09F5-6F75-4614-83CF-F482AFE609D0}"/>
              </a:ext>
            </a:extLst>
          </p:cNvPr>
          <p:cNvSpPr>
            <a:spLocks xmlns:a="http://schemas.openxmlformats.org/drawingml/2006/main" noGrp="1"/>
          </p:cNvSpPr>
          <p:nvPr/>
        </p:nvSpPr>
        <p:spPr>
          <a:xfrm xmlns:a="http://schemas.openxmlformats.org/drawingml/2006/main">
            <a:off x="638175" y="22383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같은 seed면 같을까?</a:t>
            </a:r>
          </a:p>
        </p:txBody>
      </p:sp>
      <p:sp>
        <p:nvSpPr>
          <p:cNvPr id="7" name="">
            <a:extLst xmlns:a="http://schemas.openxmlformats.org/drawingml/2006/main">
              <a:ext uri="{FF2B5EF4-FFF2-40B4-BE49-F238E27FC236}">
                <a16:creationId xmlns:a16="http://schemas.microsoft.com/office/drawing/2014/main" id="{C3ECD48A-D963-49D1-80D2-9761DF558643}"/>
              </a:ext>
            </a:extLst>
          </p:cNvPr>
          <p:cNvSpPr>
            <a:spLocks xmlns:a="http://schemas.openxmlformats.org/drawingml/2006/main" noGrp="1"/>
          </p:cNvSpPr>
          <p:nvPr/>
        </p:nvSpPr>
        <p:spPr>
          <a:xfrm xmlns:a="http://schemas.openxmlformats.org/drawingml/2006/main">
            <a:off x="3429000" y="223837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초기값 실측 → E08W의 배열 복사·동일성 확인</a:t>
            </a:r>
          </a:p>
        </p:txBody>
      </p:sp>
      <p:sp>
        <p:nvSpPr>
          <p:cNvPr id="8" name="">
            <a:extLst xmlns:a="http://schemas.openxmlformats.org/drawingml/2006/main">
              <a:ext uri="{FF2B5EF4-FFF2-40B4-BE49-F238E27FC236}">
                <a16:creationId xmlns:a16="http://schemas.microsoft.com/office/drawing/2014/main" id="{11F98AF7-F7AB-4352-96EA-26FB278605F8}"/>
              </a:ext>
            </a:extLst>
          </p:cNvPr>
          <p:cNvSpPr>
            <a:spLocks xmlns:a="http://schemas.openxmlformats.org/drawingml/2006/main" noGrp="1"/>
          </p:cNvSpPr>
          <p:nvPr/>
        </p:nvSpPr>
        <p:spPr>
          <a:xfrm xmlns:a="http://schemas.openxmlformats.org/drawingml/2006/main">
            <a:off x="638175" y="31337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미분 차이는 오류?</a:t>
            </a:r>
          </a:p>
        </p:txBody>
      </p:sp>
      <p:sp>
        <p:nvSpPr>
          <p:cNvPr id="9" name="">
            <a:extLst xmlns:a="http://schemas.openxmlformats.org/drawingml/2006/main">
              <a:ext uri="{FF2B5EF4-FFF2-40B4-BE49-F238E27FC236}">
                <a16:creationId xmlns:a16="http://schemas.microsoft.com/office/drawing/2014/main" id="{FF388FED-0A08-4B4D-BA70-352A3C9BFA3B}"/>
              </a:ext>
            </a:extLst>
          </p:cNvPr>
          <p:cNvSpPr>
            <a:spLocks xmlns:a="http://schemas.openxmlformats.org/drawingml/2006/main" noGrp="1"/>
          </p:cNvSpPr>
          <p:nvPr/>
        </p:nvSpPr>
        <p:spPr>
          <a:xfrm xmlns:a="http://schemas.openxmlformats.org/drawingml/2006/main">
            <a:off x="3429000" y="313372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ReLU(0)의 비미분점 → 검사 조건 설명</a:t>
            </a:r>
          </a:p>
        </p:txBody>
      </p:sp>
      <p:sp>
        <p:nvSpPr>
          <p:cNvPr id="10" name="">
            <a:extLst xmlns:a="http://schemas.openxmlformats.org/drawingml/2006/main">
              <a:ext uri="{FF2B5EF4-FFF2-40B4-BE49-F238E27FC236}">
                <a16:creationId xmlns:a16="http://schemas.microsoft.com/office/drawing/2014/main" id="{D2559082-E31A-4957-AA3F-F191244012C6}"/>
              </a:ext>
            </a:extLst>
          </p:cNvPr>
          <p:cNvSpPr>
            <a:spLocks xmlns:a="http://schemas.openxmlformats.org/drawingml/2006/main" noGrp="1"/>
          </p:cNvSpPr>
          <p:nvPr/>
        </p:nvSpPr>
        <p:spPr>
          <a:xfrm xmlns:a="http://schemas.openxmlformats.org/drawingml/2006/main">
            <a:off x="638175" y="40290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확률 합 1이면 안전?</a:t>
            </a:r>
          </a:p>
        </p:txBody>
      </p:sp>
      <p:sp>
        <p:nvSpPr>
          <p:cNvPr id="11" name="">
            <a:extLst xmlns:a="http://schemas.openxmlformats.org/drawingml/2006/main">
              <a:ext uri="{FF2B5EF4-FFF2-40B4-BE49-F238E27FC236}">
                <a16:creationId xmlns:a16="http://schemas.microsoft.com/office/drawing/2014/main" id="{59131B95-5420-4CFD-8604-F6CEE1C47F8C}"/>
              </a:ext>
            </a:extLst>
          </p:cNvPr>
          <p:cNvSpPr>
            <a:spLocks xmlns:a="http://schemas.openxmlformats.org/drawingml/2006/main" noGrp="1"/>
          </p:cNvSpPr>
          <p:nvPr/>
        </p:nvSpPr>
        <p:spPr>
          <a:xfrm xmlns:a="http://schemas.openxmlformats.org/drawingml/2006/main">
            <a:off x="3429000" y="402907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underflow 0 → logits 기반 logsumexp 손실</a:t>
            </a:r>
          </a:p>
        </p:txBody>
      </p:sp>
      <p:sp>
        <p:nvSpPr>
          <p:cNvPr id="12" name="">
            <a:extLst xmlns:a="http://schemas.openxmlformats.org/drawingml/2006/main">
              <a:ext uri="{FF2B5EF4-FFF2-40B4-BE49-F238E27FC236}">
                <a16:creationId xmlns:a16="http://schemas.microsoft.com/office/drawing/2014/main" id="{B59E8E54-F743-4950-A766-CE07ACFFE13A}"/>
              </a:ext>
            </a:extLst>
          </p:cNvPr>
          <p:cNvSpPr>
            <a:spLocks xmlns:a="http://schemas.openxmlformats.org/drawingml/2006/main" noGrp="1"/>
          </p:cNvSpPr>
          <p:nvPr/>
        </p:nvSpPr>
        <p:spPr>
          <a:xfrm xmlns:a="http://schemas.openxmlformats.org/drawingml/2006/main">
            <a:off x="638175" y="49244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전부 해결했는가?</a:t>
            </a:r>
          </a:p>
        </p:txBody>
      </p:sp>
      <p:sp>
        <p:nvSpPr>
          <p:cNvPr id="13" name="">
            <a:extLst xmlns:a="http://schemas.openxmlformats.org/drawingml/2006/main">
              <a:ext uri="{FF2B5EF4-FFF2-40B4-BE49-F238E27FC236}">
                <a16:creationId xmlns:a16="http://schemas.microsoft.com/office/drawing/2014/main" id="{F3337E7F-0A3C-4B4D-833D-4E821131501A}"/>
              </a:ext>
            </a:extLst>
          </p:cNvPr>
          <p:cNvSpPr>
            <a:spLocks xmlns:a="http://schemas.openxmlformats.org/drawingml/2006/main" noGrp="1"/>
          </p:cNvSpPr>
          <p:nvPr/>
        </p:nvSpPr>
        <p:spPr>
          <a:xfrm xmlns:a="http://schemas.openxmlformats.org/drawingml/2006/main">
            <a:off x="3429000" y="492442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해결한 결함·검사 범위·남은 실험을 구분</a:t>
            </a:r>
          </a:p>
        </p:txBody>
      </p:sp>
    </p:spTree>
    <p:extLst>
      <p:ext uri="{BB962C8B-B14F-4D97-AF65-F5344CB8AC3E}">
        <p14:creationId xmlns:p14="http://schemas.microsoft.com/office/powerpoint/2010/main" val="492619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2026-09-28T16:26:54.7550000Z</dcterms:created>
  <dcterms:modified xsi:type="dcterms:W3CDTF">2026-09-28T16:26:54.7550000Z</dcterms:modified>
</coreProperties>
</file>